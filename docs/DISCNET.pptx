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7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8" r:id="rId11"/>
    <p:sldId id="266" r:id="rId12"/>
    <p:sldId id="267" r:id="rId13"/>
    <p:sldId id="279" r:id="rId14"/>
    <p:sldId id="270" r:id="rId15"/>
    <p:sldId id="271" r:id="rId16"/>
    <p:sldId id="272" r:id="rId17"/>
    <p:sldId id="273" r:id="rId18"/>
    <p:sldId id="274" r:id="rId19"/>
    <p:sldId id="275" r:id="rId20"/>
    <p:sldId id="268" r:id="rId21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1" d="100"/>
          <a:sy n="61" d="100"/>
        </p:scale>
        <p:origin x="387" y="41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1" i="0">
                <a:solidFill>
                  <a:srgbClr val="1E2760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50" b="1" i="0">
                <a:solidFill>
                  <a:srgbClr val="1E2760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50" b="0" i="0">
                <a:solidFill>
                  <a:srgbClr val="525A78"/>
                </a:solidFill>
                <a:latin typeface="Calibri"/>
                <a:cs typeface="Calibri"/>
              </a:defRPr>
            </a:lvl1pPr>
          </a:lstStyle>
          <a:p>
            <a:pPr marL="98425">
              <a:lnSpc>
                <a:spcPts val="101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1" i="0">
                <a:solidFill>
                  <a:srgbClr val="1E2760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550" b="1" i="0">
                <a:solidFill>
                  <a:srgbClr val="1E2760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50" b="0" i="0">
                <a:solidFill>
                  <a:srgbClr val="525A78"/>
                </a:solidFill>
                <a:latin typeface="Calibri"/>
                <a:cs typeface="Calibri"/>
              </a:defRPr>
            </a:lvl1pPr>
          </a:lstStyle>
          <a:p>
            <a:pPr marL="98425">
              <a:lnSpc>
                <a:spcPts val="101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1" i="0">
                <a:solidFill>
                  <a:srgbClr val="1E2760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50" b="0" i="0">
                <a:solidFill>
                  <a:srgbClr val="525A78"/>
                </a:solidFill>
                <a:latin typeface="Calibri"/>
                <a:cs typeface="Calibri"/>
              </a:defRPr>
            </a:lvl1pPr>
          </a:lstStyle>
          <a:p>
            <a:pPr marL="98425">
              <a:lnSpc>
                <a:spcPts val="101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1" i="0">
                <a:solidFill>
                  <a:srgbClr val="1E2760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50" b="0" i="0">
                <a:solidFill>
                  <a:srgbClr val="525A78"/>
                </a:solidFill>
                <a:latin typeface="Calibri"/>
                <a:cs typeface="Calibri"/>
              </a:defRPr>
            </a:lvl1pPr>
          </a:lstStyle>
          <a:p>
            <a:pPr marL="98425">
              <a:lnSpc>
                <a:spcPts val="101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1E27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50" b="0" i="0">
                <a:solidFill>
                  <a:srgbClr val="525A78"/>
                </a:solidFill>
                <a:latin typeface="Calibri"/>
                <a:cs typeface="Calibri"/>
              </a:defRPr>
            </a:lvl1pPr>
          </a:lstStyle>
          <a:p>
            <a:pPr marL="98425">
              <a:lnSpc>
                <a:spcPts val="101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5940" y="730122"/>
            <a:ext cx="9481820" cy="438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1" i="0">
                <a:solidFill>
                  <a:srgbClr val="1E2760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48639" y="1645920"/>
            <a:ext cx="11094720" cy="1554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50" b="1" i="0">
                <a:solidFill>
                  <a:srgbClr val="1E2760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485753" y="6614566"/>
            <a:ext cx="212089" cy="1473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50" b="0" i="0">
                <a:solidFill>
                  <a:srgbClr val="525A78"/>
                </a:solidFill>
                <a:latin typeface="Calibri"/>
                <a:cs typeface="Calibri"/>
              </a:defRPr>
            </a:lvl1pPr>
          </a:lstStyle>
          <a:p>
            <a:pPr marL="98425">
              <a:lnSpc>
                <a:spcPts val="101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35940" y="2028520"/>
            <a:ext cx="236982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10" dirty="0">
                <a:solidFill>
                  <a:srgbClr val="C9DCFB"/>
                </a:solidFill>
                <a:latin typeface="Calibri"/>
                <a:cs typeface="Calibri"/>
              </a:rPr>
              <a:t>R</a:t>
            </a:r>
            <a:r>
              <a:rPr sz="1300" b="1" spc="-90" dirty="0">
                <a:solidFill>
                  <a:srgbClr val="C9DCFB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C9DCFB"/>
                </a:solidFill>
                <a:latin typeface="Calibri"/>
                <a:cs typeface="Calibri"/>
              </a:rPr>
              <a:t>E</a:t>
            </a:r>
            <a:r>
              <a:rPr sz="1300" b="1" spc="-90" dirty="0">
                <a:solidFill>
                  <a:srgbClr val="C9DCFB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C9DCFB"/>
                </a:solidFill>
                <a:latin typeface="Calibri"/>
                <a:cs typeface="Calibri"/>
              </a:rPr>
              <a:t>S</a:t>
            </a:r>
            <a:r>
              <a:rPr sz="1300" b="1" spc="-70" dirty="0">
                <a:solidFill>
                  <a:srgbClr val="C9DCFB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C9DCFB"/>
                </a:solidFill>
                <a:latin typeface="Calibri"/>
                <a:cs typeface="Calibri"/>
              </a:rPr>
              <a:t>E</a:t>
            </a:r>
            <a:r>
              <a:rPr sz="1300" b="1" spc="-90" dirty="0">
                <a:solidFill>
                  <a:srgbClr val="C9DCFB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C9DCFB"/>
                </a:solidFill>
                <a:latin typeface="Calibri"/>
                <a:cs typeface="Calibri"/>
              </a:rPr>
              <a:t>A</a:t>
            </a:r>
            <a:r>
              <a:rPr sz="1300" b="1" spc="-75" dirty="0">
                <a:solidFill>
                  <a:srgbClr val="C9DCFB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C9DCFB"/>
                </a:solidFill>
                <a:latin typeface="Calibri"/>
                <a:cs typeface="Calibri"/>
              </a:rPr>
              <a:t>R</a:t>
            </a:r>
            <a:r>
              <a:rPr sz="1300" b="1" spc="-85" dirty="0">
                <a:solidFill>
                  <a:srgbClr val="C9DCFB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C9DCFB"/>
                </a:solidFill>
                <a:latin typeface="Calibri"/>
                <a:cs typeface="Calibri"/>
              </a:rPr>
              <a:t>C</a:t>
            </a:r>
            <a:r>
              <a:rPr sz="1300" b="1" spc="-70" dirty="0">
                <a:solidFill>
                  <a:srgbClr val="C9DCFB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C9DCFB"/>
                </a:solidFill>
                <a:latin typeface="Calibri"/>
                <a:cs typeface="Calibri"/>
              </a:rPr>
              <a:t>H</a:t>
            </a:r>
            <a:r>
              <a:rPr sz="1300" b="1" spc="114" dirty="0">
                <a:solidFill>
                  <a:srgbClr val="C9DCFB"/>
                </a:solidFill>
                <a:latin typeface="Calibri"/>
                <a:cs typeface="Calibri"/>
              </a:rPr>
              <a:t>  </a:t>
            </a:r>
            <a:r>
              <a:rPr sz="1300" b="1" dirty="0">
                <a:solidFill>
                  <a:srgbClr val="C9DCFB"/>
                </a:solidFill>
                <a:latin typeface="Calibri"/>
                <a:cs typeface="Calibri"/>
              </a:rPr>
              <a:t>P</a:t>
            </a:r>
            <a:r>
              <a:rPr sz="1300" b="1" spc="-70" dirty="0">
                <a:solidFill>
                  <a:srgbClr val="C9DCFB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C9DCFB"/>
                </a:solidFill>
                <a:latin typeface="Calibri"/>
                <a:cs typeface="Calibri"/>
              </a:rPr>
              <a:t>A</a:t>
            </a:r>
            <a:r>
              <a:rPr sz="1300" b="1" spc="-75" dirty="0">
                <a:solidFill>
                  <a:srgbClr val="C9DCFB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C9DCFB"/>
                </a:solidFill>
                <a:latin typeface="Calibri"/>
                <a:cs typeface="Calibri"/>
              </a:rPr>
              <a:t>P</a:t>
            </a:r>
            <a:r>
              <a:rPr sz="1300" b="1" spc="-75" dirty="0">
                <a:solidFill>
                  <a:srgbClr val="C9DCFB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C9DCFB"/>
                </a:solidFill>
                <a:latin typeface="Calibri"/>
                <a:cs typeface="Calibri"/>
              </a:rPr>
              <a:t>E</a:t>
            </a:r>
            <a:r>
              <a:rPr sz="1300" b="1" spc="-90" dirty="0">
                <a:solidFill>
                  <a:srgbClr val="C9DCFB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C9DCFB"/>
                </a:solidFill>
                <a:latin typeface="Calibri"/>
                <a:cs typeface="Calibri"/>
              </a:rPr>
              <a:t>R</a:t>
            </a:r>
            <a:r>
              <a:rPr sz="1300" b="1" spc="480" dirty="0">
                <a:solidFill>
                  <a:srgbClr val="C9DCFB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C9DCFB"/>
                </a:solidFill>
                <a:latin typeface="Calibri"/>
                <a:cs typeface="Calibri"/>
              </a:rPr>
              <a:t>R</a:t>
            </a:r>
            <a:r>
              <a:rPr sz="1300" b="1" spc="-90" dirty="0">
                <a:solidFill>
                  <a:srgbClr val="C9DCFB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C9DCFB"/>
                </a:solidFill>
                <a:latin typeface="Calibri"/>
                <a:cs typeface="Calibri"/>
              </a:rPr>
              <a:t>E</a:t>
            </a:r>
            <a:r>
              <a:rPr sz="1300" b="1" spc="-90" dirty="0">
                <a:solidFill>
                  <a:srgbClr val="C9DCFB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C9DCFB"/>
                </a:solidFill>
                <a:latin typeface="Calibri"/>
                <a:cs typeface="Calibri"/>
              </a:rPr>
              <a:t>V</a:t>
            </a:r>
            <a:r>
              <a:rPr sz="1300" b="1" spc="-80" dirty="0">
                <a:solidFill>
                  <a:srgbClr val="C9DCFB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C9DCFB"/>
                </a:solidFill>
                <a:latin typeface="Calibri"/>
                <a:cs typeface="Calibri"/>
              </a:rPr>
              <a:t>I</a:t>
            </a:r>
            <a:r>
              <a:rPr sz="1300" b="1" spc="-90" dirty="0">
                <a:solidFill>
                  <a:srgbClr val="C9DCFB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C9DCFB"/>
                </a:solidFill>
                <a:latin typeface="Calibri"/>
                <a:cs typeface="Calibri"/>
              </a:rPr>
              <a:t>E</a:t>
            </a:r>
            <a:r>
              <a:rPr sz="1300" b="1" spc="-85" dirty="0">
                <a:solidFill>
                  <a:srgbClr val="C9DCFB"/>
                </a:solidFill>
                <a:latin typeface="Calibri"/>
                <a:cs typeface="Calibri"/>
              </a:rPr>
              <a:t> </a:t>
            </a:r>
            <a:r>
              <a:rPr sz="1300" b="1" spc="-50" dirty="0">
                <a:solidFill>
                  <a:srgbClr val="C9DCFB"/>
                </a:solidFill>
                <a:latin typeface="Calibri"/>
                <a:cs typeface="Calibri"/>
              </a:rPr>
              <a:t>W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535940" y="2513533"/>
            <a:ext cx="7419975" cy="13430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8000"/>
              </a:lnSpc>
              <a:spcBef>
                <a:spcPts val="100"/>
              </a:spcBef>
            </a:pPr>
            <a:r>
              <a:rPr sz="4000" dirty="0">
                <a:solidFill>
                  <a:srgbClr val="FFFFFF"/>
                </a:solidFill>
              </a:rPr>
              <a:t>DiSCNet:</a:t>
            </a:r>
            <a:r>
              <a:rPr sz="4000" spc="-90" dirty="0">
                <a:solidFill>
                  <a:srgbClr val="FFFFFF"/>
                </a:solidFill>
              </a:rPr>
              <a:t> </a:t>
            </a:r>
            <a:r>
              <a:rPr sz="4000" dirty="0">
                <a:solidFill>
                  <a:srgbClr val="FFFFFF"/>
                </a:solidFill>
              </a:rPr>
              <a:t>A</a:t>
            </a:r>
            <a:r>
              <a:rPr sz="4000" spc="-10" dirty="0">
                <a:solidFill>
                  <a:srgbClr val="FFFFFF"/>
                </a:solidFill>
              </a:rPr>
              <a:t> Dual-</a:t>
            </a:r>
            <a:r>
              <a:rPr sz="4000" dirty="0">
                <a:solidFill>
                  <a:srgbClr val="FFFFFF"/>
                </a:solidFill>
              </a:rPr>
              <a:t>Branch</a:t>
            </a:r>
            <a:r>
              <a:rPr sz="4000" spc="-75" dirty="0">
                <a:solidFill>
                  <a:srgbClr val="FFFFFF"/>
                </a:solidFill>
              </a:rPr>
              <a:t> </a:t>
            </a:r>
            <a:r>
              <a:rPr sz="4000" dirty="0">
                <a:solidFill>
                  <a:srgbClr val="FFFFFF"/>
                </a:solidFill>
              </a:rPr>
              <a:t>CNN</a:t>
            </a:r>
            <a:r>
              <a:rPr sz="4000" spc="-40" dirty="0">
                <a:solidFill>
                  <a:srgbClr val="FFFFFF"/>
                </a:solidFill>
              </a:rPr>
              <a:t> </a:t>
            </a:r>
            <a:r>
              <a:rPr sz="4000" spc="-25" dirty="0">
                <a:solidFill>
                  <a:srgbClr val="FFFFFF"/>
                </a:solidFill>
              </a:rPr>
              <a:t>for </a:t>
            </a:r>
            <a:r>
              <a:rPr sz="4000" dirty="0">
                <a:solidFill>
                  <a:srgbClr val="FFFFFF"/>
                </a:solidFill>
              </a:rPr>
              <a:t>Bearing</a:t>
            </a:r>
            <a:r>
              <a:rPr sz="4000" spc="-155" dirty="0">
                <a:solidFill>
                  <a:srgbClr val="FFFFFF"/>
                </a:solidFill>
              </a:rPr>
              <a:t> </a:t>
            </a:r>
            <a:r>
              <a:rPr sz="4000" dirty="0">
                <a:solidFill>
                  <a:srgbClr val="FFFFFF"/>
                </a:solidFill>
              </a:rPr>
              <a:t>Fault</a:t>
            </a:r>
            <a:r>
              <a:rPr sz="4000" spc="-110" dirty="0">
                <a:solidFill>
                  <a:srgbClr val="FFFFFF"/>
                </a:solidFill>
              </a:rPr>
              <a:t> </a:t>
            </a:r>
            <a:r>
              <a:rPr sz="4000" spc="-10" dirty="0">
                <a:solidFill>
                  <a:srgbClr val="FFFFFF"/>
                </a:solidFill>
              </a:rPr>
              <a:t>Diagnosis</a:t>
            </a:r>
            <a:endParaRPr sz="4000"/>
          </a:p>
        </p:txBody>
      </p:sp>
      <p:sp>
        <p:nvSpPr>
          <p:cNvPr id="5" name="object 5"/>
          <p:cNvSpPr/>
          <p:nvPr/>
        </p:nvSpPr>
        <p:spPr>
          <a:xfrm>
            <a:off x="548640" y="4160520"/>
            <a:ext cx="2011680" cy="0"/>
          </a:xfrm>
          <a:custGeom>
            <a:avLst/>
            <a:gdLst/>
            <a:ahLst/>
            <a:cxnLst/>
            <a:rect l="l" t="t" r="r" b="b"/>
            <a:pathLst>
              <a:path w="2011680">
                <a:moveTo>
                  <a:pt x="0" y="0"/>
                </a:moveTo>
                <a:lnTo>
                  <a:pt x="2011679" y="0"/>
                </a:lnTo>
              </a:path>
            </a:pathLst>
          </a:custGeom>
          <a:ln w="18288">
            <a:solidFill>
              <a:srgbClr val="C9DCF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35940" y="4407534"/>
            <a:ext cx="5892800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00" i="1" dirty="0">
                <a:solidFill>
                  <a:srgbClr val="C9DCFB"/>
                </a:solidFill>
                <a:latin typeface="Calibri"/>
                <a:cs typeface="Calibri"/>
              </a:rPr>
              <a:t>Paper</a:t>
            </a:r>
            <a:r>
              <a:rPr sz="1500" i="1" spc="-55" dirty="0">
                <a:solidFill>
                  <a:srgbClr val="C9DCFB"/>
                </a:solidFill>
                <a:latin typeface="Calibri"/>
                <a:cs typeface="Calibri"/>
              </a:rPr>
              <a:t> </a:t>
            </a:r>
            <a:r>
              <a:rPr sz="1500" i="1" spc="-10" dirty="0">
                <a:solidFill>
                  <a:srgbClr val="C9DCFB"/>
                </a:solidFill>
                <a:latin typeface="Calibri"/>
                <a:cs typeface="Calibri"/>
              </a:rPr>
              <a:t>summary,</a:t>
            </a:r>
            <a:r>
              <a:rPr sz="1500" i="1" spc="-55" dirty="0">
                <a:solidFill>
                  <a:srgbClr val="C9DCFB"/>
                </a:solidFill>
                <a:latin typeface="Calibri"/>
                <a:cs typeface="Calibri"/>
              </a:rPr>
              <a:t> </a:t>
            </a:r>
            <a:r>
              <a:rPr sz="1500" i="1" dirty="0">
                <a:solidFill>
                  <a:srgbClr val="C9DCFB"/>
                </a:solidFill>
                <a:latin typeface="Calibri"/>
                <a:cs typeface="Calibri"/>
              </a:rPr>
              <a:t>methodological</a:t>
            </a:r>
            <a:r>
              <a:rPr sz="1500" i="1" spc="-10" dirty="0">
                <a:solidFill>
                  <a:srgbClr val="C9DCFB"/>
                </a:solidFill>
                <a:latin typeface="Calibri"/>
                <a:cs typeface="Calibri"/>
              </a:rPr>
              <a:t> </a:t>
            </a:r>
            <a:r>
              <a:rPr sz="1500" i="1" dirty="0">
                <a:solidFill>
                  <a:srgbClr val="C9DCFB"/>
                </a:solidFill>
                <a:latin typeface="Calibri"/>
                <a:cs typeface="Calibri"/>
              </a:rPr>
              <a:t>analysis,</a:t>
            </a:r>
            <a:r>
              <a:rPr sz="1500" i="1" spc="-10" dirty="0">
                <a:solidFill>
                  <a:srgbClr val="C9DCFB"/>
                </a:solidFill>
                <a:latin typeface="Calibri"/>
                <a:cs typeface="Calibri"/>
              </a:rPr>
              <a:t> </a:t>
            </a:r>
            <a:r>
              <a:rPr sz="1500" i="1" dirty="0">
                <a:solidFill>
                  <a:srgbClr val="C9DCFB"/>
                </a:solidFill>
                <a:latin typeface="Calibri"/>
                <a:cs typeface="Calibri"/>
              </a:rPr>
              <a:t>and</a:t>
            </a:r>
            <a:r>
              <a:rPr sz="1500" i="1" spc="-25" dirty="0">
                <a:solidFill>
                  <a:srgbClr val="C9DCFB"/>
                </a:solidFill>
                <a:latin typeface="Calibri"/>
                <a:cs typeface="Calibri"/>
              </a:rPr>
              <a:t> </a:t>
            </a:r>
            <a:r>
              <a:rPr sz="1500" i="1" dirty="0">
                <a:solidFill>
                  <a:srgbClr val="C9DCFB"/>
                </a:solidFill>
                <a:latin typeface="Calibri"/>
                <a:cs typeface="Calibri"/>
              </a:rPr>
              <a:t>open</a:t>
            </a:r>
            <a:r>
              <a:rPr sz="1500" i="1" spc="-50" dirty="0">
                <a:solidFill>
                  <a:srgbClr val="C9DCFB"/>
                </a:solidFill>
                <a:latin typeface="Calibri"/>
                <a:cs typeface="Calibri"/>
              </a:rPr>
              <a:t> </a:t>
            </a:r>
            <a:r>
              <a:rPr sz="1500" i="1" dirty="0">
                <a:solidFill>
                  <a:srgbClr val="C9DCFB"/>
                </a:solidFill>
                <a:latin typeface="Calibri"/>
                <a:cs typeface="Calibri"/>
              </a:rPr>
              <a:t>questions</a:t>
            </a:r>
            <a:r>
              <a:rPr sz="1500" i="1" spc="-10" dirty="0">
                <a:solidFill>
                  <a:srgbClr val="C9DCFB"/>
                </a:solidFill>
                <a:latin typeface="Calibri"/>
                <a:cs typeface="Calibri"/>
              </a:rPr>
              <a:t> </a:t>
            </a:r>
            <a:r>
              <a:rPr sz="1500" i="1" dirty="0">
                <a:solidFill>
                  <a:srgbClr val="C9DCFB"/>
                </a:solidFill>
                <a:latin typeface="Calibri"/>
                <a:cs typeface="Calibri"/>
              </a:rPr>
              <a:t>for</a:t>
            </a:r>
            <a:r>
              <a:rPr sz="1500" i="1" spc="-30" dirty="0">
                <a:solidFill>
                  <a:srgbClr val="C9DCFB"/>
                </a:solidFill>
                <a:latin typeface="Calibri"/>
                <a:cs typeface="Calibri"/>
              </a:rPr>
              <a:t> </a:t>
            </a:r>
            <a:r>
              <a:rPr sz="1500" i="1" spc="-10" dirty="0">
                <a:solidFill>
                  <a:srgbClr val="C9DCFB"/>
                </a:solidFill>
                <a:latin typeface="Calibri"/>
                <a:cs typeface="Calibri"/>
              </a:rPr>
              <a:t>discussion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5940" y="5957082"/>
            <a:ext cx="3482975" cy="538480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sz="1300" dirty="0">
                <a:solidFill>
                  <a:srgbClr val="8B9BD5"/>
                </a:solidFill>
                <a:latin typeface="Calibri"/>
                <a:cs typeface="Calibri"/>
              </a:rPr>
              <a:t>Presented</a:t>
            </a:r>
            <a:r>
              <a:rPr sz="1300" spc="45" dirty="0">
                <a:solidFill>
                  <a:srgbClr val="8B9BD5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8B9BD5"/>
                </a:solidFill>
                <a:latin typeface="Calibri"/>
                <a:cs typeface="Calibri"/>
              </a:rPr>
              <a:t>by</a:t>
            </a:r>
            <a:r>
              <a:rPr sz="1300" spc="240" dirty="0">
                <a:solidFill>
                  <a:srgbClr val="8B9BD5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Animesh</a:t>
            </a:r>
            <a:r>
              <a:rPr sz="1300" b="1" spc="105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1300" dirty="0">
                <a:solidFill>
                  <a:srgbClr val="8B9BD5"/>
                </a:solidFill>
                <a:latin typeface="Calibri"/>
                <a:cs typeface="Calibri"/>
              </a:rPr>
              <a:t>|</a:t>
            </a:r>
            <a:r>
              <a:rPr sz="1300" spc="120" dirty="0">
                <a:solidFill>
                  <a:srgbClr val="8B9BD5"/>
                </a:solidFill>
                <a:latin typeface="Calibri"/>
                <a:cs typeface="Calibri"/>
              </a:rPr>
              <a:t>  </a:t>
            </a:r>
            <a:r>
              <a:rPr sz="1300" dirty="0">
                <a:solidFill>
                  <a:srgbClr val="8B9BD5"/>
                </a:solidFill>
                <a:latin typeface="Calibri"/>
                <a:cs typeface="Calibri"/>
              </a:rPr>
              <a:t>Mechanical</a:t>
            </a:r>
            <a:r>
              <a:rPr sz="1300" spc="15" dirty="0">
                <a:solidFill>
                  <a:srgbClr val="8B9BD5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8B9BD5"/>
                </a:solidFill>
                <a:latin typeface="Calibri"/>
                <a:cs typeface="Calibri"/>
              </a:rPr>
              <a:t>Engineering</a:t>
            </a: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sz="1150" dirty="0">
                <a:solidFill>
                  <a:srgbClr val="6B79B8"/>
                </a:solidFill>
                <a:latin typeface="Calibri"/>
                <a:cs typeface="Calibri"/>
              </a:rPr>
              <a:t>Lab</a:t>
            </a:r>
            <a:r>
              <a:rPr sz="1150" spc="-15" dirty="0">
                <a:solidFill>
                  <a:srgbClr val="6B79B8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6B79B8"/>
                </a:solidFill>
                <a:latin typeface="Calibri"/>
                <a:cs typeface="Calibri"/>
              </a:rPr>
              <a:t>Research</a:t>
            </a:r>
            <a:r>
              <a:rPr sz="1150" spc="-15" dirty="0">
                <a:solidFill>
                  <a:srgbClr val="6B79B8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6B79B8"/>
                </a:solidFill>
                <a:latin typeface="Calibri"/>
                <a:cs typeface="Calibri"/>
              </a:rPr>
              <a:t>Discussion</a:t>
            </a:r>
            <a:endParaRPr sz="11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65000"/>
            <a:lumOff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>
            <a:extLst>
              <a:ext uri="{FF2B5EF4-FFF2-40B4-BE49-F238E27FC236}">
                <a16:creationId xmlns:a16="http://schemas.microsoft.com/office/drawing/2014/main" id="{C755666B-8E31-2638-419A-6B80A919D1AA}"/>
              </a:ext>
            </a:extLst>
          </p:cNvPr>
          <p:cNvSpPr txBox="1"/>
          <p:nvPr/>
        </p:nvSpPr>
        <p:spPr>
          <a:xfrm>
            <a:off x="535940" y="2829560"/>
            <a:ext cx="92392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solidFill>
                  <a:srgbClr val="C9DCFB"/>
                </a:solidFill>
                <a:latin typeface="Calibri"/>
                <a:cs typeface="Calibri"/>
              </a:rPr>
              <a:t>P</a:t>
            </a:r>
            <a:r>
              <a:rPr sz="1300" b="1" spc="-70" dirty="0">
                <a:solidFill>
                  <a:srgbClr val="C9DCFB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C9DCFB"/>
                </a:solidFill>
                <a:latin typeface="Calibri"/>
                <a:cs typeface="Calibri"/>
              </a:rPr>
              <a:t>A</a:t>
            </a:r>
            <a:r>
              <a:rPr sz="1300" b="1" spc="-70" dirty="0">
                <a:solidFill>
                  <a:srgbClr val="C9DCFB"/>
                </a:solidFill>
                <a:latin typeface="Calibri"/>
                <a:cs typeface="Calibri"/>
              </a:rPr>
              <a:t> </a:t>
            </a:r>
            <a:r>
              <a:rPr sz="1300" b="1" spc="-20" dirty="0">
                <a:solidFill>
                  <a:srgbClr val="C9DCFB"/>
                </a:solidFill>
                <a:latin typeface="Calibri"/>
                <a:cs typeface="Calibri"/>
              </a:rPr>
              <a:t>R</a:t>
            </a:r>
            <a:r>
              <a:rPr sz="1300" b="1" spc="-90" dirty="0">
                <a:solidFill>
                  <a:srgbClr val="C9DCFB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C9DCFB"/>
                </a:solidFill>
                <a:latin typeface="Calibri"/>
                <a:cs typeface="Calibri"/>
              </a:rPr>
              <a:t>T</a:t>
            </a:r>
            <a:r>
              <a:rPr sz="1300" b="1" spc="475" dirty="0">
                <a:solidFill>
                  <a:srgbClr val="C9DCFB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C9DCFB"/>
                </a:solidFill>
                <a:latin typeface="Calibri"/>
                <a:cs typeface="Calibri"/>
              </a:rPr>
              <a:t>O</a:t>
            </a:r>
            <a:r>
              <a:rPr sz="1300" b="1" spc="-65" dirty="0">
                <a:solidFill>
                  <a:srgbClr val="C9DCFB"/>
                </a:solidFill>
                <a:latin typeface="Calibri"/>
                <a:cs typeface="Calibri"/>
              </a:rPr>
              <a:t> </a:t>
            </a:r>
            <a:r>
              <a:rPr sz="1300" b="1" spc="-20" dirty="0">
                <a:solidFill>
                  <a:srgbClr val="C9DCFB"/>
                </a:solidFill>
                <a:latin typeface="Calibri"/>
                <a:cs typeface="Calibri"/>
              </a:rPr>
              <a:t>N</a:t>
            </a:r>
            <a:r>
              <a:rPr sz="1300" b="1" spc="-65" dirty="0">
                <a:solidFill>
                  <a:srgbClr val="C9DCFB"/>
                </a:solidFill>
                <a:latin typeface="Calibri"/>
                <a:cs typeface="Calibri"/>
              </a:rPr>
              <a:t> </a:t>
            </a:r>
            <a:r>
              <a:rPr sz="1300" b="1" spc="-50" dirty="0">
                <a:solidFill>
                  <a:srgbClr val="C9DCFB"/>
                </a:solidFill>
                <a:latin typeface="Calibri"/>
                <a:cs typeface="Calibri"/>
              </a:rPr>
              <a:t>E</a:t>
            </a:r>
            <a:endParaRPr sz="1300" dirty="0">
              <a:latin typeface="Calibri"/>
              <a:cs typeface="Calibri"/>
            </a:endParaRPr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045ED5A6-3E96-8259-4EBD-44DC7EA45F2F}"/>
              </a:ext>
            </a:extLst>
          </p:cNvPr>
          <p:cNvSpPr txBox="1"/>
          <p:nvPr/>
        </p:nvSpPr>
        <p:spPr>
          <a:xfrm>
            <a:off x="535940" y="3335782"/>
            <a:ext cx="3207385" cy="5448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400" b="1" dirty="0">
                <a:solidFill>
                  <a:srgbClr val="FFFFFF"/>
                </a:solidFill>
                <a:latin typeface="Cambria"/>
                <a:cs typeface="Cambria"/>
              </a:rPr>
              <a:t>Paper</a:t>
            </a:r>
            <a:r>
              <a:rPr sz="3400" b="1" spc="-10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400" b="1" spc="-10" dirty="0">
                <a:solidFill>
                  <a:srgbClr val="FFFFFF"/>
                </a:solidFill>
                <a:latin typeface="Cambria"/>
                <a:cs typeface="Cambria"/>
              </a:rPr>
              <a:t>Summary</a:t>
            </a:r>
            <a:endParaRPr sz="3400" dirty="0">
              <a:latin typeface="Cambria"/>
              <a:cs typeface="Cambria"/>
            </a:endParaRPr>
          </a:p>
        </p:txBody>
      </p:sp>
      <p:sp>
        <p:nvSpPr>
          <p:cNvPr id="9" name="object 4">
            <a:extLst>
              <a:ext uri="{FF2B5EF4-FFF2-40B4-BE49-F238E27FC236}">
                <a16:creationId xmlns:a16="http://schemas.microsoft.com/office/drawing/2014/main" id="{06D5CBA8-9A66-2AE7-626A-B5E68BD6C530}"/>
              </a:ext>
            </a:extLst>
          </p:cNvPr>
          <p:cNvSpPr/>
          <p:nvPr/>
        </p:nvSpPr>
        <p:spPr>
          <a:xfrm>
            <a:off x="548640" y="4114800"/>
            <a:ext cx="1463040" cy="0"/>
          </a:xfrm>
          <a:custGeom>
            <a:avLst/>
            <a:gdLst/>
            <a:ahLst/>
            <a:cxnLst/>
            <a:rect l="l" t="t" r="r" b="b"/>
            <a:pathLst>
              <a:path w="1463039">
                <a:moveTo>
                  <a:pt x="0" y="0"/>
                </a:moveTo>
                <a:lnTo>
                  <a:pt x="1463040" y="0"/>
                </a:lnTo>
              </a:path>
            </a:pathLst>
          </a:custGeom>
          <a:ln w="18288">
            <a:solidFill>
              <a:srgbClr val="C9DCF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5">
            <a:extLst>
              <a:ext uri="{FF2B5EF4-FFF2-40B4-BE49-F238E27FC236}">
                <a16:creationId xmlns:a16="http://schemas.microsoft.com/office/drawing/2014/main" id="{8C556E35-0A11-DC3A-5805-9606680C0873}"/>
              </a:ext>
            </a:extLst>
          </p:cNvPr>
          <p:cNvSpPr txBox="1"/>
          <p:nvPr/>
        </p:nvSpPr>
        <p:spPr>
          <a:xfrm>
            <a:off x="535940" y="4381626"/>
            <a:ext cx="438721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spc="-10" dirty="0">
                <a:solidFill>
                  <a:srgbClr val="ADBAE8"/>
                </a:solidFill>
                <a:latin typeface="Calibri"/>
                <a:cs typeface="Calibri"/>
              </a:rPr>
              <a:t>Motivation,</a:t>
            </a:r>
            <a:r>
              <a:rPr sz="1400" spc="35" dirty="0">
                <a:solidFill>
                  <a:srgbClr val="ADBAE8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ADBAE8"/>
                </a:solidFill>
                <a:latin typeface="Calibri"/>
                <a:cs typeface="Calibri"/>
              </a:rPr>
              <a:t>methodology,</a:t>
            </a:r>
            <a:r>
              <a:rPr sz="1400" spc="15" dirty="0">
                <a:solidFill>
                  <a:srgbClr val="ADBAE8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ADBAE8"/>
                </a:solidFill>
                <a:latin typeface="Calibri"/>
                <a:cs typeface="Calibri"/>
              </a:rPr>
              <a:t>architecture,</a:t>
            </a:r>
            <a:r>
              <a:rPr sz="1400" spc="35" dirty="0">
                <a:solidFill>
                  <a:srgbClr val="ADBAE8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ADBAE8"/>
                </a:solidFill>
                <a:latin typeface="Calibri"/>
                <a:cs typeface="Calibri"/>
              </a:rPr>
              <a:t>and</a:t>
            </a:r>
            <a:r>
              <a:rPr sz="1400" spc="-45" dirty="0">
                <a:solidFill>
                  <a:srgbClr val="ADBAE8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ADBAE8"/>
                </a:solidFill>
                <a:latin typeface="Calibri"/>
                <a:cs typeface="Calibri"/>
              </a:rPr>
              <a:t>reported</a:t>
            </a:r>
            <a:r>
              <a:rPr sz="1400" spc="15" dirty="0">
                <a:solidFill>
                  <a:srgbClr val="ADBAE8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ADBAE8"/>
                </a:solidFill>
                <a:latin typeface="Calibri"/>
                <a:cs typeface="Calibri"/>
              </a:rPr>
              <a:t>results</a:t>
            </a:r>
            <a:endParaRPr sz="14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571396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411556"/>
            <a:ext cx="1076325" cy="2019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50" b="1" spc="-10" dirty="0">
                <a:solidFill>
                  <a:srgbClr val="525A78"/>
                </a:solidFill>
                <a:latin typeface="Calibri"/>
                <a:cs typeface="Calibri"/>
              </a:rPr>
              <a:t>B</a:t>
            </a:r>
            <a:r>
              <a:rPr sz="1150" b="1" spc="-110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1150" b="1" spc="95" dirty="0">
                <a:solidFill>
                  <a:srgbClr val="525A78"/>
                </a:solidFill>
                <a:latin typeface="Calibri"/>
                <a:cs typeface="Calibri"/>
              </a:rPr>
              <a:t>ACKG</a:t>
            </a:r>
            <a:r>
              <a:rPr sz="1150" b="1" spc="-100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1150" b="1" spc="95" dirty="0">
                <a:solidFill>
                  <a:srgbClr val="525A78"/>
                </a:solidFill>
                <a:latin typeface="Calibri"/>
                <a:cs typeface="Calibri"/>
              </a:rPr>
              <a:t>ROUN</a:t>
            </a:r>
            <a:r>
              <a:rPr sz="1150" b="1" spc="-100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1150" b="1" spc="-50" dirty="0">
                <a:solidFill>
                  <a:srgbClr val="525A78"/>
                </a:solidFill>
                <a:latin typeface="Calibri"/>
                <a:cs typeface="Calibri"/>
              </a:rPr>
              <a:t>D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Motivation</a:t>
            </a:r>
            <a:r>
              <a:rPr spc="-70" dirty="0"/>
              <a:t> </a:t>
            </a:r>
            <a:r>
              <a:rPr dirty="0"/>
              <a:t>&amp;</a:t>
            </a:r>
            <a:r>
              <a:rPr spc="5" dirty="0"/>
              <a:t> </a:t>
            </a:r>
            <a:r>
              <a:rPr dirty="0"/>
              <a:t>the</a:t>
            </a:r>
            <a:r>
              <a:rPr spc="-10" dirty="0"/>
              <a:t> </a:t>
            </a:r>
            <a:r>
              <a:rPr dirty="0"/>
              <a:t>Shift</a:t>
            </a:r>
            <a:r>
              <a:rPr spc="-20" dirty="0"/>
              <a:t> </a:t>
            </a:r>
            <a:r>
              <a:rPr dirty="0"/>
              <a:t>in</a:t>
            </a:r>
            <a:r>
              <a:rPr spc="-25" dirty="0"/>
              <a:t> </a:t>
            </a:r>
            <a:r>
              <a:rPr spc="-10" dirty="0"/>
              <a:t>Methodology</a:t>
            </a:r>
          </a:p>
        </p:txBody>
      </p:sp>
      <p:sp>
        <p:nvSpPr>
          <p:cNvPr id="4" name="object 4"/>
          <p:cNvSpPr/>
          <p:nvPr/>
        </p:nvSpPr>
        <p:spPr>
          <a:xfrm>
            <a:off x="548640" y="1371600"/>
            <a:ext cx="11094720" cy="0"/>
          </a:xfrm>
          <a:custGeom>
            <a:avLst/>
            <a:gdLst/>
            <a:ahLst/>
            <a:cxnLst/>
            <a:rect l="l" t="t" r="r" b="b"/>
            <a:pathLst>
              <a:path w="11094720">
                <a:moveTo>
                  <a:pt x="0" y="0"/>
                </a:moveTo>
                <a:lnTo>
                  <a:pt x="11094719" y="0"/>
                </a:lnTo>
              </a:path>
            </a:pathLst>
          </a:custGeom>
          <a:ln w="12192">
            <a:solidFill>
              <a:srgbClr val="C4CCE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35940" y="1791080"/>
            <a:ext cx="9726295" cy="2451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50" b="1" dirty="0">
                <a:solidFill>
                  <a:srgbClr val="1E2760"/>
                </a:solidFill>
                <a:latin typeface="Calibri"/>
                <a:cs typeface="Calibri"/>
              </a:rPr>
              <a:t>The</a:t>
            </a:r>
            <a:r>
              <a:rPr sz="1450" b="1" spc="-45" dirty="0">
                <a:solidFill>
                  <a:srgbClr val="1E2760"/>
                </a:solidFill>
                <a:latin typeface="Calibri"/>
                <a:cs typeface="Calibri"/>
              </a:rPr>
              <a:t> </a:t>
            </a:r>
            <a:r>
              <a:rPr sz="1450" b="1" dirty="0">
                <a:solidFill>
                  <a:srgbClr val="1E2760"/>
                </a:solidFill>
                <a:latin typeface="Calibri"/>
                <a:cs typeface="Calibri"/>
              </a:rPr>
              <a:t>goal:</a:t>
            </a:r>
            <a:r>
              <a:rPr sz="1450" b="1" spc="235" dirty="0">
                <a:solidFill>
                  <a:srgbClr val="1E2760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212846"/>
                </a:solidFill>
                <a:latin typeface="Calibri"/>
                <a:cs typeface="Calibri"/>
              </a:rPr>
              <a:t>machine</a:t>
            </a:r>
            <a:r>
              <a:rPr sz="1450" spc="-1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450" spc="-10" dirty="0">
                <a:solidFill>
                  <a:srgbClr val="212846"/>
                </a:solidFill>
                <a:latin typeface="Calibri"/>
                <a:cs typeface="Calibri"/>
              </a:rPr>
              <a:t>failure</a:t>
            </a:r>
            <a:r>
              <a:rPr sz="1450" spc="-5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212846"/>
                </a:solidFill>
                <a:latin typeface="Calibri"/>
                <a:cs typeface="Calibri"/>
              </a:rPr>
              <a:t>prediction</a:t>
            </a:r>
            <a:r>
              <a:rPr sz="1450" spc="-3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212846"/>
                </a:solidFill>
                <a:latin typeface="Calibri"/>
                <a:cs typeface="Calibri"/>
              </a:rPr>
              <a:t>aims</a:t>
            </a:r>
            <a:r>
              <a:rPr sz="1450" spc="-2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212846"/>
                </a:solidFill>
                <a:latin typeface="Calibri"/>
                <a:cs typeface="Calibri"/>
              </a:rPr>
              <a:t>to</a:t>
            </a:r>
            <a:r>
              <a:rPr sz="1450" spc="-3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212846"/>
                </a:solidFill>
                <a:latin typeface="Calibri"/>
                <a:cs typeface="Calibri"/>
              </a:rPr>
              <a:t>reduce</a:t>
            </a:r>
            <a:r>
              <a:rPr sz="1450" spc="-3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450" spc="-10" dirty="0">
                <a:solidFill>
                  <a:srgbClr val="212846"/>
                </a:solidFill>
                <a:latin typeface="Calibri"/>
                <a:cs typeface="Calibri"/>
              </a:rPr>
              <a:t>downtime</a:t>
            </a:r>
            <a:r>
              <a:rPr sz="1450" spc="-3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212846"/>
                </a:solidFill>
                <a:latin typeface="Calibri"/>
                <a:cs typeface="Calibri"/>
              </a:rPr>
              <a:t>and</a:t>
            </a:r>
            <a:r>
              <a:rPr sz="1450" spc="-2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212846"/>
                </a:solidFill>
                <a:latin typeface="Calibri"/>
                <a:cs typeface="Calibri"/>
              </a:rPr>
              <a:t>ensure</a:t>
            </a:r>
            <a:r>
              <a:rPr sz="1450" spc="-3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450" spc="-10" dirty="0">
                <a:solidFill>
                  <a:srgbClr val="212846"/>
                </a:solidFill>
                <a:latin typeface="Calibri"/>
                <a:cs typeface="Calibri"/>
              </a:rPr>
              <a:t>operational</a:t>
            </a:r>
            <a:r>
              <a:rPr sz="1450" spc="-5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450" spc="-25" dirty="0">
                <a:solidFill>
                  <a:srgbClr val="212846"/>
                </a:solidFill>
                <a:latin typeface="Calibri"/>
                <a:cs typeface="Calibri"/>
              </a:rPr>
              <a:t>safety,</a:t>
            </a:r>
            <a:r>
              <a:rPr sz="1450" spc="-1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212846"/>
                </a:solidFill>
                <a:latin typeface="Calibri"/>
                <a:cs typeface="Calibri"/>
              </a:rPr>
              <a:t>as</a:t>
            </a:r>
            <a:r>
              <a:rPr sz="1450" spc="-2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212846"/>
                </a:solidFill>
                <a:latin typeface="Calibri"/>
                <a:cs typeface="Calibri"/>
              </a:rPr>
              <a:t>manual</a:t>
            </a:r>
            <a:r>
              <a:rPr sz="1450" spc="-5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212846"/>
                </a:solidFill>
                <a:latin typeface="Calibri"/>
                <a:cs typeface="Calibri"/>
              </a:rPr>
              <a:t>inspection</a:t>
            </a:r>
            <a:r>
              <a:rPr sz="1450" spc="-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212846"/>
                </a:solidFill>
                <a:latin typeface="Calibri"/>
                <a:cs typeface="Calibri"/>
              </a:rPr>
              <a:t>is</a:t>
            </a:r>
            <a:r>
              <a:rPr sz="1450" spc="-5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212846"/>
                </a:solidFill>
                <a:latin typeface="Calibri"/>
                <a:cs typeface="Calibri"/>
              </a:rPr>
              <a:t>not</a:t>
            </a:r>
            <a:r>
              <a:rPr sz="1450" spc="-6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450" spc="-10" dirty="0">
                <a:solidFill>
                  <a:srgbClr val="212846"/>
                </a:solidFill>
                <a:latin typeface="Calibri"/>
                <a:cs typeface="Calibri"/>
              </a:rPr>
              <a:t>reliable.</a:t>
            </a:r>
            <a:endParaRPr sz="145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42544" y="2508504"/>
            <a:ext cx="5331460" cy="3578860"/>
            <a:chOff x="542544" y="2508504"/>
            <a:chExt cx="5331460" cy="3578860"/>
          </a:xfrm>
        </p:grpSpPr>
        <p:sp>
          <p:nvSpPr>
            <p:cNvPr id="7" name="object 7"/>
            <p:cNvSpPr/>
            <p:nvPr/>
          </p:nvSpPr>
          <p:spPr>
            <a:xfrm>
              <a:off x="548640" y="2514600"/>
              <a:ext cx="5318760" cy="3566160"/>
            </a:xfrm>
            <a:custGeom>
              <a:avLst/>
              <a:gdLst/>
              <a:ahLst/>
              <a:cxnLst/>
              <a:rect l="l" t="t" r="r" b="b"/>
              <a:pathLst>
                <a:path w="5318760" h="3566160">
                  <a:moveTo>
                    <a:pt x="5263896" y="0"/>
                  </a:moveTo>
                  <a:lnTo>
                    <a:pt x="54851" y="0"/>
                  </a:lnTo>
                  <a:lnTo>
                    <a:pt x="33497" y="4304"/>
                  </a:lnTo>
                  <a:lnTo>
                    <a:pt x="16062" y="16049"/>
                  </a:lnTo>
                  <a:lnTo>
                    <a:pt x="4309" y="33486"/>
                  </a:lnTo>
                  <a:lnTo>
                    <a:pt x="0" y="54863"/>
                  </a:lnTo>
                  <a:lnTo>
                    <a:pt x="0" y="3511308"/>
                  </a:lnTo>
                  <a:lnTo>
                    <a:pt x="4309" y="3532657"/>
                  </a:lnTo>
                  <a:lnTo>
                    <a:pt x="16062" y="3550092"/>
                  </a:lnTo>
                  <a:lnTo>
                    <a:pt x="33497" y="3561848"/>
                  </a:lnTo>
                  <a:lnTo>
                    <a:pt x="54851" y="3566160"/>
                  </a:lnTo>
                  <a:lnTo>
                    <a:pt x="5263896" y="3566160"/>
                  </a:lnTo>
                  <a:lnTo>
                    <a:pt x="5285273" y="3561848"/>
                  </a:lnTo>
                  <a:lnTo>
                    <a:pt x="5302710" y="3550092"/>
                  </a:lnTo>
                  <a:lnTo>
                    <a:pt x="5314455" y="3532657"/>
                  </a:lnTo>
                  <a:lnTo>
                    <a:pt x="5318760" y="3511308"/>
                  </a:lnTo>
                  <a:lnTo>
                    <a:pt x="5318760" y="54863"/>
                  </a:lnTo>
                  <a:lnTo>
                    <a:pt x="5314455" y="33486"/>
                  </a:lnTo>
                  <a:lnTo>
                    <a:pt x="5302710" y="16049"/>
                  </a:lnTo>
                  <a:lnTo>
                    <a:pt x="5285273" y="4304"/>
                  </a:lnTo>
                  <a:lnTo>
                    <a:pt x="5263896" y="0"/>
                  </a:lnTo>
                  <a:close/>
                </a:path>
              </a:pathLst>
            </a:custGeom>
            <a:solidFill>
              <a:srgbClr val="F4F6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48640" y="2514600"/>
              <a:ext cx="5318760" cy="3566160"/>
            </a:xfrm>
            <a:custGeom>
              <a:avLst/>
              <a:gdLst/>
              <a:ahLst/>
              <a:cxnLst/>
              <a:rect l="l" t="t" r="r" b="b"/>
              <a:pathLst>
                <a:path w="5318760" h="3566160">
                  <a:moveTo>
                    <a:pt x="0" y="54863"/>
                  </a:moveTo>
                  <a:lnTo>
                    <a:pt x="4309" y="33486"/>
                  </a:lnTo>
                  <a:lnTo>
                    <a:pt x="16062" y="16049"/>
                  </a:lnTo>
                  <a:lnTo>
                    <a:pt x="33497" y="4304"/>
                  </a:lnTo>
                  <a:lnTo>
                    <a:pt x="54851" y="0"/>
                  </a:lnTo>
                  <a:lnTo>
                    <a:pt x="5263896" y="0"/>
                  </a:lnTo>
                  <a:lnTo>
                    <a:pt x="5285273" y="4304"/>
                  </a:lnTo>
                  <a:lnTo>
                    <a:pt x="5302710" y="16049"/>
                  </a:lnTo>
                  <a:lnTo>
                    <a:pt x="5314455" y="33486"/>
                  </a:lnTo>
                  <a:lnTo>
                    <a:pt x="5318760" y="54863"/>
                  </a:lnTo>
                  <a:lnTo>
                    <a:pt x="5318760" y="3511308"/>
                  </a:lnTo>
                  <a:lnTo>
                    <a:pt x="5314455" y="3532657"/>
                  </a:lnTo>
                  <a:lnTo>
                    <a:pt x="5302710" y="3550092"/>
                  </a:lnTo>
                  <a:lnTo>
                    <a:pt x="5285273" y="3561848"/>
                  </a:lnTo>
                  <a:lnTo>
                    <a:pt x="5263896" y="3566160"/>
                  </a:lnTo>
                  <a:lnTo>
                    <a:pt x="54851" y="3566160"/>
                  </a:lnTo>
                  <a:lnTo>
                    <a:pt x="33497" y="3561848"/>
                  </a:lnTo>
                  <a:lnTo>
                    <a:pt x="16062" y="3550092"/>
                  </a:lnTo>
                  <a:lnTo>
                    <a:pt x="4309" y="3532657"/>
                  </a:lnTo>
                  <a:lnTo>
                    <a:pt x="0" y="3511308"/>
                  </a:lnTo>
                  <a:lnTo>
                    <a:pt x="0" y="54863"/>
                  </a:lnTo>
                  <a:close/>
                </a:path>
              </a:pathLst>
            </a:custGeom>
            <a:ln w="12192">
              <a:solidFill>
                <a:srgbClr val="D6DE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868984" y="2749243"/>
            <a:ext cx="2398395" cy="688975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05"/>
              </a:spcBef>
            </a:pPr>
            <a:r>
              <a:rPr sz="1050" b="1" spc="105" dirty="0">
                <a:solidFill>
                  <a:srgbClr val="525A78"/>
                </a:solidFill>
                <a:latin typeface="Calibri"/>
                <a:cs typeface="Calibri"/>
              </a:rPr>
              <a:t>TRADITIONAL</a:t>
            </a:r>
            <a:r>
              <a:rPr sz="1050" b="1" spc="220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1050" b="1" spc="85" dirty="0">
                <a:solidFill>
                  <a:srgbClr val="525A78"/>
                </a:solidFill>
                <a:latin typeface="Calibri"/>
                <a:cs typeface="Calibri"/>
              </a:rPr>
              <a:t>MODELS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80"/>
              </a:spcBef>
            </a:pPr>
            <a:r>
              <a:rPr sz="1900" b="1" spc="-10" dirty="0">
                <a:solidFill>
                  <a:srgbClr val="1E2760"/>
                </a:solidFill>
                <a:latin typeface="Cambria"/>
                <a:cs typeface="Cambria"/>
              </a:rPr>
              <a:t>Handcrafted</a:t>
            </a:r>
            <a:r>
              <a:rPr sz="1900" b="1" spc="-80" dirty="0">
                <a:solidFill>
                  <a:srgbClr val="1E2760"/>
                </a:solidFill>
                <a:latin typeface="Cambria"/>
                <a:cs typeface="Cambria"/>
              </a:rPr>
              <a:t> </a:t>
            </a:r>
            <a:r>
              <a:rPr sz="1900" b="1" spc="-10" dirty="0">
                <a:solidFill>
                  <a:srgbClr val="1E2760"/>
                </a:solidFill>
                <a:latin typeface="Cambria"/>
                <a:cs typeface="Cambria"/>
              </a:rPr>
              <a:t>Features</a:t>
            </a:r>
            <a:endParaRPr sz="190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68984" y="4136542"/>
            <a:ext cx="4107179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4170" marR="5080" indent="-344805">
              <a:lnSpc>
                <a:spcPct val="115399"/>
              </a:lnSpc>
              <a:spcBef>
                <a:spcPts val="100"/>
              </a:spcBef>
              <a:tabLst>
                <a:tab pos="344170" algn="l"/>
              </a:tabLst>
            </a:pP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–	Rely</a:t>
            </a:r>
            <a:r>
              <a:rPr sz="1300" spc="-3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on</a:t>
            </a:r>
            <a:r>
              <a:rPr sz="1300" spc="-2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12846"/>
                </a:solidFill>
                <a:latin typeface="Calibri"/>
                <a:cs typeface="Calibri"/>
              </a:rPr>
              <a:t>human-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engineered</a:t>
            </a:r>
            <a:r>
              <a:rPr sz="1300" spc="3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12846"/>
                </a:solidFill>
                <a:latin typeface="Calibri"/>
                <a:cs typeface="Calibri"/>
              </a:rPr>
              <a:t>features</a:t>
            </a:r>
            <a:r>
              <a:rPr sz="1300" spc="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and</a:t>
            </a:r>
            <a:r>
              <a:rPr sz="1300" spc="-2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12846"/>
                </a:solidFill>
                <a:latin typeface="Calibri"/>
                <a:cs typeface="Calibri"/>
              </a:rPr>
              <a:t>standard</a:t>
            </a:r>
            <a:r>
              <a:rPr sz="1300" spc="1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12846"/>
                </a:solidFill>
                <a:latin typeface="Calibri"/>
                <a:cs typeface="Calibri"/>
              </a:rPr>
              <a:t>signal processing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68984" y="4750053"/>
            <a:ext cx="256667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  <a:tabLst>
                <a:tab pos="344170" algn="l"/>
              </a:tabLst>
            </a:pP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–	</a:t>
            </a:r>
            <a:r>
              <a:rPr sz="1300" spc="-10" dirty="0">
                <a:solidFill>
                  <a:srgbClr val="212846"/>
                </a:solidFill>
                <a:latin typeface="Calibri"/>
                <a:cs typeface="Calibri"/>
              </a:rPr>
              <a:t>Generalize</a:t>
            </a:r>
            <a:r>
              <a:rPr sz="1300" spc="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well</a:t>
            </a:r>
            <a:r>
              <a:rPr sz="1300" spc="-6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across</a:t>
            </a:r>
            <a:r>
              <a:rPr sz="1300" spc="-1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12846"/>
                </a:solidFill>
                <a:latin typeface="Calibri"/>
                <a:cs typeface="Calibri"/>
              </a:rPr>
              <a:t>conditions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68984" y="5106365"/>
            <a:ext cx="434467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  <a:tabLst>
                <a:tab pos="344170" algn="l"/>
              </a:tabLst>
            </a:pP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–	Cannot</a:t>
            </a:r>
            <a:r>
              <a:rPr sz="1300" spc="-1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model</a:t>
            </a:r>
            <a:r>
              <a:rPr sz="1300" spc="1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12846"/>
                </a:solidFill>
                <a:latin typeface="Calibri"/>
                <a:cs typeface="Calibri"/>
              </a:rPr>
              <a:t>complex,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12846"/>
                </a:solidFill>
                <a:latin typeface="Calibri"/>
                <a:cs typeface="Calibri"/>
              </a:rPr>
              <a:t>non-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linear</a:t>
            </a:r>
            <a:r>
              <a:rPr sz="1300" spc="4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12846"/>
                </a:solidFill>
                <a:latin typeface="Calibri"/>
                <a:cs typeface="Calibri"/>
              </a:rPr>
              <a:t>relationships</a:t>
            </a:r>
            <a:r>
              <a:rPr sz="1300" spc="7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in</a:t>
            </a:r>
            <a:r>
              <a:rPr sz="1300" spc="-3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the</a:t>
            </a:r>
            <a:r>
              <a:rPr sz="1300" spc="-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12846"/>
                </a:solidFill>
                <a:latin typeface="Calibri"/>
                <a:cs typeface="Calibri"/>
              </a:rPr>
              <a:t>data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318503" y="2508504"/>
            <a:ext cx="5331460" cy="3578860"/>
            <a:chOff x="6318503" y="2508504"/>
            <a:chExt cx="5331460" cy="3578860"/>
          </a:xfrm>
        </p:grpSpPr>
        <p:sp>
          <p:nvSpPr>
            <p:cNvPr id="14" name="object 14"/>
            <p:cNvSpPr/>
            <p:nvPr/>
          </p:nvSpPr>
          <p:spPr>
            <a:xfrm>
              <a:off x="6324599" y="2514600"/>
              <a:ext cx="5318760" cy="3566160"/>
            </a:xfrm>
            <a:custGeom>
              <a:avLst/>
              <a:gdLst/>
              <a:ahLst/>
              <a:cxnLst/>
              <a:rect l="l" t="t" r="r" b="b"/>
              <a:pathLst>
                <a:path w="5318759" h="3566160">
                  <a:moveTo>
                    <a:pt x="5263896" y="0"/>
                  </a:moveTo>
                  <a:lnTo>
                    <a:pt x="54863" y="0"/>
                  </a:lnTo>
                  <a:lnTo>
                    <a:pt x="33486" y="4304"/>
                  </a:lnTo>
                  <a:lnTo>
                    <a:pt x="16049" y="16049"/>
                  </a:lnTo>
                  <a:lnTo>
                    <a:pt x="4304" y="33486"/>
                  </a:lnTo>
                  <a:lnTo>
                    <a:pt x="0" y="54863"/>
                  </a:lnTo>
                  <a:lnTo>
                    <a:pt x="0" y="3511308"/>
                  </a:lnTo>
                  <a:lnTo>
                    <a:pt x="4304" y="3532657"/>
                  </a:lnTo>
                  <a:lnTo>
                    <a:pt x="16049" y="3550092"/>
                  </a:lnTo>
                  <a:lnTo>
                    <a:pt x="33486" y="3561848"/>
                  </a:lnTo>
                  <a:lnTo>
                    <a:pt x="54863" y="3566160"/>
                  </a:lnTo>
                  <a:lnTo>
                    <a:pt x="5263896" y="3566160"/>
                  </a:lnTo>
                  <a:lnTo>
                    <a:pt x="5285273" y="3561848"/>
                  </a:lnTo>
                  <a:lnTo>
                    <a:pt x="5302710" y="3550092"/>
                  </a:lnTo>
                  <a:lnTo>
                    <a:pt x="5314455" y="3532657"/>
                  </a:lnTo>
                  <a:lnTo>
                    <a:pt x="5318759" y="3511308"/>
                  </a:lnTo>
                  <a:lnTo>
                    <a:pt x="5318759" y="54863"/>
                  </a:lnTo>
                  <a:lnTo>
                    <a:pt x="5314455" y="33486"/>
                  </a:lnTo>
                  <a:lnTo>
                    <a:pt x="5302710" y="16049"/>
                  </a:lnTo>
                  <a:lnTo>
                    <a:pt x="5285273" y="4304"/>
                  </a:lnTo>
                  <a:lnTo>
                    <a:pt x="5263896" y="0"/>
                  </a:lnTo>
                  <a:close/>
                </a:path>
              </a:pathLst>
            </a:custGeom>
            <a:solidFill>
              <a:srgbClr val="F4F6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324599" y="2514600"/>
              <a:ext cx="5318760" cy="3566160"/>
            </a:xfrm>
            <a:custGeom>
              <a:avLst/>
              <a:gdLst/>
              <a:ahLst/>
              <a:cxnLst/>
              <a:rect l="l" t="t" r="r" b="b"/>
              <a:pathLst>
                <a:path w="5318759" h="3566160">
                  <a:moveTo>
                    <a:pt x="0" y="54863"/>
                  </a:moveTo>
                  <a:lnTo>
                    <a:pt x="4304" y="33486"/>
                  </a:lnTo>
                  <a:lnTo>
                    <a:pt x="16049" y="16049"/>
                  </a:lnTo>
                  <a:lnTo>
                    <a:pt x="33486" y="4304"/>
                  </a:lnTo>
                  <a:lnTo>
                    <a:pt x="54863" y="0"/>
                  </a:lnTo>
                  <a:lnTo>
                    <a:pt x="5263896" y="0"/>
                  </a:lnTo>
                  <a:lnTo>
                    <a:pt x="5285273" y="4304"/>
                  </a:lnTo>
                  <a:lnTo>
                    <a:pt x="5302710" y="16049"/>
                  </a:lnTo>
                  <a:lnTo>
                    <a:pt x="5314455" y="33486"/>
                  </a:lnTo>
                  <a:lnTo>
                    <a:pt x="5318759" y="54863"/>
                  </a:lnTo>
                  <a:lnTo>
                    <a:pt x="5318759" y="3511308"/>
                  </a:lnTo>
                  <a:lnTo>
                    <a:pt x="5314455" y="3532657"/>
                  </a:lnTo>
                  <a:lnTo>
                    <a:pt x="5302710" y="3550092"/>
                  </a:lnTo>
                  <a:lnTo>
                    <a:pt x="5285273" y="3561848"/>
                  </a:lnTo>
                  <a:lnTo>
                    <a:pt x="5263896" y="3566160"/>
                  </a:lnTo>
                  <a:lnTo>
                    <a:pt x="54863" y="3566160"/>
                  </a:lnTo>
                  <a:lnTo>
                    <a:pt x="33486" y="3561848"/>
                  </a:lnTo>
                  <a:lnTo>
                    <a:pt x="16049" y="3550092"/>
                  </a:lnTo>
                  <a:lnTo>
                    <a:pt x="4304" y="3532657"/>
                  </a:lnTo>
                  <a:lnTo>
                    <a:pt x="0" y="3511308"/>
                  </a:lnTo>
                  <a:lnTo>
                    <a:pt x="0" y="54863"/>
                  </a:lnTo>
                  <a:close/>
                </a:path>
              </a:pathLst>
            </a:custGeom>
            <a:ln w="12192">
              <a:solidFill>
                <a:srgbClr val="D6DE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6646164" y="2749243"/>
            <a:ext cx="2182495" cy="688975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05"/>
              </a:spcBef>
            </a:pPr>
            <a:r>
              <a:rPr sz="1050" b="1" spc="80" dirty="0">
                <a:solidFill>
                  <a:srgbClr val="525A78"/>
                </a:solidFill>
                <a:latin typeface="Calibri"/>
                <a:cs typeface="Calibri"/>
              </a:rPr>
              <a:t>DEEP</a:t>
            </a:r>
            <a:r>
              <a:rPr sz="1050" b="1" spc="254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1050" b="1" spc="105" dirty="0">
                <a:solidFill>
                  <a:srgbClr val="525A78"/>
                </a:solidFill>
                <a:latin typeface="Calibri"/>
                <a:cs typeface="Calibri"/>
              </a:rPr>
              <a:t>LEARNING</a:t>
            </a:r>
            <a:r>
              <a:rPr sz="1050" b="1" spc="190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1050" b="1" spc="85" dirty="0">
                <a:solidFill>
                  <a:srgbClr val="525A78"/>
                </a:solidFill>
                <a:latin typeface="Calibri"/>
                <a:cs typeface="Calibri"/>
              </a:rPr>
              <a:t>MODELS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80"/>
              </a:spcBef>
            </a:pPr>
            <a:r>
              <a:rPr sz="1900" b="1" spc="-10" dirty="0">
                <a:solidFill>
                  <a:srgbClr val="1E2760"/>
                </a:solidFill>
                <a:latin typeface="Cambria"/>
                <a:cs typeface="Cambria"/>
              </a:rPr>
              <a:t>Data-</a:t>
            </a:r>
            <a:r>
              <a:rPr sz="1900" b="1" spc="-20" dirty="0">
                <a:solidFill>
                  <a:srgbClr val="1E2760"/>
                </a:solidFill>
                <a:latin typeface="Cambria"/>
                <a:cs typeface="Cambria"/>
              </a:rPr>
              <a:t>Driven</a:t>
            </a:r>
            <a:r>
              <a:rPr sz="1900" b="1" spc="-35" dirty="0">
                <a:solidFill>
                  <a:srgbClr val="1E2760"/>
                </a:solidFill>
                <a:latin typeface="Cambria"/>
                <a:cs typeface="Cambria"/>
              </a:rPr>
              <a:t> </a:t>
            </a:r>
            <a:r>
              <a:rPr sz="1900" b="1" spc="-10" dirty="0">
                <a:solidFill>
                  <a:srgbClr val="1E2760"/>
                </a:solidFill>
                <a:latin typeface="Cambria"/>
                <a:cs typeface="Cambria"/>
              </a:rPr>
              <a:t>(CNNs)</a:t>
            </a:r>
            <a:endParaRPr sz="1900">
              <a:latin typeface="Cambria"/>
              <a:cs typeface="Cambr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35940" y="6614566"/>
            <a:ext cx="1261110" cy="1473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10"/>
              </a:lnSpc>
            </a:pPr>
            <a:r>
              <a:rPr sz="950" dirty="0">
                <a:solidFill>
                  <a:srgbClr val="525A78"/>
                </a:solidFill>
                <a:latin typeface="Calibri"/>
                <a:cs typeface="Calibri"/>
              </a:rPr>
              <a:t>Part</a:t>
            </a:r>
            <a:r>
              <a:rPr sz="950" spc="-45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525A78"/>
                </a:solidFill>
                <a:latin typeface="Calibri"/>
                <a:cs typeface="Calibri"/>
              </a:rPr>
              <a:t>1</a:t>
            </a:r>
            <a:r>
              <a:rPr sz="950" spc="25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525A78"/>
                </a:solidFill>
                <a:latin typeface="Calibri"/>
                <a:cs typeface="Calibri"/>
              </a:rPr>
              <a:t>—</a:t>
            </a:r>
            <a:r>
              <a:rPr sz="950" spc="-15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525A78"/>
                </a:solidFill>
                <a:latin typeface="Calibri"/>
                <a:cs typeface="Calibri"/>
              </a:rPr>
              <a:t>Paper</a:t>
            </a:r>
            <a:r>
              <a:rPr sz="950" spc="-15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525A78"/>
                </a:solidFill>
                <a:latin typeface="Calibri"/>
                <a:cs typeface="Calibri"/>
              </a:rPr>
              <a:t>Summary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8425">
              <a:lnSpc>
                <a:spcPts val="1010"/>
              </a:lnSpc>
            </a:pPr>
            <a:r>
              <a:rPr spc="-50" dirty="0"/>
              <a:t>1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6646164" y="4281678"/>
            <a:ext cx="432181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  <a:tabLst>
                <a:tab pos="344170" algn="l"/>
              </a:tabLst>
            </a:pP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–	</a:t>
            </a:r>
            <a:r>
              <a:rPr sz="1300" spc="-10" dirty="0">
                <a:solidFill>
                  <a:srgbClr val="212846"/>
                </a:solidFill>
                <a:latin typeface="Calibri"/>
                <a:cs typeface="Calibri"/>
              </a:rPr>
              <a:t>Automatically</a:t>
            </a:r>
            <a:r>
              <a:rPr sz="1300" spc="2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extract</a:t>
            </a:r>
            <a:r>
              <a:rPr sz="1300" spc="-2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12846"/>
                </a:solidFill>
                <a:latin typeface="Calibri"/>
                <a:cs typeface="Calibri"/>
              </a:rPr>
              <a:t>hierarchical</a:t>
            </a:r>
            <a:r>
              <a:rPr sz="1300" spc="-3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12846"/>
                </a:solidFill>
                <a:latin typeface="Calibri"/>
                <a:cs typeface="Calibri"/>
              </a:rPr>
              <a:t>features</a:t>
            </a:r>
            <a:r>
              <a:rPr sz="1300" spc="-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from</a:t>
            </a:r>
            <a:r>
              <a:rPr sz="1300" spc="-3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raw</a:t>
            </a:r>
            <a:r>
              <a:rPr sz="1300" spc="-7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12846"/>
                </a:solidFill>
                <a:latin typeface="Calibri"/>
                <a:cs typeface="Calibri"/>
              </a:rPr>
              <a:t>signals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646164" y="4634941"/>
            <a:ext cx="239141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  <a:tabLst>
                <a:tab pos="344170" algn="l"/>
              </a:tabLst>
            </a:pP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–	Offer</a:t>
            </a:r>
            <a:r>
              <a:rPr sz="1300" spc="-3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high</a:t>
            </a:r>
            <a:r>
              <a:rPr sz="1300" spc="-2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12846"/>
                </a:solidFill>
                <a:latin typeface="Calibri"/>
                <a:cs typeface="Calibri"/>
              </a:rPr>
              <a:t>diagnostic</a:t>
            </a:r>
            <a:r>
              <a:rPr sz="1300" spc="1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12846"/>
                </a:solidFill>
                <a:latin typeface="Calibri"/>
                <a:cs typeface="Calibri"/>
              </a:rPr>
              <a:t>precision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646164" y="4992115"/>
            <a:ext cx="431863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  <a:tabLst>
                <a:tab pos="344170" algn="l"/>
              </a:tabLst>
            </a:pP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–	Act</a:t>
            </a:r>
            <a:r>
              <a:rPr sz="1300" spc="-4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as</a:t>
            </a:r>
            <a:r>
              <a:rPr sz="1300" spc="-4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black</a:t>
            </a:r>
            <a:r>
              <a:rPr sz="1300" spc="-3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boxes;</a:t>
            </a:r>
            <a:r>
              <a:rPr sz="1300" spc="-1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prone</a:t>
            </a:r>
            <a:r>
              <a:rPr sz="1300" spc="-2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to</a:t>
            </a:r>
            <a:r>
              <a:rPr sz="1300" spc="-3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12846"/>
                </a:solidFill>
                <a:latin typeface="Calibri"/>
                <a:cs typeface="Calibri"/>
              </a:rPr>
              <a:t>overfitting</a:t>
            </a:r>
            <a:r>
              <a:rPr sz="1300" spc="3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on</a:t>
            </a:r>
            <a:r>
              <a:rPr sz="1300" spc="-2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specific </a:t>
            </a:r>
            <a:r>
              <a:rPr sz="1300" spc="-10" dirty="0">
                <a:solidFill>
                  <a:srgbClr val="212846"/>
                </a:solidFill>
                <a:latin typeface="Calibri"/>
                <a:cs typeface="Calibri"/>
              </a:rPr>
              <a:t>datasets</a:t>
            </a:r>
            <a:endParaRPr sz="1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411556"/>
            <a:ext cx="1972310" cy="2019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50" b="1" dirty="0">
                <a:solidFill>
                  <a:srgbClr val="525A78"/>
                </a:solidFill>
                <a:latin typeface="Calibri"/>
                <a:cs typeface="Calibri"/>
              </a:rPr>
              <a:t>S</a:t>
            </a:r>
            <a:r>
              <a:rPr sz="1150" b="1" spc="-110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1150" b="1" spc="-10" dirty="0">
                <a:solidFill>
                  <a:srgbClr val="525A78"/>
                </a:solidFill>
                <a:latin typeface="Calibri"/>
                <a:cs typeface="Calibri"/>
              </a:rPr>
              <a:t>I</a:t>
            </a:r>
            <a:r>
              <a:rPr sz="1150" b="1" spc="-110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1150" b="1" spc="-10" dirty="0">
                <a:solidFill>
                  <a:srgbClr val="525A78"/>
                </a:solidFill>
                <a:latin typeface="Calibri"/>
                <a:cs typeface="Calibri"/>
              </a:rPr>
              <a:t>G</a:t>
            </a:r>
            <a:r>
              <a:rPr sz="1150" b="1" spc="-105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1150" b="1" spc="-10" dirty="0">
                <a:solidFill>
                  <a:srgbClr val="525A78"/>
                </a:solidFill>
                <a:latin typeface="Calibri"/>
                <a:cs typeface="Calibri"/>
              </a:rPr>
              <a:t>N</a:t>
            </a:r>
            <a:r>
              <a:rPr sz="1150" b="1" spc="-105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1150" b="1" spc="65" dirty="0">
                <a:solidFill>
                  <a:srgbClr val="525A78"/>
                </a:solidFill>
                <a:latin typeface="Calibri"/>
                <a:cs typeface="Calibri"/>
              </a:rPr>
              <a:t>AL</a:t>
            </a:r>
            <a:r>
              <a:rPr sz="1150" b="1" spc="325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1150" b="1" spc="85" dirty="0">
                <a:solidFill>
                  <a:srgbClr val="525A78"/>
                </a:solidFill>
                <a:latin typeface="Calibri"/>
                <a:cs typeface="Calibri"/>
              </a:rPr>
              <a:t>REP</a:t>
            </a:r>
            <a:r>
              <a:rPr sz="1150" b="1" spc="-105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1150" b="1" spc="85" dirty="0">
                <a:solidFill>
                  <a:srgbClr val="525A78"/>
                </a:solidFill>
                <a:latin typeface="Calibri"/>
                <a:cs typeface="Calibri"/>
              </a:rPr>
              <a:t>RES</a:t>
            </a:r>
            <a:r>
              <a:rPr sz="1150" b="1" spc="-105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1150" b="1" spc="60" dirty="0">
                <a:solidFill>
                  <a:srgbClr val="525A78"/>
                </a:solidFill>
                <a:latin typeface="Calibri"/>
                <a:cs typeface="Calibri"/>
              </a:rPr>
              <a:t>EN</a:t>
            </a:r>
            <a:r>
              <a:rPr sz="1150" b="1" spc="-110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1150" b="1" spc="-10" dirty="0">
                <a:solidFill>
                  <a:srgbClr val="525A78"/>
                </a:solidFill>
                <a:latin typeface="Calibri"/>
                <a:cs typeface="Calibri"/>
              </a:rPr>
              <a:t>T</a:t>
            </a:r>
            <a:r>
              <a:rPr sz="1150" b="1" spc="-105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1150" b="1" spc="60" dirty="0">
                <a:solidFill>
                  <a:srgbClr val="525A78"/>
                </a:solidFill>
                <a:latin typeface="Calibri"/>
                <a:cs typeface="Calibri"/>
              </a:rPr>
              <a:t>AT</a:t>
            </a:r>
            <a:r>
              <a:rPr sz="1150" b="1" spc="-105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1150" b="1" spc="-10" dirty="0">
                <a:solidFill>
                  <a:srgbClr val="525A78"/>
                </a:solidFill>
                <a:latin typeface="Calibri"/>
                <a:cs typeface="Calibri"/>
              </a:rPr>
              <a:t>I</a:t>
            </a:r>
            <a:r>
              <a:rPr sz="1150" b="1" spc="-110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1150" b="1" spc="35" dirty="0">
                <a:solidFill>
                  <a:srgbClr val="525A78"/>
                </a:solidFill>
                <a:latin typeface="Calibri"/>
                <a:cs typeface="Calibri"/>
              </a:rPr>
              <a:t>ON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Overcoming</a:t>
            </a:r>
            <a:r>
              <a:rPr spc="-90" dirty="0"/>
              <a:t> </a:t>
            </a:r>
            <a:r>
              <a:rPr dirty="0"/>
              <a:t>1D</a:t>
            </a:r>
            <a:r>
              <a:rPr spc="-40" dirty="0"/>
              <a:t> </a:t>
            </a:r>
            <a:r>
              <a:rPr dirty="0"/>
              <a:t>Limits</a:t>
            </a:r>
            <a:r>
              <a:rPr spc="-55" dirty="0"/>
              <a:t> </a:t>
            </a:r>
            <a:r>
              <a:rPr dirty="0"/>
              <a:t>with</a:t>
            </a:r>
            <a:r>
              <a:rPr spc="-40" dirty="0"/>
              <a:t> </a:t>
            </a:r>
            <a:r>
              <a:rPr dirty="0"/>
              <a:t>STFT</a:t>
            </a:r>
            <a:r>
              <a:rPr spc="-45" dirty="0"/>
              <a:t> </a:t>
            </a:r>
            <a:r>
              <a:rPr dirty="0"/>
              <a:t>and</a:t>
            </a:r>
            <a:r>
              <a:rPr spc="5" dirty="0"/>
              <a:t> </a:t>
            </a:r>
            <a:r>
              <a:rPr spc="-25" dirty="0"/>
              <a:t>CWT</a:t>
            </a:r>
          </a:p>
        </p:txBody>
      </p:sp>
      <p:sp>
        <p:nvSpPr>
          <p:cNvPr id="4" name="object 4"/>
          <p:cNvSpPr/>
          <p:nvPr/>
        </p:nvSpPr>
        <p:spPr>
          <a:xfrm>
            <a:off x="548640" y="1371600"/>
            <a:ext cx="11094720" cy="0"/>
          </a:xfrm>
          <a:custGeom>
            <a:avLst/>
            <a:gdLst/>
            <a:ahLst/>
            <a:cxnLst/>
            <a:rect l="l" t="t" r="r" b="b"/>
            <a:pathLst>
              <a:path w="11094720">
                <a:moveTo>
                  <a:pt x="0" y="0"/>
                </a:moveTo>
                <a:lnTo>
                  <a:pt x="11094719" y="0"/>
                </a:lnTo>
              </a:path>
            </a:pathLst>
          </a:custGeom>
          <a:ln w="12192">
            <a:solidFill>
              <a:srgbClr val="C4CCE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35940" y="1791080"/>
            <a:ext cx="10166350" cy="2451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50" b="1" dirty="0">
                <a:solidFill>
                  <a:srgbClr val="1E2760"/>
                </a:solidFill>
                <a:latin typeface="Calibri"/>
                <a:cs typeface="Calibri"/>
              </a:rPr>
              <a:t>The</a:t>
            </a:r>
            <a:r>
              <a:rPr sz="1450" b="1" spc="-45" dirty="0">
                <a:solidFill>
                  <a:srgbClr val="1E2760"/>
                </a:solidFill>
                <a:latin typeface="Calibri"/>
                <a:cs typeface="Calibri"/>
              </a:rPr>
              <a:t> </a:t>
            </a:r>
            <a:r>
              <a:rPr sz="1450" b="1" dirty="0">
                <a:solidFill>
                  <a:srgbClr val="1E2760"/>
                </a:solidFill>
                <a:latin typeface="Calibri"/>
                <a:cs typeface="Calibri"/>
              </a:rPr>
              <a:t>problem:</a:t>
            </a:r>
            <a:r>
              <a:rPr sz="1450" b="1" spc="245" dirty="0">
                <a:solidFill>
                  <a:srgbClr val="1E2760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212846"/>
                </a:solidFill>
                <a:latin typeface="Calibri"/>
                <a:cs typeface="Calibri"/>
              </a:rPr>
              <a:t>in</a:t>
            </a:r>
            <a:r>
              <a:rPr sz="1450" spc="-5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212846"/>
                </a:solidFill>
                <a:latin typeface="Calibri"/>
                <a:cs typeface="Calibri"/>
              </a:rPr>
              <a:t>raw</a:t>
            </a:r>
            <a:r>
              <a:rPr sz="1450" spc="-5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212846"/>
                </a:solidFill>
                <a:latin typeface="Calibri"/>
                <a:cs typeface="Calibri"/>
              </a:rPr>
              <a:t>1D</a:t>
            </a:r>
            <a:r>
              <a:rPr sz="1450" spc="-4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450" spc="-20" dirty="0">
                <a:solidFill>
                  <a:srgbClr val="212846"/>
                </a:solidFill>
                <a:latin typeface="Calibri"/>
                <a:cs typeface="Calibri"/>
              </a:rPr>
              <a:t>time-</a:t>
            </a:r>
            <a:r>
              <a:rPr sz="1450" dirty="0">
                <a:solidFill>
                  <a:srgbClr val="212846"/>
                </a:solidFill>
                <a:latin typeface="Calibri"/>
                <a:cs typeface="Calibri"/>
              </a:rPr>
              <a:t>domain</a:t>
            </a:r>
            <a:r>
              <a:rPr sz="1450" spc="1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212846"/>
                </a:solidFill>
                <a:latin typeface="Calibri"/>
                <a:cs typeface="Calibri"/>
              </a:rPr>
              <a:t>signals,</a:t>
            </a:r>
            <a:r>
              <a:rPr sz="1450" spc="-1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450" spc="-10" dirty="0">
                <a:solidFill>
                  <a:srgbClr val="212846"/>
                </a:solidFill>
                <a:latin typeface="Calibri"/>
                <a:cs typeface="Calibri"/>
              </a:rPr>
              <a:t>transient</a:t>
            </a:r>
            <a:r>
              <a:rPr sz="1450" spc="-2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450" spc="-10" dirty="0">
                <a:solidFill>
                  <a:srgbClr val="212846"/>
                </a:solidFill>
                <a:latin typeface="Calibri"/>
                <a:cs typeface="Calibri"/>
              </a:rPr>
              <a:t>micro-</a:t>
            </a:r>
            <a:r>
              <a:rPr sz="1450" dirty="0">
                <a:solidFill>
                  <a:srgbClr val="212846"/>
                </a:solidFill>
                <a:latin typeface="Calibri"/>
                <a:cs typeface="Calibri"/>
              </a:rPr>
              <a:t>spalls</a:t>
            </a:r>
            <a:r>
              <a:rPr sz="1450" spc="-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212846"/>
                </a:solidFill>
                <a:latin typeface="Calibri"/>
                <a:cs typeface="Calibri"/>
              </a:rPr>
              <a:t>are</a:t>
            </a:r>
            <a:r>
              <a:rPr sz="1450" spc="-5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212846"/>
                </a:solidFill>
                <a:latin typeface="Calibri"/>
                <a:cs typeface="Calibri"/>
              </a:rPr>
              <a:t>easily </a:t>
            </a:r>
            <a:r>
              <a:rPr sz="1450" spc="-10" dirty="0">
                <a:solidFill>
                  <a:srgbClr val="212846"/>
                </a:solidFill>
                <a:latin typeface="Calibri"/>
                <a:cs typeface="Calibri"/>
              </a:rPr>
              <a:t>masked </a:t>
            </a:r>
            <a:r>
              <a:rPr sz="1450" dirty="0">
                <a:solidFill>
                  <a:srgbClr val="212846"/>
                </a:solidFill>
                <a:latin typeface="Calibri"/>
                <a:cs typeface="Calibri"/>
              </a:rPr>
              <a:t>by</a:t>
            </a:r>
            <a:r>
              <a:rPr sz="1450" spc="-5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212846"/>
                </a:solidFill>
                <a:latin typeface="Calibri"/>
                <a:cs typeface="Calibri"/>
              </a:rPr>
              <a:t>large</a:t>
            </a:r>
            <a:r>
              <a:rPr sz="1450" spc="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450" spc="-10" dirty="0">
                <a:solidFill>
                  <a:srgbClr val="212846"/>
                </a:solidFill>
                <a:latin typeface="Calibri"/>
                <a:cs typeface="Calibri"/>
              </a:rPr>
              <a:t>amounts</a:t>
            </a:r>
            <a:r>
              <a:rPr sz="1450" spc="-5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212846"/>
                </a:solidFill>
                <a:latin typeface="Calibri"/>
                <a:cs typeface="Calibri"/>
              </a:rPr>
              <a:t>of</a:t>
            </a:r>
            <a:r>
              <a:rPr sz="1450" spc="-5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212846"/>
                </a:solidFill>
                <a:latin typeface="Calibri"/>
                <a:cs typeface="Calibri"/>
              </a:rPr>
              <a:t>sinusoidal</a:t>
            </a:r>
            <a:r>
              <a:rPr sz="1450" spc="-3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450" spc="-10" dirty="0">
                <a:solidFill>
                  <a:srgbClr val="212846"/>
                </a:solidFill>
                <a:latin typeface="Calibri"/>
                <a:cs typeface="Calibri"/>
              </a:rPr>
              <a:t>background</a:t>
            </a:r>
            <a:r>
              <a:rPr sz="1450" spc="-3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450" spc="-10" dirty="0">
                <a:solidFill>
                  <a:srgbClr val="212846"/>
                </a:solidFill>
                <a:latin typeface="Calibri"/>
                <a:cs typeface="Calibri"/>
              </a:rPr>
              <a:t>noise.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5940" y="6614566"/>
            <a:ext cx="1261110" cy="1473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10"/>
              </a:lnSpc>
            </a:pPr>
            <a:r>
              <a:rPr sz="950" dirty="0">
                <a:solidFill>
                  <a:srgbClr val="525A78"/>
                </a:solidFill>
                <a:latin typeface="Calibri"/>
                <a:cs typeface="Calibri"/>
              </a:rPr>
              <a:t>Part</a:t>
            </a:r>
            <a:r>
              <a:rPr sz="950" spc="-45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525A78"/>
                </a:solidFill>
                <a:latin typeface="Calibri"/>
                <a:cs typeface="Calibri"/>
              </a:rPr>
              <a:t>1</a:t>
            </a:r>
            <a:r>
              <a:rPr sz="950" spc="25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525A78"/>
                </a:solidFill>
                <a:latin typeface="Calibri"/>
                <a:cs typeface="Calibri"/>
              </a:rPr>
              <a:t>—</a:t>
            </a:r>
            <a:r>
              <a:rPr sz="950" spc="-15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525A78"/>
                </a:solidFill>
                <a:latin typeface="Calibri"/>
                <a:cs typeface="Calibri"/>
              </a:rPr>
              <a:t>Paper</a:t>
            </a:r>
            <a:r>
              <a:rPr sz="950" spc="-15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525A78"/>
                </a:solidFill>
                <a:latin typeface="Calibri"/>
                <a:cs typeface="Calibri"/>
              </a:rPr>
              <a:t>Summary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8425">
              <a:lnSpc>
                <a:spcPts val="1010"/>
              </a:lnSpc>
            </a:pPr>
            <a:r>
              <a:rPr spc="-50" dirty="0"/>
              <a:t>2</a:t>
            </a:r>
          </a:p>
        </p:txBody>
      </p:sp>
      <p:graphicFrame>
        <p:nvGraphicFramePr>
          <p:cNvPr id="6" name="objec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8909069"/>
              </p:ext>
            </p:extLst>
          </p:nvPr>
        </p:nvGraphicFramePr>
        <p:xfrm>
          <a:off x="545591" y="2420111"/>
          <a:ext cx="11095355" cy="30162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10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278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568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65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C4CCE6"/>
                      </a:solidFill>
                      <a:prstDash val="solid"/>
                    </a:lnL>
                    <a:lnT w="9525" cap="flat" cmpd="sng" algn="ctr">
                      <a:solidFill>
                        <a:srgbClr val="C4C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4CCE6"/>
                      </a:solidFill>
                      <a:prstDash val="soli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25450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14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STFT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109855" marB="0">
                    <a:lnT w="9525" cap="flat" cmpd="sng" algn="ctr">
                      <a:solidFill>
                        <a:srgbClr val="C4C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4CCE6"/>
                      </a:solidFill>
                      <a:prstDash val="soli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768985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14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CWT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109855" marB="0">
                    <a:lnR w="9525">
                      <a:solidFill>
                        <a:srgbClr val="C4CCE6"/>
                      </a:solidFill>
                      <a:prstDash val="solid"/>
                    </a:lnR>
                    <a:lnT w="9525" cap="flat" cmpd="sng" algn="ctr">
                      <a:solidFill>
                        <a:srgbClr val="C4C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4CCE6"/>
                      </a:solidFill>
                      <a:prstDash val="soli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181610">
                        <a:lnSpc>
                          <a:spcPct val="100000"/>
                        </a:lnSpc>
                        <a:spcBef>
                          <a:spcPts val="1150"/>
                        </a:spcBef>
                      </a:pPr>
                      <a:r>
                        <a:rPr sz="1250" b="1" dirty="0">
                          <a:solidFill>
                            <a:srgbClr val="1E2760"/>
                          </a:solidFill>
                          <a:latin typeface="Calibri"/>
                          <a:cs typeface="Calibri"/>
                        </a:rPr>
                        <a:t>Full</a:t>
                      </a:r>
                      <a:r>
                        <a:rPr sz="1250" b="1" spc="-20" dirty="0">
                          <a:solidFill>
                            <a:srgbClr val="1E2760"/>
                          </a:solidFill>
                          <a:latin typeface="Calibri"/>
                          <a:cs typeface="Calibri"/>
                        </a:rPr>
                        <a:t> name</a:t>
                      </a:r>
                      <a:endParaRPr sz="1250" dirty="0">
                        <a:latin typeface="Calibri"/>
                        <a:cs typeface="Calibri"/>
                      </a:endParaRPr>
                    </a:p>
                  </a:txBody>
                  <a:tcPr marL="0" marR="0" marT="146050" marB="0">
                    <a:lnL w="9525">
                      <a:solidFill>
                        <a:srgbClr val="C4CCE6"/>
                      </a:solidFill>
                      <a:prstDash val="solid"/>
                    </a:lnL>
                    <a:lnT w="9525" cap="flat" cmpd="sng" algn="ctr">
                      <a:solidFill>
                        <a:srgbClr val="C4C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4CC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25450">
                        <a:lnSpc>
                          <a:spcPct val="100000"/>
                        </a:lnSpc>
                        <a:spcBef>
                          <a:spcPts val="1150"/>
                        </a:spcBef>
                      </a:pPr>
                      <a:r>
                        <a:rPr sz="1250" spc="-20" dirty="0">
                          <a:solidFill>
                            <a:srgbClr val="212846"/>
                          </a:solidFill>
                          <a:latin typeface="Calibri"/>
                          <a:cs typeface="Calibri"/>
                        </a:rPr>
                        <a:t>Short-</a:t>
                      </a:r>
                      <a:r>
                        <a:rPr sz="1250" dirty="0">
                          <a:solidFill>
                            <a:srgbClr val="212846"/>
                          </a:solidFill>
                          <a:latin typeface="Calibri"/>
                          <a:cs typeface="Calibri"/>
                        </a:rPr>
                        <a:t>Time</a:t>
                      </a:r>
                      <a:r>
                        <a:rPr sz="1250" spc="15" dirty="0">
                          <a:solidFill>
                            <a:srgbClr val="212846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solidFill>
                            <a:srgbClr val="212846"/>
                          </a:solidFill>
                          <a:latin typeface="Calibri"/>
                          <a:cs typeface="Calibri"/>
                        </a:rPr>
                        <a:t>Fourier</a:t>
                      </a:r>
                      <a:r>
                        <a:rPr sz="1250" spc="10" dirty="0">
                          <a:solidFill>
                            <a:srgbClr val="212846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-10" dirty="0">
                          <a:solidFill>
                            <a:srgbClr val="212846"/>
                          </a:solidFill>
                          <a:latin typeface="Calibri"/>
                          <a:cs typeface="Calibri"/>
                        </a:rPr>
                        <a:t>Transform</a:t>
                      </a:r>
                      <a:endParaRPr sz="1250" dirty="0">
                        <a:latin typeface="Calibri"/>
                        <a:cs typeface="Calibri"/>
                      </a:endParaRPr>
                    </a:p>
                  </a:txBody>
                  <a:tcPr marL="0" marR="0" marT="146050" marB="0">
                    <a:lnT w="9525" cap="flat" cmpd="sng" algn="ctr">
                      <a:solidFill>
                        <a:srgbClr val="C4C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4CC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8985">
                        <a:lnSpc>
                          <a:spcPct val="100000"/>
                        </a:lnSpc>
                        <a:spcBef>
                          <a:spcPts val="1150"/>
                        </a:spcBef>
                      </a:pPr>
                      <a:r>
                        <a:rPr sz="1250" spc="-10" dirty="0">
                          <a:solidFill>
                            <a:srgbClr val="212846"/>
                          </a:solidFill>
                          <a:latin typeface="Calibri"/>
                          <a:cs typeface="Calibri"/>
                        </a:rPr>
                        <a:t>Continuous</a:t>
                      </a:r>
                      <a:r>
                        <a:rPr sz="1250" dirty="0">
                          <a:solidFill>
                            <a:srgbClr val="212846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-10" dirty="0">
                          <a:solidFill>
                            <a:srgbClr val="212846"/>
                          </a:solidFill>
                          <a:latin typeface="Calibri"/>
                          <a:cs typeface="Calibri"/>
                        </a:rPr>
                        <a:t>Wavelet</a:t>
                      </a:r>
                      <a:r>
                        <a:rPr sz="1250" spc="-15" dirty="0">
                          <a:solidFill>
                            <a:srgbClr val="212846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-10" dirty="0">
                          <a:solidFill>
                            <a:srgbClr val="212846"/>
                          </a:solidFill>
                          <a:latin typeface="Calibri"/>
                          <a:cs typeface="Calibri"/>
                        </a:rPr>
                        <a:t>Transform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146050" marB="0">
                    <a:lnR w="9525">
                      <a:solidFill>
                        <a:srgbClr val="C4CCE6"/>
                      </a:solidFill>
                      <a:prstDash val="solid"/>
                    </a:lnR>
                    <a:lnT w="9525" cap="flat" cmpd="sng" algn="ctr">
                      <a:solidFill>
                        <a:srgbClr val="C4C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4CCE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endParaRPr sz="1250" dirty="0">
                        <a:latin typeface="Times New Roman"/>
                        <a:cs typeface="Times New Roman"/>
                      </a:endParaRPr>
                    </a:p>
                    <a:p>
                      <a:pPr marL="181610">
                        <a:lnSpc>
                          <a:spcPct val="100000"/>
                        </a:lnSpc>
                      </a:pPr>
                      <a:r>
                        <a:rPr sz="1250" b="1" spc="-10" dirty="0">
                          <a:solidFill>
                            <a:srgbClr val="1E2760"/>
                          </a:solidFill>
                          <a:latin typeface="Calibri"/>
                          <a:cs typeface="Calibri"/>
                        </a:rPr>
                        <a:t>Resolution</a:t>
                      </a:r>
                      <a:endParaRPr sz="1250" dirty="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lnL w="9525">
                      <a:solidFill>
                        <a:srgbClr val="C4CCE6"/>
                      </a:solidFill>
                      <a:prstDash val="solid"/>
                    </a:lnL>
                    <a:lnT w="9525">
                      <a:solidFill>
                        <a:srgbClr val="C4CCE6"/>
                      </a:solidFill>
                      <a:prstDash val="solid"/>
                    </a:lnT>
                    <a:lnB w="9525">
                      <a:solidFill>
                        <a:srgbClr val="C4CCE6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marL="425450">
                        <a:lnSpc>
                          <a:spcPct val="100000"/>
                        </a:lnSpc>
                      </a:pPr>
                      <a:r>
                        <a:rPr sz="1250" dirty="0">
                          <a:solidFill>
                            <a:srgbClr val="212846"/>
                          </a:solidFill>
                          <a:latin typeface="Calibri"/>
                          <a:cs typeface="Calibri"/>
                        </a:rPr>
                        <a:t>Fixed</a:t>
                      </a:r>
                      <a:r>
                        <a:rPr sz="1250" spc="-25" dirty="0">
                          <a:solidFill>
                            <a:srgbClr val="212846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-10" dirty="0">
                          <a:solidFill>
                            <a:srgbClr val="212846"/>
                          </a:solidFill>
                          <a:latin typeface="Calibri"/>
                          <a:cs typeface="Calibri"/>
                        </a:rPr>
                        <a:t>time-frequency</a:t>
                      </a:r>
                      <a:r>
                        <a:rPr sz="1250" spc="20" dirty="0">
                          <a:solidFill>
                            <a:srgbClr val="212846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-10" dirty="0">
                          <a:solidFill>
                            <a:srgbClr val="212846"/>
                          </a:solidFill>
                          <a:latin typeface="Calibri"/>
                          <a:cs typeface="Calibri"/>
                        </a:rPr>
                        <a:t>resolution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lnT w="9525">
                      <a:solidFill>
                        <a:srgbClr val="C4CCE6"/>
                      </a:solidFill>
                      <a:prstDash val="solid"/>
                    </a:lnT>
                    <a:lnB w="9525">
                      <a:solidFill>
                        <a:srgbClr val="C4CCE6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marL="768985">
                        <a:lnSpc>
                          <a:spcPct val="100000"/>
                        </a:lnSpc>
                      </a:pPr>
                      <a:r>
                        <a:rPr sz="1250" spc="-10" dirty="0">
                          <a:solidFill>
                            <a:srgbClr val="212846"/>
                          </a:solidFill>
                          <a:latin typeface="Calibri"/>
                          <a:cs typeface="Calibri"/>
                        </a:rPr>
                        <a:t>Multi-resolution</a:t>
                      </a:r>
                      <a:r>
                        <a:rPr sz="1250" spc="80" dirty="0">
                          <a:solidFill>
                            <a:srgbClr val="212846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solidFill>
                            <a:srgbClr val="212846"/>
                          </a:solidFill>
                          <a:latin typeface="Calibri"/>
                          <a:cs typeface="Calibri"/>
                        </a:rPr>
                        <a:t>—</a:t>
                      </a:r>
                      <a:r>
                        <a:rPr sz="1250" spc="-25" dirty="0">
                          <a:solidFill>
                            <a:srgbClr val="212846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-10" dirty="0">
                          <a:solidFill>
                            <a:srgbClr val="212846"/>
                          </a:solidFill>
                          <a:latin typeface="Calibri"/>
                          <a:cs typeface="Calibri"/>
                        </a:rPr>
                        <a:t>wavelet</a:t>
                      </a:r>
                      <a:r>
                        <a:rPr sz="1250" spc="-15" dirty="0">
                          <a:solidFill>
                            <a:srgbClr val="212846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-10" dirty="0">
                          <a:solidFill>
                            <a:srgbClr val="212846"/>
                          </a:solidFill>
                          <a:latin typeface="Calibri"/>
                          <a:cs typeface="Calibri"/>
                        </a:rPr>
                        <a:t>compresses</a:t>
                      </a:r>
                      <a:r>
                        <a:rPr sz="1250" spc="15" dirty="0">
                          <a:solidFill>
                            <a:srgbClr val="212846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solidFill>
                            <a:srgbClr val="212846"/>
                          </a:solidFill>
                          <a:latin typeface="Calibri"/>
                          <a:cs typeface="Calibri"/>
                        </a:rPr>
                        <a:t>/ </a:t>
                      </a:r>
                      <a:r>
                        <a:rPr sz="1250" spc="-10" dirty="0">
                          <a:solidFill>
                            <a:srgbClr val="212846"/>
                          </a:solidFill>
                          <a:latin typeface="Calibri"/>
                          <a:cs typeface="Calibri"/>
                        </a:rPr>
                        <a:t>stretches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lnR w="9525">
                      <a:solidFill>
                        <a:srgbClr val="C4CCE6"/>
                      </a:solidFill>
                      <a:prstDash val="solid"/>
                    </a:lnR>
                    <a:lnT w="9525">
                      <a:solidFill>
                        <a:srgbClr val="C4CCE6"/>
                      </a:solidFill>
                      <a:prstDash val="solid"/>
                    </a:lnT>
                    <a:lnB w="9525">
                      <a:solidFill>
                        <a:srgbClr val="C4CCE6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1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marL="18161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250" b="1" spc="-10" dirty="0">
                          <a:solidFill>
                            <a:srgbClr val="1E2760"/>
                          </a:solidFill>
                          <a:latin typeface="Calibri"/>
                          <a:cs typeface="Calibri"/>
                        </a:rPr>
                        <a:t>Strength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lnL w="9525">
                      <a:solidFill>
                        <a:srgbClr val="C4CCE6"/>
                      </a:solidFill>
                      <a:prstDash val="solid"/>
                    </a:lnL>
                    <a:lnT w="9525">
                      <a:solidFill>
                        <a:srgbClr val="C4CCE6"/>
                      </a:solidFill>
                      <a:prstDash val="solid"/>
                    </a:lnT>
                    <a:lnB w="9525">
                      <a:solidFill>
                        <a:srgbClr val="C4CC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marL="42545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250" dirty="0">
                          <a:solidFill>
                            <a:srgbClr val="212846"/>
                          </a:solidFill>
                          <a:latin typeface="Calibri"/>
                          <a:cs typeface="Calibri"/>
                        </a:rPr>
                        <a:t>Captures</a:t>
                      </a:r>
                      <a:r>
                        <a:rPr sz="1250" spc="-45" dirty="0">
                          <a:solidFill>
                            <a:srgbClr val="212846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solidFill>
                            <a:srgbClr val="212846"/>
                          </a:solidFill>
                          <a:latin typeface="Calibri"/>
                          <a:cs typeface="Calibri"/>
                        </a:rPr>
                        <a:t>stable</a:t>
                      </a:r>
                      <a:r>
                        <a:rPr sz="1250" spc="-35" dirty="0">
                          <a:solidFill>
                            <a:srgbClr val="212846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solidFill>
                            <a:srgbClr val="212846"/>
                          </a:solidFill>
                          <a:latin typeface="Calibri"/>
                          <a:cs typeface="Calibri"/>
                        </a:rPr>
                        <a:t>harmonic</a:t>
                      </a:r>
                      <a:r>
                        <a:rPr sz="1250" spc="-55" dirty="0">
                          <a:solidFill>
                            <a:srgbClr val="212846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-10" dirty="0">
                          <a:solidFill>
                            <a:srgbClr val="212846"/>
                          </a:solidFill>
                          <a:latin typeface="Calibri"/>
                          <a:cs typeface="Calibri"/>
                        </a:rPr>
                        <a:t>content</a:t>
                      </a:r>
                      <a:r>
                        <a:rPr sz="1250" spc="-60" dirty="0">
                          <a:solidFill>
                            <a:srgbClr val="212846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-20" dirty="0">
                          <a:solidFill>
                            <a:srgbClr val="212846"/>
                          </a:solidFill>
                          <a:latin typeface="Calibri"/>
                          <a:cs typeface="Calibri"/>
                        </a:rPr>
                        <a:t>well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lnT w="9525">
                      <a:solidFill>
                        <a:srgbClr val="C4CCE6"/>
                      </a:solidFill>
                      <a:prstDash val="solid"/>
                    </a:lnT>
                    <a:lnB w="9525">
                      <a:solidFill>
                        <a:srgbClr val="C4CC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marL="76898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250" spc="-10" dirty="0">
                          <a:solidFill>
                            <a:srgbClr val="212846"/>
                          </a:solidFill>
                          <a:latin typeface="Calibri"/>
                          <a:cs typeface="Calibri"/>
                        </a:rPr>
                        <a:t>Localizes</a:t>
                      </a:r>
                      <a:r>
                        <a:rPr sz="1250" spc="-60" dirty="0">
                          <a:solidFill>
                            <a:srgbClr val="212846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-25" dirty="0">
                          <a:solidFill>
                            <a:srgbClr val="212846"/>
                          </a:solidFill>
                          <a:latin typeface="Calibri"/>
                          <a:cs typeface="Calibri"/>
                        </a:rPr>
                        <a:t>non-</a:t>
                      </a:r>
                      <a:r>
                        <a:rPr sz="1250" spc="-10" dirty="0">
                          <a:solidFill>
                            <a:srgbClr val="212846"/>
                          </a:solidFill>
                          <a:latin typeface="Calibri"/>
                          <a:cs typeface="Calibri"/>
                        </a:rPr>
                        <a:t>stationary,</a:t>
                      </a:r>
                      <a:r>
                        <a:rPr sz="1250" spc="30" dirty="0">
                          <a:solidFill>
                            <a:srgbClr val="212846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solidFill>
                            <a:srgbClr val="212846"/>
                          </a:solidFill>
                          <a:latin typeface="Calibri"/>
                          <a:cs typeface="Calibri"/>
                        </a:rPr>
                        <a:t>transient</a:t>
                      </a:r>
                      <a:r>
                        <a:rPr sz="1250" spc="-20" dirty="0">
                          <a:solidFill>
                            <a:srgbClr val="212846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-10" dirty="0">
                          <a:solidFill>
                            <a:srgbClr val="212846"/>
                          </a:solidFill>
                          <a:latin typeface="Calibri"/>
                          <a:cs typeface="Calibri"/>
                        </a:rPr>
                        <a:t>features</a:t>
                      </a:r>
                      <a:r>
                        <a:rPr sz="1250" spc="-35" dirty="0">
                          <a:solidFill>
                            <a:srgbClr val="212846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-20" dirty="0">
                          <a:solidFill>
                            <a:srgbClr val="212846"/>
                          </a:solidFill>
                          <a:latin typeface="Calibri"/>
                          <a:cs typeface="Calibri"/>
                        </a:rPr>
                        <a:t>well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lnR w="9525">
                      <a:solidFill>
                        <a:srgbClr val="C4CCE6"/>
                      </a:solidFill>
                      <a:prstDash val="solid"/>
                    </a:lnR>
                    <a:lnT w="9525">
                      <a:solidFill>
                        <a:srgbClr val="C4CCE6"/>
                      </a:solidFill>
                      <a:prstDash val="solid"/>
                    </a:lnT>
                    <a:lnB w="9525">
                      <a:solidFill>
                        <a:srgbClr val="C4CCE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marL="181610">
                        <a:lnSpc>
                          <a:spcPct val="100000"/>
                        </a:lnSpc>
                      </a:pPr>
                      <a:r>
                        <a:rPr sz="1250" b="1" spc="-10" dirty="0">
                          <a:solidFill>
                            <a:srgbClr val="1E2760"/>
                          </a:solidFill>
                          <a:latin typeface="Calibri"/>
                          <a:cs typeface="Calibri"/>
                        </a:rPr>
                        <a:t>Weakness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55880" marB="0">
                    <a:lnL w="9525">
                      <a:solidFill>
                        <a:srgbClr val="C4CCE6"/>
                      </a:solidFill>
                      <a:prstDash val="solid"/>
                    </a:lnL>
                    <a:lnT w="9525">
                      <a:solidFill>
                        <a:srgbClr val="C4CCE6"/>
                      </a:solidFill>
                      <a:prstDash val="solid"/>
                    </a:lnT>
                    <a:lnB w="9525">
                      <a:solidFill>
                        <a:srgbClr val="C4CCE6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marL="425450">
                        <a:lnSpc>
                          <a:spcPct val="100000"/>
                        </a:lnSpc>
                      </a:pPr>
                      <a:r>
                        <a:rPr sz="1250" dirty="0">
                          <a:solidFill>
                            <a:srgbClr val="212846"/>
                          </a:solidFill>
                          <a:latin typeface="Calibri"/>
                          <a:cs typeface="Calibri"/>
                        </a:rPr>
                        <a:t>Rigid</a:t>
                      </a:r>
                      <a:r>
                        <a:rPr sz="1250" spc="-45" dirty="0">
                          <a:solidFill>
                            <a:srgbClr val="212846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solidFill>
                            <a:srgbClr val="212846"/>
                          </a:solidFill>
                          <a:latin typeface="Calibri"/>
                          <a:cs typeface="Calibri"/>
                        </a:rPr>
                        <a:t>window</a:t>
                      </a:r>
                      <a:r>
                        <a:rPr sz="1250" spc="-20" dirty="0">
                          <a:solidFill>
                            <a:srgbClr val="212846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-10" dirty="0">
                          <a:solidFill>
                            <a:srgbClr val="212846"/>
                          </a:solidFill>
                          <a:latin typeface="Calibri"/>
                          <a:cs typeface="Calibri"/>
                        </a:rPr>
                        <a:t>struggles</a:t>
                      </a:r>
                      <a:r>
                        <a:rPr sz="1250" dirty="0">
                          <a:solidFill>
                            <a:srgbClr val="212846"/>
                          </a:solidFill>
                          <a:latin typeface="Calibri"/>
                          <a:cs typeface="Calibri"/>
                        </a:rPr>
                        <a:t> with</a:t>
                      </a:r>
                      <a:r>
                        <a:rPr sz="1250" spc="-40" dirty="0">
                          <a:solidFill>
                            <a:srgbClr val="212846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solidFill>
                            <a:srgbClr val="212846"/>
                          </a:solidFill>
                          <a:latin typeface="Calibri"/>
                          <a:cs typeface="Calibri"/>
                        </a:rPr>
                        <a:t>fast</a:t>
                      </a:r>
                      <a:r>
                        <a:rPr sz="1250" spc="-45" dirty="0">
                          <a:solidFill>
                            <a:srgbClr val="212846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solidFill>
                            <a:srgbClr val="212846"/>
                          </a:solidFill>
                          <a:latin typeface="Calibri"/>
                          <a:cs typeface="Calibri"/>
                        </a:rPr>
                        <a:t>transient</a:t>
                      </a:r>
                      <a:r>
                        <a:rPr sz="1250" spc="-25" dirty="0">
                          <a:solidFill>
                            <a:srgbClr val="212846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-10" dirty="0">
                          <a:solidFill>
                            <a:srgbClr val="212846"/>
                          </a:solidFill>
                          <a:latin typeface="Calibri"/>
                          <a:cs typeface="Calibri"/>
                        </a:rPr>
                        <a:t>impacts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55880" marB="0">
                    <a:lnT w="9525">
                      <a:solidFill>
                        <a:srgbClr val="C4CCE6"/>
                      </a:solidFill>
                      <a:prstDash val="solid"/>
                    </a:lnT>
                    <a:lnB w="9525">
                      <a:solidFill>
                        <a:srgbClr val="C4CCE6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endParaRPr sz="1250" dirty="0">
                        <a:latin typeface="Times New Roman"/>
                        <a:cs typeface="Times New Roman"/>
                      </a:endParaRPr>
                    </a:p>
                    <a:p>
                      <a:pPr marL="768985">
                        <a:lnSpc>
                          <a:spcPct val="100000"/>
                        </a:lnSpc>
                      </a:pPr>
                      <a:r>
                        <a:rPr sz="1250" dirty="0">
                          <a:solidFill>
                            <a:srgbClr val="212846"/>
                          </a:solidFill>
                          <a:latin typeface="Calibri"/>
                          <a:cs typeface="Calibri"/>
                        </a:rPr>
                        <a:t>Higher</a:t>
                      </a:r>
                      <a:r>
                        <a:rPr sz="1250" spc="-5" dirty="0">
                          <a:solidFill>
                            <a:srgbClr val="212846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-10" dirty="0">
                          <a:solidFill>
                            <a:srgbClr val="212846"/>
                          </a:solidFill>
                          <a:latin typeface="Calibri"/>
                          <a:cs typeface="Calibri"/>
                        </a:rPr>
                        <a:t>computational</a:t>
                      </a:r>
                      <a:r>
                        <a:rPr sz="1250" spc="-5" dirty="0">
                          <a:solidFill>
                            <a:srgbClr val="212846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solidFill>
                            <a:srgbClr val="212846"/>
                          </a:solidFill>
                          <a:latin typeface="Calibri"/>
                          <a:cs typeface="Calibri"/>
                        </a:rPr>
                        <a:t>cost</a:t>
                      </a:r>
                      <a:r>
                        <a:rPr sz="1250" spc="-30" dirty="0">
                          <a:solidFill>
                            <a:srgbClr val="212846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solidFill>
                            <a:srgbClr val="212846"/>
                          </a:solidFill>
                          <a:latin typeface="Calibri"/>
                          <a:cs typeface="Calibri"/>
                        </a:rPr>
                        <a:t>per</a:t>
                      </a:r>
                      <a:r>
                        <a:rPr sz="1250" spc="-30" dirty="0">
                          <a:solidFill>
                            <a:srgbClr val="212846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-10" dirty="0">
                          <a:solidFill>
                            <a:srgbClr val="212846"/>
                          </a:solidFill>
                          <a:latin typeface="Calibri"/>
                          <a:cs typeface="Calibri"/>
                        </a:rPr>
                        <a:t>transform</a:t>
                      </a:r>
                      <a:endParaRPr sz="1250" dirty="0">
                        <a:latin typeface="Calibri"/>
                        <a:cs typeface="Calibri"/>
                      </a:endParaRPr>
                    </a:p>
                  </a:txBody>
                  <a:tcPr marL="0" marR="0" marT="55880" marB="0">
                    <a:lnR w="9525">
                      <a:solidFill>
                        <a:srgbClr val="C4CCE6"/>
                      </a:solidFill>
                      <a:prstDash val="solid"/>
                    </a:lnR>
                    <a:lnT w="9525">
                      <a:solidFill>
                        <a:srgbClr val="C4CCE6"/>
                      </a:solidFill>
                      <a:prstDash val="solid"/>
                    </a:lnT>
                    <a:lnB w="9525">
                      <a:solidFill>
                        <a:srgbClr val="C4CCE6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411556"/>
            <a:ext cx="1188720" cy="2019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50" b="1" spc="85" dirty="0">
                <a:solidFill>
                  <a:srgbClr val="525A78"/>
                </a:solidFill>
                <a:latin typeface="Calibri"/>
                <a:cs typeface="Calibri"/>
              </a:rPr>
              <a:t>MET</a:t>
            </a:r>
            <a:r>
              <a:rPr sz="1150" b="1" spc="-100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1150" b="1" spc="110" dirty="0">
                <a:solidFill>
                  <a:srgbClr val="525A78"/>
                </a:solidFill>
                <a:latin typeface="Calibri"/>
                <a:cs typeface="Calibri"/>
              </a:rPr>
              <a:t>HODOLOG</a:t>
            </a:r>
            <a:r>
              <a:rPr sz="1150" b="1" spc="-95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1150" b="1" spc="-50" dirty="0">
                <a:solidFill>
                  <a:srgbClr val="525A78"/>
                </a:solidFill>
                <a:latin typeface="Calibri"/>
                <a:cs typeface="Calibri"/>
              </a:rPr>
              <a:t>Y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The</a:t>
            </a:r>
            <a:r>
              <a:rPr spc="-40" dirty="0"/>
              <a:t> </a:t>
            </a:r>
            <a:r>
              <a:rPr dirty="0"/>
              <a:t>DiSCNet</a:t>
            </a:r>
            <a:r>
              <a:rPr spc="-65" dirty="0"/>
              <a:t> </a:t>
            </a:r>
            <a:r>
              <a:rPr dirty="0"/>
              <a:t>Approach</a:t>
            </a:r>
            <a:r>
              <a:rPr spc="-10" dirty="0"/>
              <a:t> </a:t>
            </a:r>
            <a:r>
              <a:rPr dirty="0"/>
              <a:t>&amp;</a:t>
            </a:r>
            <a:r>
              <a:rPr spc="-30" dirty="0"/>
              <a:t> </a:t>
            </a:r>
            <a:r>
              <a:rPr spc="-10" dirty="0"/>
              <a:t>Novelty</a:t>
            </a:r>
          </a:p>
        </p:txBody>
      </p:sp>
      <p:sp>
        <p:nvSpPr>
          <p:cNvPr id="4" name="object 4"/>
          <p:cNvSpPr/>
          <p:nvPr/>
        </p:nvSpPr>
        <p:spPr>
          <a:xfrm>
            <a:off x="548640" y="1371600"/>
            <a:ext cx="11094720" cy="0"/>
          </a:xfrm>
          <a:custGeom>
            <a:avLst/>
            <a:gdLst/>
            <a:ahLst/>
            <a:cxnLst/>
            <a:rect l="l" t="t" r="r" b="b"/>
            <a:pathLst>
              <a:path w="11094720">
                <a:moveTo>
                  <a:pt x="0" y="0"/>
                </a:moveTo>
                <a:lnTo>
                  <a:pt x="11094719" y="0"/>
                </a:lnTo>
              </a:path>
            </a:pathLst>
          </a:custGeom>
          <a:ln w="12192">
            <a:solidFill>
              <a:srgbClr val="C4CCE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48640" y="1691639"/>
            <a:ext cx="55244" cy="1005840"/>
          </a:xfrm>
          <a:custGeom>
            <a:avLst/>
            <a:gdLst/>
            <a:ahLst/>
            <a:cxnLst/>
            <a:rect l="l" t="t" r="r" b="b"/>
            <a:pathLst>
              <a:path w="55245" h="1005839">
                <a:moveTo>
                  <a:pt x="54864" y="0"/>
                </a:moveTo>
                <a:lnTo>
                  <a:pt x="0" y="0"/>
                </a:lnTo>
                <a:lnTo>
                  <a:pt x="0" y="1005839"/>
                </a:lnTo>
                <a:lnTo>
                  <a:pt x="54864" y="1005839"/>
                </a:lnTo>
                <a:lnTo>
                  <a:pt x="54864" y="0"/>
                </a:lnTo>
                <a:close/>
              </a:path>
            </a:pathLst>
          </a:custGeom>
          <a:solidFill>
            <a:srgbClr val="C9DCF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810564" y="1661236"/>
            <a:ext cx="415925" cy="4210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b="1" spc="-25" dirty="0">
                <a:solidFill>
                  <a:srgbClr val="C9DCFB"/>
                </a:solidFill>
                <a:latin typeface="Cambria"/>
                <a:cs typeface="Cambria"/>
              </a:rPr>
              <a:t>01</a:t>
            </a:r>
            <a:endParaRPr sz="26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79194" y="1552832"/>
            <a:ext cx="8404860" cy="685800"/>
          </a:xfrm>
          <a:prstGeom prst="rect">
            <a:avLst/>
          </a:prstGeom>
        </p:spPr>
        <p:txBody>
          <a:bodyPr vert="horz" wrap="square" lIns="0" tIns="127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5"/>
              </a:spcBef>
            </a:pPr>
            <a:r>
              <a:rPr sz="1700" b="1" spc="-10" dirty="0">
                <a:solidFill>
                  <a:srgbClr val="1E2760"/>
                </a:solidFill>
                <a:latin typeface="Cambria"/>
                <a:cs typeface="Cambria"/>
              </a:rPr>
              <a:t>Transfer</a:t>
            </a:r>
            <a:r>
              <a:rPr sz="1700" b="1" spc="-65" dirty="0">
                <a:solidFill>
                  <a:srgbClr val="1E2760"/>
                </a:solidFill>
                <a:latin typeface="Cambria"/>
                <a:cs typeface="Cambria"/>
              </a:rPr>
              <a:t> </a:t>
            </a:r>
            <a:r>
              <a:rPr sz="1700" b="1" spc="-10" dirty="0">
                <a:solidFill>
                  <a:srgbClr val="1E2760"/>
                </a:solidFill>
                <a:latin typeface="Cambria"/>
                <a:cs typeface="Cambria"/>
              </a:rPr>
              <a:t>Learning</a:t>
            </a:r>
            <a:endParaRPr sz="17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1300" spc="-10" dirty="0">
                <a:solidFill>
                  <a:srgbClr val="212846"/>
                </a:solidFill>
                <a:latin typeface="Calibri"/>
                <a:cs typeface="Calibri"/>
              </a:rPr>
              <a:t>Pre-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trained</a:t>
            </a:r>
            <a:r>
              <a:rPr sz="1300" spc="-2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12846"/>
                </a:solidFill>
                <a:latin typeface="Calibri"/>
                <a:cs typeface="Calibri"/>
              </a:rPr>
              <a:t>ResNet-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50</a:t>
            </a:r>
            <a:r>
              <a:rPr sz="1300" spc="-1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models</a:t>
            </a:r>
            <a:r>
              <a:rPr sz="1300" spc="1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(originally</a:t>
            </a:r>
            <a:r>
              <a:rPr sz="1300" spc="4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12846"/>
                </a:solidFill>
                <a:latin typeface="Calibri"/>
                <a:cs typeface="Calibri"/>
              </a:rPr>
              <a:t>optimized</a:t>
            </a:r>
            <a:r>
              <a:rPr sz="1300" spc="2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on</a:t>
            </a:r>
            <a:r>
              <a:rPr sz="1300" spc="-1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ImageNet)</a:t>
            </a:r>
            <a:r>
              <a:rPr sz="1300" spc="-4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act</a:t>
            </a:r>
            <a:r>
              <a:rPr sz="1300" spc="-3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as</a:t>
            </a:r>
            <a:r>
              <a:rPr sz="1300" spc="-3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12846"/>
                </a:solidFill>
                <a:latin typeface="Calibri"/>
                <a:cs typeface="Calibri"/>
              </a:rPr>
              <a:t>feature extractors</a:t>
            </a:r>
            <a:r>
              <a:rPr sz="1300" spc="1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for</a:t>
            </a:r>
            <a:r>
              <a:rPr sz="1300" spc="-3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the</a:t>
            </a:r>
            <a:r>
              <a:rPr sz="1300" spc="-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mechanical</a:t>
            </a:r>
            <a:r>
              <a:rPr sz="1300" spc="-2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12846"/>
                </a:solidFill>
                <a:latin typeface="Calibri"/>
                <a:cs typeface="Calibri"/>
              </a:rPr>
              <a:t>vibration</a:t>
            </a:r>
            <a:r>
              <a:rPr sz="1300" spc="4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12846"/>
                </a:solidFill>
                <a:latin typeface="Calibri"/>
                <a:cs typeface="Calibri"/>
              </a:rPr>
              <a:t>data.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48640" y="2862072"/>
            <a:ext cx="55244" cy="1005840"/>
          </a:xfrm>
          <a:custGeom>
            <a:avLst/>
            <a:gdLst/>
            <a:ahLst/>
            <a:cxnLst/>
            <a:rect l="l" t="t" r="r" b="b"/>
            <a:pathLst>
              <a:path w="55245" h="1005839">
                <a:moveTo>
                  <a:pt x="54864" y="0"/>
                </a:moveTo>
                <a:lnTo>
                  <a:pt x="0" y="0"/>
                </a:lnTo>
                <a:lnTo>
                  <a:pt x="0" y="1005839"/>
                </a:lnTo>
                <a:lnTo>
                  <a:pt x="54864" y="1005839"/>
                </a:lnTo>
                <a:lnTo>
                  <a:pt x="54864" y="0"/>
                </a:lnTo>
                <a:close/>
              </a:path>
            </a:pathLst>
          </a:custGeom>
          <a:solidFill>
            <a:srgbClr val="C9DCF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810564" y="2832607"/>
            <a:ext cx="415925" cy="4210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600" b="1" spc="-25" dirty="0">
                <a:solidFill>
                  <a:srgbClr val="C9DCFB"/>
                </a:solidFill>
                <a:latin typeface="Cambria"/>
                <a:cs typeface="Cambria"/>
              </a:rPr>
              <a:t>02</a:t>
            </a:r>
            <a:endParaRPr sz="260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79194" y="2723286"/>
            <a:ext cx="9714865" cy="915035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sz="1700" b="1" spc="-20" dirty="0">
                <a:solidFill>
                  <a:srgbClr val="1E2760"/>
                </a:solidFill>
                <a:latin typeface="Cambria"/>
                <a:cs typeface="Cambria"/>
              </a:rPr>
              <a:t>Weighted</a:t>
            </a:r>
            <a:r>
              <a:rPr sz="1700" b="1" spc="-15" dirty="0">
                <a:solidFill>
                  <a:srgbClr val="1E2760"/>
                </a:solidFill>
                <a:latin typeface="Cambria"/>
                <a:cs typeface="Cambria"/>
              </a:rPr>
              <a:t> </a:t>
            </a:r>
            <a:r>
              <a:rPr sz="1700" b="1" spc="-10" dirty="0">
                <a:solidFill>
                  <a:srgbClr val="1E2760"/>
                </a:solidFill>
                <a:latin typeface="Cambria"/>
                <a:cs typeface="Cambria"/>
              </a:rPr>
              <a:t>Fusion</a:t>
            </a:r>
            <a:endParaRPr sz="17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STFT</a:t>
            </a:r>
            <a:r>
              <a:rPr sz="1300" spc="-5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and</a:t>
            </a:r>
            <a:r>
              <a:rPr sz="1300" spc="-3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CWT</a:t>
            </a:r>
            <a:r>
              <a:rPr sz="1300" spc="-5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12846"/>
                </a:solidFill>
                <a:latin typeface="Calibri"/>
                <a:cs typeface="Calibri"/>
              </a:rPr>
              <a:t>features 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are</a:t>
            </a:r>
            <a:r>
              <a:rPr sz="1300" spc="-4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merged</a:t>
            </a:r>
            <a:r>
              <a:rPr sz="1300" spc="-4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with</a:t>
            </a:r>
            <a:r>
              <a:rPr sz="1300" spc="-4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a</a:t>
            </a:r>
            <a:r>
              <a:rPr sz="1300" spc="-6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learnable</a:t>
            </a:r>
            <a:r>
              <a:rPr sz="1300" spc="-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weighted</a:t>
            </a:r>
            <a:r>
              <a:rPr sz="1300" spc="-1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fusion</a:t>
            </a:r>
            <a:r>
              <a:rPr sz="1300" spc="1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mechanism, instead</a:t>
            </a:r>
            <a:r>
              <a:rPr sz="1300" spc="1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of</a:t>
            </a:r>
            <a:r>
              <a:rPr sz="1300" spc="-4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simple</a:t>
            </a:r>
            <a:r>
              <a:rPr sz="1300" spc="-2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12846"/>
                </a:solidFill>
                <a:latin typeface="Calibri"/>
                <a:cs typeface="Calibri"/>
              </a:rPr>
              <a:t>concatenation,</a:t>
            </a:r>
            <a:r>
              <a:rPr sz="1300" spc="2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to</a:t>
            </a:r>
            <a:r>
              <a:rPr sz="1300" spc="-3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dynamically</a:t>
            </a:r>
            <a:r>
              <a:rPr sz="1300" spc="3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12846"/>
                </a:solidFill>
                <a:latin typeface="Calibri"/>
                <a:cs typeface="Calibri"/>
              </a:rPr>
              <a:t>prioritize</a:t>
            </a:r>
            <a:r>
              <a:rPr sz="1300" spc="-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12846"/>
                </a:solidFill>
                <a:latin typeface="Calibri"/>
                <a:cs typeface="Calibri"/>
              </a:rPr>
              <a:t>each</a:t>
            </a: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1300" spc="-10" dirty="0">
                <a:solidFill>
                  <a:srgbClr val="212846"/>
                </a:solidFill>
                <a:latin typeface="Calibri"/>
                <a:cs typeface="Calibri"/>
              </a:rPr>
              <a:t>branch.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48640" y="4032503"/>
            <a:ext cx="55244" cy="1005840"/>
          </a:xfrm>
          <a:custGeom>
            <a:avLst/>
            <a:gdLst/>
            <a:ahLst/>
            <a:cxnLst/>
            <a:rect l="l" t="t" r="r" b="b"/>
            <a:pathLst>
              <a:path w="55245" h="1005839">
                <a:moveTo>
                  <a:pt x="54864" y="0"/>
                </a:moveTo>
                <a:lnTo>
                  <a:pt x="0" y="0"/>
                </a:lnTo>
                <a:lnTo>
                  <a:pt x="0" y="1005840"/>
                </a:lnTo>
                <a:lnTo>
                  <a:pt x="54864" y="1005840"/>
                </a:lnTo>
                <a:lnTo>
                  <a:pt x="54864" y="0"/>
                </a:lnTo>
                <a:close/>
              </a:path>
            </a:pathLst>
          </a:custGeom>
          <a:solidFill>
            <a:srgbClr val="C9DCF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810564" y="4003675"/>
            <a:ext cx="415925" cy="4210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600" b="1" spc="-25" dirty="0">
                <a:solidFill>
                  <a:srgbClr val="C9DCFB"/>
                </a:solidFill>
                <a:latin typeface="Cambria"/>
                <a:cs typeface="Cambria"/>
              </a:rPr>
              <a:t>03</a:t>
            </a:r>
            <a:endParaRPr sz="2600">
              <a:latin typeface="Cambria"/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679194" y="3893083"/>
            <a:ext cx="8688070" cy="687070"/>
          </a:xfrm>
          <a:prstGeom prst="rect">
            <a:avLst/>
          </a:prstGeom>
        </p:spPr>
        <p:txBody>
          <a:bodyPr vert="horz" wrap="square" lIns="0" tIns="129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20"/>
              </a:spcBef>
            </a:pPr>
            <a:r>
              <a:rPr sz="1700" b="1" spc="-10" dirty="0">
                <a:solidFill>
                  <a:srgbClr val="1E2760"/>
                </a:solidFill>
                <a:latin typeface="Cambria"/>
                <a:cs typeface="Cambria"/>
              </a:rPr>
              <a:t>End-</a:t>
            </a:r>
            <a:r>
              <a:rPr sz="1700" b="1" spc="-25" dirty="0">
                <a:solidFill>
                  <a:srgbClr val="1E2760"/>
                </a:solidFill>
                <a:latin typeface="Cambria"/>
                <a:cs typeface="Cambria"/>
              </a:rPr>
              <a:t>to-</a:t>
            </a:r>
            <a:r>
              <a:rPr sz="1700" b="1" dirty="0">
                <a:solidFill>
                  <a:srgbClr val="1E2760"/>
                </a:solidFill>
                <a:latin typeface="Cambria"/>
                <a:cs typeface="Cambria"/>
              </a:rPr>
              <a:t>End</a:t>
            </a:r>
            <a:r>
              <a:rPr sz="1700" b="1" spc="25" dirty="0">
                <a:solidFill>
                  <a:srgbClr val="1E2760"/>
                </a:solidFill>
                <a:latin typeface="Cambria"/>
                <a:cs typeface="Cambria"/>
              </a:rPr>
              <a:t> </a:t>
            </a:r>
            <a:r>
              <a:rPr sz="1700" b="1" spc="-10" dirty="0">
                <a:solidFill>
                  <a:srgbClr val="1E2760"/>
                </a:solidFill>
                <a:latin typeface="Cambria"/>
                <a:cs typeface="Cambria"/>
              </a:rPr>
              <a:t>Optimization</a:t>
            </a:r>
            <a:endParaRPr sz="17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The</a:t>
            </a:r>
            <a:r>
              <a:rPr sz="1300" spc="-3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model</a:t>
            </a:r>
            <a:r>
              <a:rPr sz="1300" spc="-3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trains</a:t>
            </a:r>
            <a:r>
              <a:rPr sz="1300" spc="-3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using</a:t>
            </a:r>
            <a:r>
              <a:rPr sz="1300" spc="-2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the</a:t>
            </a:r>
            <a:r>
              <a:rPr sz="1300" spc="-2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Adam</a:t>
            </a:r>
            <a:r>
              <a:rPr sz="1300" spc="-3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12846"/>
                </a:solidFill>
                <a:latin typeface="Calibri"/>
                <a:cs typeface="Calibri"/>
              </a:rPr>
              <a:t>optimizer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 and</a:t>
            </a:r>
            <a:r>
              <a:rPr sz="1300" spc="-6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12846"/>
                </a:solidFill>
                <a:latin typeface="Calibri"/>
                <a:cs typeface="Calibri"/>
              </a:rPr>
              <a:t>Cross-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Entropy</a:t>
            </a:r>
            <a:r>
              <a:rPr sz="1300" spc="2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loss,</a:t>
            </a:r>
            <a:r>
              <a:rPr sz="1300" spc="-2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12846"/>
                </a:solidFill>
                <a:latin typeface="Calibri"/>
                <a:cs typeface="Calibri"/>
              </a:rPr>
              <a:t>redistributing</a:t>
            </a:r>
            <a:r>
              <a:rPr sz="1300" spc="4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network</a:t>
            </a:r>
            <a:r>
              <a:rPr sz="1300" spc="-3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weights</a:t>
            </a:r>
            <a:r>
              <a:rPr sz="1300" spc="-3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specifically</a:t>
            </a:r>
            <a:r>
              <a:rPr sz="1300" spc="2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for</a:t>
            </a:r>
            <a:r>
              <a:rPr sz="1300" spc="-4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fault</a:t>
            </a:r>
            <a:r>
              <a:rPr sz="1300" spc="-3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12846"/>
                </a:solidFill>
                <a:latin typeface="Calibri"/>
                <a:cs typeface="Calibri"/>
              </a:rPr>
              <a:t>detection.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48640" y="5202935"/>
            <a:ext cx="55244" cy="1005840"/>
          </a:xfrm>
          <a:custGeom>
            <a:avLst/>
            <a:gdLst/>
            <a:ahLst/>
            <a:cxnLst/>
            <a:rect l="l" t="t" r="r" b="b"/>
            <a:pathLst>
              <a:path w="55245" h="1005839">
                <a:moveTo>
                  <a:pt x="54864" y="0"/>
                </a:moveTo>
                <a:lnTo>
                  <a:pt x="0" y="0"/>
                </a:lnTo>
                <a:lnTo>
                  <a:pt x="0" y="1005839"/>
                </a:lnTo>
                <a:lnTo>
                  <a:pt x="54864" y="1005839"/>
                </a:lnTo>
                <a:lnTo>
                  <a:pt x="54864" y="0"/>
                </a:lnTo>
                <a:close/>
              </a:path>
            </a:pathLst>
          </a:custGeom>
          <a:solidFill>
            <a:srgbClr val="C9DCF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810564" y="5174056"/>
            <a:ext cx="415925" cy="4210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b="1" spc="-25" dirty="0">
                <a:solidFill>
                  <a:srgbClr val="C9DCFB"/>
                </a:solidFill>
                <a:latin typeface="Cambria"/>
                <a:cs typeface="Cambria"/>
              </a:rPr>
              <a:t>04</a:t>
            </a:r>
            <a:endParaRPr sz="2600">
              <a:latin typeface="Cambria"/>
              <a:cs typeface="Cambr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35940" y="6614566"/>
            <a:ext cx="1261110" cy="1473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10"/>
              </a:lnSpc>
            </a:pPr>
            <a:r>
              <a:rPr sz="950" dirty="0">
                <a:solidFill>
                  <a:srgbClr val="525A78"/>
                </a:solidFill>
                <a:latin typeface="Calibri"/>
                <a:cs typeface="Calibri"/>
              </a:rPr>
              <a:t>Part</a:t>
            </a:r>
            <a:r>
              <a:rPr sz="950" spc="-45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525A78"/>
                </a:solidFill>
                <a:latin typeface="Calibri"/>
                <a:cs typeface="Calibri"/>
              </a:rPr>
              <a:t>1</a:t>
            </a:r>
            <a:r>
              <a:rPr sz="950" spc="25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525A78"/>
                </a:solidFill>
                <a:latin typeface="Calibri"/>
                <a:cs typeface="Calibri"/>
              </a:rPr>
              <a:t>—</a:t>
            </a:r>
            <a:r>
              <a:rPr sz="950" spc="-15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525A78"/>
                </a:solidFill>
                <a:latin typeface="Calibri"/>
                <a:cs typeface="Calibri"/>
              </a:rPr>
              <a:t>Paper</a:t>
            </a:r>
            <a:r>
              <a:rPr sz="950" spc="-15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525A78"/>
                </a:solidFill>
                <a:latin typeface="Calibri"/>
                <a:cs typeface="Calibri"/>
              </a:rPr>
              <a:t>Summary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8425">
              <a:lnSpc>
                <a:spcPts val="1010"/>
              </a:lnSpc>
            </a:pPr>
            <a:r>
              <a:rPr spc="-50" dirty="0"/>
              <a:t>3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679194" y="5064605"/>
            <a:ext cx="9098280" cy="687070"/>
          </a:xfrm>
          <a:prstGeom prst="rect">
            <a:avLst/>
          </a:prstGeom>
        </p:spPr>
        <p:txBody>
          <a:bodyPr vert="horz" wrap="square" lIns="0" tIns="128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15"/>
              </a:spcBef>
            </a:pPr>
            <a:r>
              <a:rPr sz="1700" b="1" dirty="0">
                <a:solidFill>
                  <a:srgbClr val="1E2760"/>
                </a:solidFill>
                <a:latin typeface="Cambria"/>
                <a:cs typeface="Cambria"/>
              </a:rPr>
              <a:t>The</a:t>
            </a:r>
            <a:r>
              <a:rPr sz="1700" b="1" spc="-10" dirty="0">
                <a:solidFill>
                  <a:srgbClr val="1E2760"/>
                </a:solidFill>
                <a:latin typeface="Cambria"/>
                <a:cs typeface="Cambria"/>
              </a:rPr>
              <a:t> Novelty</a:t>
            </a:r>
            <a:endParaRPr sz="17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DiSCNet</a:t>
            </a:r>
            <a:r>
              <a:rPr sz="1300" spc="-4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is</a:t>
            </a:r>
            <a:r>
              <a:rPr sz="1300" spc="-4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12846"/>
                </a:solidFill>
                <a:latin typeface="Calibri"/>
                <a:cs typeface="Calibri"/>
              </a:rPr>
              <a:t>benchmarked</a:t>
            </a:r>
            <a:r>
              <a:rPr sz="1300" spc="-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12846"/>
                </a:solidFill>
                <a:latin typeface="Calibri"/>
                <a:cs typeface="Calibri"/>
              </a:rPr>
              <a:t>against</a:t>
            </a:r>
            <a:r>
              <a:rPr sz="1300" spc="-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other</a:t>
            </a:r>
            <a:r>
              <a:rPr sz="1300" spc="-10" dirty="0">
                <a:solidFill>
                  <a:srgbClr val="212846"/>
                </a:solidFill>
                <a:latin typeface="Calibri"/>
                <a:cs typeface="Calibri"/>
              </a:rPr>
              <a:t> lightweight</a:t>
            </a:r>
            <a:r>
              <a:rPr sz="1300" spc="4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models</a:t>
            </a:r>
            <a:r>
              <a:rPr sz="1300" spc="1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—</a:t>
            </a:r>
            <a:r>
              <a:rPr sz="1300" spc="-3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balancing</a:t>
            </a:r>
            <a:r>
              <a:rPr sz="1300" spc="1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12846"/>
                </a:solidFill>
                <a:latin typeface="Calibri"/>
                <a:cs typeface="Calibri"/>
              </a:rPr>
              <a:t>diagnostic</a:t>
            </a:r>
            <a:r>
              <a:rPr sz="1300" spc="2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accuracy</a:t>
            </a:r>
            <a:r>
              <a:rPr sz="1300" spc="-3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while</a:t>
            </a:r>
            <a:r>
              <a:rPr sz="1300" spc="-3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reducing</a:t>
            </a:r>
            <a:r>
              <a:rPr sz="1300" spc="1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12846"/>
                </a:solidFill>
                <a:latin typeface="Calibri"/>
                <a:cs typeface="Calibri"/>
              </a:rPr>
              <a:t>parameter</a:t>
            </a:r>
            <a:r>
              <a:rPr sz="1300" spc="-3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count and</a:t>
            </a:r>
            <a:r>
              <a:rPr sz="1300" spc="-2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12846"/>
                </a:solidFill>
                <a:latin typeface="Calibri"/>
                <a:cs typeface="Calibri"/>
              </a:rPr>
              <a:t>FLOPs.</a:t>
            </a:r>
            <a:endParaRPr sz="1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411556"/>
            <a:ext cx="1188720" cy="2019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50" b="1" spc="85" dirty="0">
                <a:solidFill>
                  <a:srgbClr val="525A78"/>
                </a:solidFill>
                <a:latin typeface="Calibri"/>
                <a:cs typeface="Calibri"/>
              </a:rPr>
              <a:t>MET</a:t>
            </a:r>
            <a:r>
              <a:rPr sz="1150" b="1" spc="-100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1150" b="1" spc="110" dirty="0">
                <a:solidFill>
                  <a:srgbClr val="525A78"/>
                </a:solidFill>
                <a:latin typeface="Calibri"/>
                <a:cs typeface="Calibri"/>
              </a:rPr>
              <a:t>HODOLOG</a:t>
            </a:r>
            <a:r>
              <a:rPr sz="1150" b="1" spc="-95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1150" b="1" spc="-50" dirty="0">
                <a:solidFill>
                  <a:srgbClr val="525A78"/>
                </a:solidFill>
                <a:latin typeface="Calibri"/>
                <a:cs typeface="Calibri"/>
              </a:rPr>
              <a:t>Y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Data</a:t>
            </a:r>
            <a:r>
              <a:rPr spc="-45" dirty="0"/>
              <a:t> </a:t>
            </a:r>
            <a:r>
              <a:rPr spc="-25" dirty="0"/>
              <a:t>Pre-</a:t>
            </a:r>
            <a:r>
              <a:rPr dirty="0"/>
              <a:t>processing</a:t>
            </a:r>
            <a:r>
              <a:rPr spc="-50" dirty="0"/>
              <a:t> </a:t>
            </a:r>
            <a:r>
              <a:rPr dirty="0"/>
              <a:t>&amp;</a:t>
            </a:r>
            <a:r>
              <a:rPr spc="-50" dirty="0"/>
              <a:t> </a:t>
            </a:r>
            <a:r>
              <a:rPr dirty="0"/>
              <a:t>Input</a:t>
            </a:r>
            <a:r>
              <a:rPr spc="-30" dirty="0"/>
              <a:t> </a:t>
            </a:r>
            <a:r>
              <a:rPr spc="-10" dirty="0"/>
              <a:t>Representation</a:t>
            </a:r>
          </a:p>
        </p:txBody>
      </p:sp>
      <p:sp>
        <p:nvSpPr>
          <p:cNvPr id="4" name="object 4"/>
          <p:cNvSpPr/>
          <p:nvPr/>
        </p:nvSpPr>
        <p:spPr>
          <a:xfrm>
            <a:off x="548640" y="1371600"/>
            <a:ext cx="11094720" cy="0"/>
          </a:xfrm>
          <a:custGeom>
            <a:avLst/>
            <a:gdLst/>
            <a:ahLst/>
            <a:cxnLst/>
            <a:rect l="l" t="t" r="r" b="b"/>
            <a:pathLst>
              <a:path w="11094720">
                <a:moveTo>
                  <a:pt x="0" y="0"/>
                </a:moveTo>
                <a:lnTo>
                  <a:pt x="11094719" y="0"/>
                </a:lnTo>
              </a:path>
            </a:pathLst>
          </a:custGeom>
          <a:ln w="12192">
            <a:solidFill>
              <a:srgbClr val="C4CCE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542544" y="1959864"/>
            <a:ext cx="3404870" cy="2161540"/>
            <a:chOff x="542544" y="1959864"/>
            <a:chExt cx="3404870" cy="2161540"/>
          </a:xfrm>
        </p:grpSpPr>
        <p:sp>
          <p:nvSpPr>
            <p:cNvPr id="6" name="object 6"/>
            <p:cNvSpPr/>
            <p:nvPr/>
          </p:nvSpPr>
          <p:spPr>
            <a:xfrm>
              <a:off x="548640" y="1965960"/>
              <a:ext cx="3392804" cy="2148840"/>
            </a:xfrm>
            <a:custGeom>
              <a:avLst/>
              <a:gdLst/>
              <a:ahLst/>
              <a:cxnLst/>
              <a:rect l="l" t="t" r="r" b="b"/>
              <a:pathLst>
                <a:path w="3392804" h="2148840">
                  <a:moveTo>
                    <a:pt x="3346704" y="0"/>
                  </a:moveTo>
                  <a:lnTo>
                    <a:pt x="45719" y="0"/>
                  </a:lnTo>
                  <a:lnTo>
                    <a:pt x="27924" y="3589"/>
                  </a:lnTo>
                  <a:lnTo>
                    <a:pt x="13392" y="13382"/>
                  </a:lnTo>
                  <a:lnTo>
                    <a:pt x="3593" y="27914"/>
                  </a:lnTo>
                  <a:lnTo>
                    <a:pt x="0" y="45719"/>
                  </a:lnTo>
                  <a:lnTo>
                    <a:pt x="0" y="2103120"/>
                  </a:lnTo>
                  <a:lnTo>
                    <a:pt x="3593" y="2120925"/>
                  </a:lnTo>
                  <a:lnTo>
                    <a:pt x="13392" y="2135457"/>
                  </a:lnTo>
                  <a:lnTo>
                    <a:pt x="27924" y="2145250"/>
                  </a:lnTo>
                  <a:lnTo>
                    <a:pt x="45719" y="2148840"/>
                  </a:lnTo>
                  <a:lnTo>
                    <a:pt x="3346704" y="2148840"/>
                  </a:lnTo>
                  <a:lnTo>
                    <a:pt x="3364509" y="2145250"/>
                  </a:lnTo>
                  <a:lnTo>
                    <a:pt x="3379041" y="2135457"/>
                  </a:lnTo>
                  <a:lnTo>
                    <a:pt x="3388834" y="2120925"/>
                  </a:lnTo>
                  <a:lnTo>
                    <a:pt x="3392424" y="2103120"/>
                  </a:lnTo>
                  <a:lnTo>
                    <a:pt x="3392424" y="45719"/>
                  </a:lnTo>
                  <a:lnTo>
                    <a:pt x="3388834" y="27914"/>
                  </a:lnTo>
                  <a:lnTo>
                    <a:pt x="3379041" y="13382"/>
                  </a:lnTo>
                  <a:lnTo>
                    <a:pt x="3364509" y="3589"/>
                  </a:lnTo>
                  <a:lnTo>
                    <a:pt x="3346704" y="0"/>
                  </a:lnTo>
                  <a:close/>
                </a:path>
              </a:pathLst>
            </a:custGeom>
            <a:solidFill>
              <a:srgbClr val="F4F6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48640" y="1965960"/>
              <a:ext cx="3392804" cy="2148840"/>
            </a:xfrm>
            <a:custGeom>
              <a:avLst/>
              <a:gdLst/>
              <a:ahLst/>
              <a:cxnLst/>
              <a:rect l="l" t="t" r="r" b="b"/>
              <a:pathLst>
                <a:path w="3392804" h="2148840">
                  <a:moveTo>
                    <a:pt x="0" y="45719"/>
                  </a:moveTo>
                  <a:lnTo>
                    <a:pt x="3593" y="27914"/>
                  </a:lnTo>
                  <a:lnTo>
                    <a:pt x="13392" y="13382"/>
                  </a:lnTo>
                  <a:lnTo>
                    <a:pt x="27924" y="3589"/>
                  </a:lnTo>
                  <a:lnTo>
                    <a:pt x="45719" y="0"/>
                  </a:lnTo>
                  <a:lnTo>
                    <a:pt x="3346704" y="0"/>
                  </a:lnTo>
                  <a:lnTo>
                    <a:pt x="3364509" y="3589"/>
                  </a:lnTo>
                  <a:lnTo>
                    <a:pt x="3379041" y="13382"/>
                  </a:lnTo>
                  <a:lnTo>
                    <a:pt x="3388834" y="27914"/>
                  </a:lnTo>
                  <a:lnTo>
                    <a:pt x="3392424" y="45719"/>
                  </a:lnTo>
                  <a:lnTo>
                    <a:pt x="3392424" y="2103120"/>
                  </a:lnTo>
                  <a:lnTo>
                    <a:pt x="3388834" y="2120925"/>
                  </a:lnTo>
                  <a:lnTo>
                    <a:pt x="3379041" y="2135457"/>
                  </a:lnTo>
                  <a:lnTo>
                    <a:pt x="3364509" y="2145250"/>
                  </a:lnTo>
                  <a:lnTo>
                    <a:pt x="3346704" y="2148840"/>
                  </a:lnTo>
                  <a:lnTo>
                    <a:pt x="45719" y="2148840"/>
                  </a:lnTo>
                  <a:lnTo>
                    <a:pt x="27924" y="2145250"/>
                  </a:lnTo>
                  <a:lnTo>
                    <a:pt x="13392" y="2135457"/>
                  </a:lnTo>
                  <a:lnTo>
                    <a:pt x="3593" y="2120925"/>
                  </a:lnTo>
                  <a:lnTo>
                    <a:pt x="0" y="2103120"/>
                  </a:lnTo>
                  <a:lnTo>
                    <a:pt x="0" y="45719"/>
                  </a:lnTo>
                  <a:close/>
                </a:path>
              </a:pathLst>
            </a:custGeom>
            <a:ln w="12191">
              <a:solidFill>
                <a:srgbClr val="D6DE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48640" y="1965960"/>
            <a:ext cx="3392804" cy="2148840"/>
          </a:xfrm>
          <a:prstGeom prst="rect">
            <a:avLst/>
          </a:prstGeom>
        </p:spPr>
        <p:txBody>
          <a:bodyPr vert="horz" wrap="square" lIns="0" tIns="13652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75"/>
              </a:spcBef>
            </a:pPr>
            <a:endParaRPr sz="1000">
              <a:latin typeface="Times New Roman"/>
              <a:cs typeface="Times New Roman"/>
            </a:endParaRPr>
          </a:p>
          <a:p>
            <a:pPr marL="255904">
              <a:lnSpc>
                <a:spcPct val="100000"/>
              </a:lnSpc>
            </a:pPr>
            <a:r>
              <a:rPr sz="1000" b="1" spc="80" dirty="0">
                <a:solidFill>
                  <a:srgbClr val="525A78"/>
                </a:solidFill>
                <a:latin typeface="Calibri"/>
                <a:cs typeface="Calibri"/>
              </a:rPr>
              <a:t>STEP</a:t>
            </a:r>
            <a:r>
              <a:rPr sz="1000" b="1" spc="250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1000" b="1" spc="-50" dirty="0">
                <a:solidFill>
                  <a:srgbClr val="525A78"/>
                </a:solidFill>
                <a:latin typeface="Calibri"/>
                <a:cs typeface="Calibri"/>
              </a:rPr>
              <a:t>1</a:t>
            </a: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000">
              <a:latin typeface="Calibri"/>
              <a:cs typeface="Calibri"/>
            </a:endParaRPr>
          </a:p>
          <a:p>
            <a:pPr marL="255904">
              <a:lnSpc>
                <a:spcPct val="100000"/>
              </a:lnSpc>
            </a:pPr>
            <a:r>
              <a:rPr sz="1650" b="1" dirty="0">
                <a:solidFill>
                  <a:srgbClr val="1E2760"/>
                </a:solidFill>
                <a:latin typeface="Cambria"/>
                <a:cs typeface="Cambria"/>
              </a:rPr>
              <a:t>Signal</a:t>
            </a:r>
            <a:r>
              <a:rPr sz="1650" b="1" spc="-70" dirty="0">
                <a:solidFill>
                  <a:srgbClr val="1E2760"/>
                </a:solidFill>
                <a:latin typeface="Cambria"/>
                <a:cs typeface="Cambria"/>
              </a:rPr>
              <a:t> </a:t>
            </a:r>
            <a:r>
              <a:rPr sz="1650" b="1" spc="-10" dirty="0">
                <a:solidFill>
                  <a:srgbClr val="1E2760"/>
                </a:solidFill>
                <a:latin typeface="Cambria"/>
                <a:cs typeface="Cambria"/>
              </a:rPr>
              <a:t>Slicing</a:t>
            </a:r>
            <a:endParaRPr sz="165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185"/>
              </a:spcBef>
            </a:pPr>
            <a:endParaRPr sz="1650">
              <a:latin typeface="Cambria"/>
              <a:cs typeface="Cambria"/>
            </a:endParaRPr>
          </a:p>
          <a:p>
            <a:pPr marL="255904" marR="492759">
              <a:lnSpc>
                <a:spcPct val="114799"/>
              </a:lnSpc>
            </a:pPr>
            <a:r>
              <a:rPr sz="1150" spc="-10" dirty="0">
                <a:solidFill>
                  <a:srgbClr val="212846"/>
                </a:solidFill>
                <a:latin typeface="Calibri"/>
                <a:cs typeface="Calibri"/>
              </a:rPr>
              <a:t>Continuous </a:t>
            </a:r>
            <a:r>
              <a:rPr sz="1150" dirty="0">
                <a:solidFill>
                  <a:srgbClr val="212846"/>
                </a:solidFill>
                <a:latin typeface="Calibri"/>
                <a:cs typeface="Calibri"/>
              </a:rPr>
              <a:t>vibration</a:t>
            </a:r>
            <a:r>
              <a:rPr sz="1150" spc="-2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212846"/>
                </a:solidFill>
                <a:latin typeface="Calibri"/>
                <a:cs typeface="Calibri"/>
              </a:rPr>
              <a:t>signals</a:t>
            </a:r>
            <a:r>
              <a:rPr sz="1150" spc="-3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212846"/>
                </a:solidFill>
                <a:latin typeface="Calibri"/>
                <a:cs typeface="Calibri"/>
              </a:rPr>
              <a:t>segmented</a:t>
            </a:r>
            <a:r>
              <a:rPr sz="1150" spc="-4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150" spc="-20" dirty="0">
                <a:solidFill>
                  <a:srgbClr val="212846"/>
                </a:solidFill>
                <a:latin typeface="Calibri"/>
                <a:cs typeface="Calibri"/>
              </a:rPr>
              <a:t>into 1024-</a:t>
            </a:r>
            <a:r>
              <a:rPr sz="1150" dirty="0">
                <a:solidFill>
                  <a:srgbClr val="212846"/>
                </a:solidFill>
                <a:latin typeface="Calibri"/>
                <a:cs typeface="Calibri"/>
              </a:rPr>
              <a:t>sample windows</a:t>
            </a:r>
            <a:r>
              <a:rPr sz="1150" spc="1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212846"/>
                </a:solidFill>
                <a:latin typeface="Calibri"/>
                <a:cs typeface="Calibri"/>
              </a:rPr>
              <a:t>(0.2</a:t>
            </a:r>
            <a:r>
              <a:rPr sz="1150" spc="-3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212846"/>
                </a:solidFill>
                <a:latin typeface="Calibri"/>
                <a:cs typeface="Calibri"/>
              </a:rPr>
              <a:t>s</a:t>
            </a:r>
            <a:r>
              <a:rPr sz="1150" spc="-1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212846"/>
                </a:solidFill>
                <a:latin typeface="Calibri"/>
                <a:cs typeface="Calibri"/>
              </a:rPr>
              <a:t>at</a:t>
            </a:r>
            <a:r>
              <a:rPr sz="1150" spc="-2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212846"/>
                </a:solidFill>
                <a:latin typeface="Calibri"/>
                <a:cs typeface="Calibri"/>
              </a:rPr>
              <a:t>5120</a:t>
            </a:r>
            <a:r>
              <a:rPr sz="1150" spc="1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150" spc="-20" dirty="0">
                <a:solidFill>
                  <a:srgbClr val="212846"/>
                </a:solidFill>
                <a:latin typeface="Calibri"/>
                <a:cs typeface="Calibri"/>
              </a:rPr>
              <a:t>Hz).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030726" y="2843275"/>
            <a:ext cx="279400" cy="3619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00" spc="-50" dirty="0">
                <a:solidFill>
                  <a:srgbClr val="525A78"/>
                </a:solidFill>
                <a:latin typeface="Calibri"/>
                <a:cs typeface="Calibri"/>
              </a:rPr>
              <a:t>→</a:t>
            </a:r>
            <a:endParaRPr sz="22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392167" y="1959864"/>
            <a:ext cx="3408045" cy="2161540"/>
            <a:chOff x="4392167" y="1959864"/>
            <a:chExt cx="3408045" cy="2161540"/>
          </a:xfrm>
        </p:grpSpPr>
        <p:sp>
          <p:nvSpPr>
            <p:cNvPr id="11" name="object 11"/>
            <p:cNvSpPr/>
            <p:nvPr/>
          </p:nvSpPr>
          <p:spPr>
            <a:xfrm>
              <a:off x="4398263" y="1965960"/>
              <a:ext cx="3395979" cy="2148840"/>
            </a:xfrm>
            <a:custGeom>
              <a:avLst/>
              <a:gdLst/>
              <a:ahLst/>
              <a:cxnLst/>
              <a:rect l="l" t="t" r="r" b="b"/>
              <a:pathLst>
                <a:path w="3395979" h="2148840">
                  <a:moveTo>
                    <a:pt x="3349752" y="0"/>
                  </a:moveTo>
                  <a:lnTo>
                    <a:pt x="45720" y="0"/>
                  </a:lnTo>
                  <a:lnTo>
                    <a:pt x="27914" y="3589"/>
                  </a:lnTo>
                  <a:lnTo>
                    <a:pt x="13382" y="13382"/>
                  </a:lnTo>
                  <a:lnTo>
                    <a:pt x="3589" y="27914"/>
                  </a:lnTo>
                  <a:lnTo>
                    <a:pt x="0" y="45719"/>
                  </a:lnTo>
                  <a:lnTo>
                    <a:pt x="0" y="2103120"/>
                  </a:lnTo>
                  <a:lnTo>
                    <a:pt x="3589" y="2120925"/>
                  </a:lnTo>
                  <a:lnTo>
                    <a:pt x="13382" y="2135457"/>
                  </a:lnTo>
                  <a:lnTo>
                    <a:pt x="27914" y="2145250"/>
                  </a:lnTo>
                  <a:lnTo>
                    <a:pt x="45720" y="2148840"/>
                  </a:lnTo>
                  <a:lnTo>
                    <a:pt x="3349752" y="2148840"/>
                  </a:lnTo>
                  <a:lnTo>
                    <a:pt x="3367557" y="2145250"/>
                  </a:lnTo>
                  <a:lnTo>
                    <a:pt x="3382089" y="2135457"/>
                  </a:lnTo>
                  <a:lnTo>
                    <a:pt x="3391882" y="2120925"/>
                  </a:lnTo>
                  <a:lnTo>
                    <a:pt x="3395471" y="2103120"/>
                  </a:lnTo>
                  <a:lnTo>
                    <a:pt x="3395471" y="45719"/>
                  </a:lnTo>
                  <a:lnTo>
                    <a:pt x="3391882" y="27914"/>
                  </a:lnTo>
                  <a:lnTo>
                    <a:pt x="3382089" y="13382"/>
                  </a:lnTo>
                  <a:lnTo>
                    <a:pt x="3367557" y="3589"/>
                  </a:lnTo>
                  <a:lnTo>
                    <a:pt x="3349752" y="0"/>
                  </a:lnTo>
                  <a:close/>
                </a:path>
              </a:pathLst>
            </a:custGeom>
            <a:solidFill>
              <a:srgbClr val="F4F6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398263" y="1965960"/>
              <a:ext cx="3395979" cy="2148840"/>
            </a:xfrm>
            <a:custGeom>
              <a:avLst/>
              <a:gdLst/>
              <a:ahLst/>
              <a:cxnLst/>
              <a:rect l="l" t="t" r="r" b="b"/>
              <a:pathLst>
                <a:path w="3395979" h="2148840">
                  <a:moveTo>
                    <a:pt x="0" y="45719"/>
                  </a:moveTo>
                  <a:lnTo>
                    <a:pt x="3589" y="27914"/>
                  </a:lnTo>
                  <a:lnTo>
                    <a:pt x="13382" y="13382"/>
                  </a:lnTo>
                  <a:lnTo>
                    <a:pt x="27914" y="3589"/>
                  </a:lnTo>
                  <a:lnTo>
                    <a:pt x="45720" y="0"/>
                  </a:lnTo>
                  <a:lnTo>
                    <a:pt x="3349752" y="0"/>
                  </a:lnTo>
                  <a:lnTo>
                    <a:pt x="3367557" y="3589"/>
                  </a:lnTo>
                  <a:lnTo>
                    <a:pt x="3382089" y="13382"/>
                  </a:lnTo>
                  <a:lnTo>
                    <a:pt x="3391882" y="27914"/>
                  </a:lnTo>
                  <a:lnTo>
                    <a:pt x="3395471" y="45719"/>
                  </a:lnTo>
                  <a:lnTo>
                    <a:pt x="3395471" y="2103120"/>
                  </a:lnTo>
                  <a:lnTo>
                    <a:pt x="3391882" y="2120925"/>
                  </a:lnTo>
                  <a:lnTo>
                    <a:pt x="3382089" y="2135457"/>
                  </a:lnTo>
                  <a:lnTo>
                    <a:pt x="3367557" y="2145250"/>
                  </a:lnTo>
                  <a:lnTo>
                    <a:pt x="3349752" y="2148840"/>
                  </a:lnTo>
                  <a:lnTo>
                    <a:pt x="45720" y="2148840"/>
                  </a:lnTo>
                  <a:lnTo>
                    <a:pt x="27914" y="2145250"/>
                  </a:lnTo>
                  <a:lnTo>
                    <a:pt x="13382" y="2135457"/>
                  </a:lnTo>
                  <a:lnTo>
                    <a:pt x="3589" y="2120925"/>
                  </a:lnTo>
                  <a:lnTo>
                    <a:pt x="0" y="2103120"/>
                  </a:lnTo>
                  <a:lnTo>
                    <a:pt x="0" y="45719"/>
                  </a:lnTo>
                  <a:close/>
                </a:path>
              </a:pathLst>
            </a:custGeom>
            <a:ln w="12192">
              <a:solidFill>
                <a:srgbClr val="D6DE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398264" y="1965960"/>
            <a:ext cx="3395979" cy="2148840"/>
          </a:xfrm>
          <a:prstGeom prst="rect">
            <a:avLst/>
          </a:prstGeom>
        </p:spPr>
        <p:txBody>
          <a:bodyPr vert="horz" wrap="square" lIns="0" tIns="13652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75"/>
              </a:spcBef>
            </a:pPr>
            <a:endParaRPr sz="1000">
              <a:latin typeface="Times New Roman"/>
              <a:cs typeface="Times New Roman"/>
            </a:endParaRPr>
          </a:p>
          <a:p>
            <a:pPr marL="257810">
              <a:lnSpc>
                <a:spcPct val="100000"/>
              </a:lnSpc>
            </a:pPr>
            <a:r>
              <a:rPr sz="1000" b="1" spc="80" dirty="0">
                <a:solidFill>
                  <a:srgbClr val="525A78"/>
                </a:solidFill>
                <a:latin typeface="Calibri"/>
                <a:cs typeface="Calibri"/>
              </a:rPr>
              <a:t>STEP</a:t>
            </a:r>
            <a:r>
              <a:rPr sz="1000" b="1" spc="250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1000" b="1" spc="-50" dirty="0">
                <a:solidFill>
                  <a:srgbClr val="525A78"/>
                </a:solidFill>
                <a:latin typeface="Calibri"/>
                <a:cs typeface="Calibri"/>
              </a:rPr>
              <a:t>2</a:t>
            </a: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000">
              <a:latin typeface="Calibri"/>
              <a:cs typeface="Calibri"/>
            </a:endParaRPr>
          </a:p>
          <a:p>
            <a:pPr marL="257810">
              <a:lnSpc>
                <a:spcPct val="100000"/>
              </a:lnSpc>
            </a:pPr>
            <a:r>
              <a:rPr sz="1650" b="1" spc="-10" dirty="0">
                <a:solidFill>
                  <a:srgbClr val="1E2760"/>
                </a:solidFill>
                <a:latin typeface="Cambria"/>
                <a:cs typeface="Cambria"/>
              </a:rPr>
              <a:t>Windowing</a:t>
            </a:r>
            <a:endParaRPr sz="165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90"/>
              </a:spcBef>
            </a:pPr>
            <a:endParaRPr sz="1650">
              <a:latin typeface="Cambria"/>
              <a:cs typeface="Cambria"/>
            </a:endParaRPr>
          </a:p>
          <a:p>
            <a:pPr marL="257810" marR="386715">
              <a:lnSpc>
                <a:spcPct val="114900"/>
              </a:lnSpc>
            </a:pPr>
            <a:r>
              <a:rPr sz="1150" spc="-20" dirty="0">
                <a:solidFill>
                  <a:srgbClr val="212846"/>
                </a:solidFill>
                <a:latin typeface="Calibri"/>
                <a:cs typeface="Calibri"/>
              </a:rPr>
              <a:t>256-</a:t>
            </a:r>
            <a:r>
              <a:rPr sz="1150" dirty="0">
                <a:solidFill>
                  <a:srgbClr val="212846"/>
                </a:solidFill>
                <a:latin typeface="Calibri"/>
                <a:cs typeface="Calibri"/>
              </a:rPr>
              <a:t>sample</a:t>
            </a:r>
            <a:r>
              <a:rPr sz="1150" spc="-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212846"/>
                </a:solidFill>
                <a:latin typeface="Calibri"/>
                <a:cs typeface="Calibri"/>
              </a:rPr>
              <a:t>Hann</a:t>
            </a:r>
            <a:r>
              <a:rPr sz="1150" spc="-5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212846"/>
                </a:solidFill>
                <a:latin typeface="Calibri"/>
                <a:cs typeface="Calibri"/>
              </a:rPr>
              <a:t>window</a:t>
            </a:r>
            <a:r>
              <a:rPr sz="1150" spc="-1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212846"/>
                </a:solidFill>
                <a:latin typeface="Calibri"/>
                <a:cs typeface="Calibri"/>
              </a:rPr>
              <a:t>slides</a:t>
            </a:r>
            <a:r>
              <a:rPr sz="1150" spc="-2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212846"/>
                </a:solidFill>
                <a:latin typeface="Calibri"/>
                <a:cs typeface="Calibri"/>
              </a:rPr>
              <a:t>across</a:t>
            </a:r>
            <a:r>
              <a:rPr sz="1150" spc="-4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150" spc="-25" dirty="0">
                <a:solidFill>
                  <a:srgbClr val="212846"/>
                </a:solidFill>
                <a:latin typeface="Calibri"/>
                <a:cs typeface="Calibri"/>
              </a:rPr>
              <a:t>the </a:t>
            </a:r>
            <a:r>
              <a:rPr sz="1150" dirty="0">
                <a:solidFill>
                  <a:srgbClr val="212846"/>
                </a:solidFill>
                <a:latin typeface="Calibri"/>
                <a:cs typeface="Calibri"/>
              </a:rPr>
              <a:t>1024</a:t>
            </a:r>
            <a:r>
              <a:rPr sz="1150" spc="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212846"/>
                </a:solidFill>
                <a:latin typeface="Calibri"/>
                <a:cs typeface="Calibri"/>
              </a:rPr>
              <a:t>samples</a:t>
            </a:r>
            <a:r>
              <a:rPr sz="1150" spc="-4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212846"/>
                </a:solidFill>
                <a:latin typeface="Calibri"/>
                <a:cs typeface="Calibri"/>
              </a:rPr>
              <a:t>with</a:t>
            </a:r>
            <a:r>
              <a:rPr sz="1150" spc="-1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212846"/>
                </a:solidFill>
                <a:latin typeface="Calibri"/>
                <a:cs typeface="Calibri"/>
              </a:rPr>
              <a:t>50%</a:t>
            </a:r>
            <a:r>
              <a:rPr sz="1150" spc="-1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212846"/>
                </a:solidFill>
                <a:latin typeface="Calibri"/>
                <a:cs typeface="Calibri"/>
              </a:rPr>
              <a:t>overlap</a:t>
            </a:r>
            <a:r>
              <a:rPr sz="1150" spc="-3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212846"/>
                </a:solidFill>
                <a:latin typeface="Calibri"/>
                <a:cs typeface="Calibri"/>
              </a:rPr>
              <a:t>(128</a:t>
            </a:r>
            <a:r>
              <a:rPr sz="1150" spc="-1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212846"/>
                </a:solidFill>
                <a:latin typeface="Calibri"/>
                <a:cs typeface="Calibri"/>
              </a:rPr>
              <a:t>samples) </a:t>
            </a:r>
            <a:r>
              <a:rPr sz="1150" dirty="0">
                <a:solidFill>
                  <a:srgbClr val="212846"/>
                </a:solidFill>
                <a:latin typeface="Calibri"/>
                <a:cs typeface="Calibri"/>
              </a:rPr>
              <a:t>to</a:t>
            </a:r>
            <a:r>
              <a:rPr sz="1150" spc="-2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212846"/>
                </a:solidFill>
                <a:latin typeface="Calibri"/>
                <a:cs typeface="Calibri"/>
              </a:rPr>
              <a:t>localize</a:t>
            </a:r>
            <a:r>
              <a:rPr sz="1150" spc="-3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212846"/>
                </a:solidFill>
                <a:latin typeface="Calibri"/>
                <a:cs typeface="Calibri"/>
              </a:rPr>
              <a:t>frequencies</a:t>
            </a:r>
            <a:r>
              <a:rPr sz="1150" spc="-5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212846"/>
                </a:solidFill>
                <a:latin typeface="Calibri"/>
                <a:cs typeface="Calibri"/>
              </a:rPr>
              <a:t>without</a:t>
            </a:r>
            <a:r>
              <a:rPr sz="1150" spc="-1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212846"/>
                </a:solidFill>
                <a:latin typeface="Calibri"/>
                <a:cs typeface="Calibri"/>
              </a:rPr>
              <a:t>artificial</a:t>
            </a:r>
            <a:r>
              <a:rPr sz="1150" spc="-5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212846"/>
                </a:solidFill>
                <a:latin typeface="Calibri"/>
                <a:cs typeface="Calibri"/>
              </a:rPr>
              <a:t>noise.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882508" y="2843275"/>
            <a:ext cx="279400" cy="3619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00" spc="-50" dirty="0">
                <a:solidFill>
                  <a:srgbClr val="525A78"/>
                </a:solidFill>
                <a:latin typeface="Calibri"/>
                <a:cs typeface="Calibri"/>
              </a:rPr>
              <a:t>→</a:t>
            </a:r>
            <a:endParaRPr sz="22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8244840" y="1959864"/>
            <a:ext cx="3404870" cy="2161540"/>
            <a:chOff x="8244840" y="1959864"/>
            <a:chExt cx="3404870" cy="2161540"/>
          </a:xfrm>
        </p:grpSpPr>
        <p:sp>
          <p:nvSpPr>
            <p:cNvPr id="16" name="object 16"/>
            <p:cNvSpPr/>
            <p:nvPr/>
          </p:nvSpPr>
          <p:spPr>
            <a:xfrm>
              <a:off x="8250936" y="1965960"/>
              <a:ext cx="3392804" cy="2148840"/>
            </a:xfrm>
            <a:custGeom>
              <a:avLst/>
              <a:gdLst/>
              <a:ahLst/>
              <a:cxnLst/>
              <a:rect l="l" t="t" r="r" b="b"/>
              <a:pathLst>
                <a:path w="3392804" h="2148840">
                  <a:moveTo>
                    <a:pt x="3346704" y="0"/>
                  </a:moveTo>
                  <a:lnTo>
                    <a:pt x="45720" y="0"/>
                  </a:lnTo>
                  <a:lnTo>
                    <a:pt x="27914" y="3589"/>
                  </a:lnTo>
                  <a:lnTo>
                    <a:pt x="13382" y="13382"/>
                  </a:lnTo>
                  <a:lnTo>
                    <a:pt x="3589" y="27914"/>
                  </a:lnTo>
                  <a:lnTo>
                    <a:pt x="0" y="45719"/>
                  </a:lnTo>
                  <a:lnTo>
                    <a:pt x="0" y="2103120"/>
                  </a:lnTo>
                  <a:lnTo>
                    <a:pt x="3589" y="2120925"/>
                  </a:lnTo>
                  <a:lnTo>
                    <a:pt x="13382" y="2135457"/>
                  </a:lnTo>
                  <a:lnTo>
                    <a:pt x="27914" y="2145250"/>
                  </a:lnTo>
                  <a:lnTo>
                    <a:pt x="45720" y="2148840"/>
                  </a:lnTo>
                  <a:lnTo>
                    <a:pt x="3346704" y="2148840"/>
                  </a:lnTo>
                  <a:lnTo>
                    <a:pt x="3364509" y="2145250"/>
                  </a:lnTo>
                  <a:lnTo>
                    <a:pt x="3379041" y="2135457"/>
                  </a:lnTo>
                  <a:lnTo>
                    <a:pt x="3388834" y="2120925"/>
                  </a:lnTo>
                  <a:lnTo>
                    <a:pt x="3392424" y="2103120"/>
                  </a:lnTo>
                  <a:lnTo>
                    <a:pt x="3392424" y="45719"/>
                  </a:lnTo>
                  <a:lnTo>
                    <a:pt x="3388834" y="27914"/>
                  </a:lnTo>
                  <a:lnTo>
                    <a:pt x="3379041" y="13382"/>
                  </a:lnTo>
                  <a:lnTo>
                    <a:pt x="3364509" y="3589"/>
                  </a:lnTo>
                  <a:lnTo>
                    <a:pt x="3346704" y="0"/>
                  </a:lnTo>
                  <a:close/>
                </a:path>
              </a:pathLst>
            </a:custGeom>
            <a:solidFill>
              <a:srgbClr val="1E27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250936" y="1965960"/>
              <a:ext cx="3392804" cy="2148840"/>
            </a:xfrm>
            <a:custGeom>
              <a:avLst/>
              <a:gdLst/>
              <a:ahLst/>
              <a:cxnLst/>
              <a:rect l="l" t="t" r="r" b="b"/>
              <a:pathLst>
                <a:path w="3392804" h="2148840">
                  <a:moveTo>
                    <a:pt x="0" y="45719"/>
                  </a:moveTo>
                  <a:lnTo>
                    <a:pt x="3589" y="27914"/>
                  </a:lnTo>
                  <a:lnTo>
                    <a:pt x="13382" y="13382"/>
                  </a:lnTo>
                  <a:lnTo>
                    <a:pt x="27914" y="3589"/>
                  </a:lnTo>
                  <a:lnTo>
                    <a:pt x="45720" y="0"/>
                  </a:lnTo>
                  <a:lnTo>
                    <a:pt x="3346704" y="0"/>
                  </a:lnTo>
                  <a:lnTo>
                    <a:pt x="3364509" y="3589"/>
                  </a:lnTo>
                  <a:lnTo>
                    <a:pt x="3379041" y="13382"/>
                  </a:lnTo>
                  <a:lnTo>
                    <a:pt x="3388834" y="27914"/>
                  </a:lnTo>
                  <a:lnTo>
                    <a:pt x="3392424" y="45719"/>
                  </a:lnTo>
                  <a:lnTo>
                    <a:pt x="3392424" y="2103120"/>
                  </a:lnTo>
                  <a:lnTo>
                    <a:pt x="3388834" y="2120925"/>
                  </a:lnTo>
                  <a:lnTo>
                    <a:pt x="3379041" y="2135457"/>
                  </a:lnTo>
                  <a:lnTo>
                    <a:pt x="3364509" y="2145250"/>
                  </a:lnTo>
                  <a:lnTo>
                    <a:pt x="3346704" y="2148840"/>
                  </a:lnTo>
                  <a:lnTo>
                    <a:pt x="45720" y="2148840"/>
                  </a:lnTo>
                  <a:lnTo>
                    <a:pt x="27914" y="2145250"/>
                  </a:lnTo>
                  <a:lnTo>
                    <a:pt x="13382" y="2135457"/>
                  </a:lnTo>
                  <a:lnTo>
                    <a:pt x="3589" y="2120925"/>
                  </a:lnTo>
                  <a:lnTo>
                    <a:pt x="0" y="2103120"/>
                  </a:lnTo>
                  <a:lnTo>
                    <a:pt x="0" y="45719"/>
                  </a:lnTo>
                  <a:close/>
                </a:path>
              </a:pathLst>
            </a:custGeom>
            <a:ln w="12191">
              <a:solidFill>
                <a:srgbClr val="1E27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8250935" y="1965960"/>
            <a:ext cx="3392804" cy="214884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 vert="horz" wrap="square" lIns="0" tIns="13652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75"/>
              </a:spcBef>
            </a:pPr>
            <a:endParaRPr sz="1000" dirty="0">
              <a:latin typeface="Times New Roman"/>
              <a:cs typeface="Times New Roman"/>
            </a:endParaRPr>
          </a:p>
          <a:p>
            <a:pPr marL="256540">
              <a:lnSpc>
                <a:spcPct val="100000"/>
              </a:lnSpc>
            </a:pPr>
            <a:r>
              <a:rPr sz="1000" b="1" spc="80" dirty="0">
                <a:solidFill>
                  <a:srgbClr val="C9DCFB"/>
                </a:solidFill>
                <a:latin typeface="Calibri"/>
                <a:cs typeface="Calibri"/>
              </a:rPr>
              <a:t>STEP</a:t>
            </a:r>
            <a:r>
              <a:rPr sz="1000" b="1" spc="250" dirty="0">
                <a:solidFill>
                  <a:srgbClr val="C9DCFB"/>
                </a:solidFill>
                <a:latin typeface="Calibri"/>
                <a:cs typeface="Calibri"/>
              </a:rPr>
              <a:t> </a:t>
            </a:r>
            <a:r>
              <a:rPr sz="1000" b="1" spc="-50" dirty="0">
                <a:solidFill>
                  <a:srgbClr val="C9DCFB"/>
                </a:solidFill>
                <a:latin typeface="Calibri"/>
                <a:cs typeface="Calibri"/>
              </a:rPr>
              <a:t>3</a:t>
            </a:r>
            <a:endParaRPr sz="10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000" dirty="0">
              <a:latin typeface="Calibri"/>
              <a:cs typeface="Calibri"/>
            </a:endParaRPr>
          </a:p>
          <a:p>
            <a:pPr marL="256540">
              <a:lnSpc>
                <a:spcPct val="100000"/>
              </a:lnSpc>
            </a:pPr>
            <a:r>
              <a:rPr sz="1650" b="1" dirty="0">
                <a:solidFill>
                  <a:srgbClr val="FFFFFF"/>
                </a:solidFill>
                <a:latin typeface="Cambria"/>
                <a:cs typeface="Cambria"/>
              </a:rPr>
              <a:t>Image</a:t>
            </a:r>
            <a:r>
              <a:rPr sz="1650" b="1" spc="-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650" b="1" spc="-10" dirty="0">
                <a:solidFill>
                  <a:srgbClr val="FFFFFF"/>
                </a:solidFill>
                <a:latin typeface="Cambria"/>
                <a:cs typeface="Cambria"/>
              </a:rPr>
              <a:t>Conversion</a:t>
            </a:r>
            <a:endParaRPr sz="165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90"/>
              </a:spcBef>
            </a:pPr>
            <a:endParaRPr sz="1650" dirty="0">
              <a:latin typeface="Cambria"/>
              <a:cs typeface="Cambria"/>
            </a:endParaRPr>
          </a:p>
          <a:p>
            <a:pPr marL="256540" marR="259079">
              <a:lnSpc>
                <a:spcPct val="114900"/>
              </a:lnSpc>
            </a:pPr>
            <a:r>
              <a:rPr sz="1150" dirty="0">
                <a:solidFill>
                  <a:srgbClr val="E3E9F7"/>
                </a:solidFill>
                <a:latin typeface="Calibri"/>
                <a:cs typeface="Calibri"/>
              </a:rPr>
              <a:t>Resulting</a:t>
            </a:r>
            <a:r>
              <a:rPr sz="1150" spc="-45" dirty="0">
                <a:solidFill>
                  <a:srgbClr val="E3E9F7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E3E9F7"/>
                </a:solidFill>
                <a:latin typeface="Calibri"/>
                <a:cs typeface="Calibri"/>
              </a:rPr>
              <a:t>matrices</a:t>
            </a:r>
            <a:r>
              <a:rPr sz="1150" spc="-30" dirty="0">
                <a:solidFill>
                  <a:srgbClr val="E3E9F7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E3E9F7"/>
                </a:solidFill>
                <a:latin typeface="Calibri"/>
                <a:cs typeface="Calibri"/>
              </a:rPr>
              <a:t>are</a:t>
            </a:r>
            <a:r>
              <a:rPr sz="1150" spc="-50" dirty="0">
                <a:solidFill>
                  <a:srgbClr val="E3E9F7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E3E9F7"/>
                </a:solidFill>
                <a:latin typeface="Calibri"/>
                <a:cs typeface="Calibri"/>
              </a:rPr>
              <a:t>normalized,</a:t>
            </a:r>
            <a:r>
              <a:rPr sz="1150" spc="-30" dirty="0">
                <a:solidFill>
                  <a:srgbClr val="E3E9F7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E3E9F7"/>
                </a:solidFill>
                <a:latin typeface="Calibri"/>
                <a:cs typeface="Calibri"/>
              </a:rPr>
              <a:t>mapped</a:t>
            </a:r>
            <a:r>
              <a:rPr sz="1150" spc="-35" dirty="0">
                <a:solidFill>
                  <a:srgbClr val="E3E9F7"/>
                </a:solidFill>
                <a:latin typeface="Calibri"/>
                <a:cs typeface="Calibri"/>
              </a:rPr>
              <a:t> </a:t>
            </a:r>
            <a:r>
              <a:rPr sz="1150" spc="-20" dirty="0">
                <a:solidFill>
                  <a:srgbClr val="E3E9F7"/>
                </a:solidFill>
                <a:latin typeface="Calibri"/>
                <a:cs typeface="Calibri"/>
              </a:rPr>
              <a:t>with </a:t>
            </a:r>
            <a:r>
              <a:rPr sz="1150" dirty="0">
                <a:solidFill>
                  <a:srgbClr val="E3E9F7"/>
                </a:solidFill>
                <a:latin typeface="Calibri"/>
                <a:cs typeface="Calibri"/>
              </a:rPr>
              <a:t>a</a:t>
            </a:r>
            <a:r>
              <a:rPr sz="1150" spc="-25" dirty="0">
                <a:solidFill>
                  <a:srgbClr val="E3E9F7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E3E9F7"/>
                </a:solidFill>
                <a:latin typeface="Calibri"/>
                <a:cs typeface="Calibri"/>
              </a:rPr>
              <a:t>Jet</a:t>
            </a:r>
            <a:r>
              <a:rPr sz="1150" spc="-20" dirty="0">
                <a:solidFill>
                  <a:srgbClr val="E3E9F7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E3E9F7"/>
                </a:solidFill>
                <a:latin typeface="Calibri"/>
                <a:cs typeface="Calibri"/>
              </a:rPr>
              <a:t>color</a:t>
            </a:r>
            <a:r>
              <a:rPr sz="1150" spc="5" dirty="0">
                <a:solidFill>
                  <a:srgbClr val="E3E9F7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E3E9F7"/>
                </a:solidFill>
                <a:latin typeface="Calibri"/>
                <a:cs typeface="Calibri"/>
              </a:rPr>
              <a:t>map,</a:t>
            </a:r>
            <a:r>
              <a:rPr sz="1150" spc="-25" dirty="0">
                <a:solidFill>
                  <a:srgbClr val="E3E9F7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E3E9F7"/>
                </a:solidFill>
                <a:latin typeface="Calibri"/>
                <a:cs typeface="Calibri"/>
              </a:rPr>
              <a:t>resized</a:t>
            </a:r>
            <a:r>
              <a:rPr sz="1150" spc="-50" dirty="0">
                <a:solidFill>
                  <a:srgbClr val="E3E9F7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E3E9F7"/>
                </a:solidFill>
                <a:latin typeface="Calibri"/>
                <a:cs typeface="Calibri"/>
              </a:rPr>
              <a:t>to</a:t>
            </a:r>
            <a:r>
              <a:rPr sz="1150" spc="-35" dirty="0">
                <a:solidFill>
                  <a:srgbClr val="E3E9F7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E3E9F7"/>
                </a:solidFill>
                <a:latin typeface="Calibri"/>
                <a:cs typeface="Calibri"/>
              </a:rPr>
              <a:t>224</a:t>
            </a:r>
            <a:r>
              <a:rPr sz="1150" spc="30" dirty="0">
                <a:solidFill>
                  <a:srgbClr val="E3E9F7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E3E9F7"/>
                </a:solidFill>
                <a:latin typeface="Calibri"/>
                <a:cs typeface="Calibri"/>
              </a:rPr>
              <a:t>×</a:t>
            </a:r>
            <a:r>
              <a:rPr sz="1150" spc="-20" dirty="0">
                <a:solidFill>
                  <a:srgbClr val="E3E9F7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E3E9F7"/>
                </a:solidFill>
                <a:latin typeface="Calibri"/>
                <a:cs typeface="Calibri"/>
              </a:rPr>
              <a:t>224, </a:t>
            </a:r>
            <a:r>
              <a:rPr sz="1150" spc="-25" dirty="0">
                <a:solidFill>
                  <a:srgbClr val="E3E9F7"/>
                </a:solidFill>
                <a:latin typeface="Calibri"/>
                <a:cs typeface="Calibri"/>
              </a:rPr>
              <a:t>and </a:t>
            </a:r>
            <a:r>
              <a:rPr sz="1150" dirty="0">
                <a:solidFill>
                  <a:srgbClr val="E3E9F7"/>
                </a:solidFill>
                <a:latin typeface="Calibri"/>
                <a:cs typeface="Calibri"/>
              </a:rPr>
              <a:t>converted</a:t>
            </a:r>
            <a:r>
              <a:rPr sz="1150" spc="-35" dirty="0">
                <a:solidFill>
                  <a:srgbClr val="E3E9F7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E3E9F7"/>
                </a:solidFill>
                <a:latin typeface="Calibri"/>
                <a:cs typeface="Calibri"/>
              </a:rPr>
              <a:t>to</a:t>
            </a:r>
            <a:r>
              <a:rPr sz="1150" spc="-15" dirty="0">
                <a:solidFill>
                  <a:srgbClr val="E3E9F7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E3E9F7"/>
                </a:solidFill>
                <a:latin typeface="Calibri"/>
                <a:cs typeface="Calibri"/>
              </a:rPr>
              <a:t>3-</a:t>
            </a:r>
            <a:r>
              <a:rPr sz="1150" dirty="0">
                <a:solidFill>
                  <a:srgbClr val="E3E9F7"/>
                </a:solidFill>
                <a:latin typeface="Calibri"/>
                <a:cs typeface="Calibri"/>
              </a:rPr>
              <a:t>channel</a:t>
            </a:r>
            <a:r>
              <a:rPr sz="1150" spc="-25" dirty="0">
                <a:solidFill>
                  <a:srgbClr val="E3E9F7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E3E9F7"/>
                </a:solidFill>
                <a:latin typeface="Calibri"/>
                <a:cs typeface="Calibri"/>
              </a:rPr>
              <a:t>RGB</a:t>
            </a:r>
            <a:r>
              <a:rPr sz="1150" spc="-30" dirty="0">
                <a:solidFill>
                  <a:srgbClr val="E3E9F7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E3E9F7"/>
                </a:solidFill>
                <a:latin typeface="Calibri"/>
                <a:cs typeface="Calibri"/>
              </a:rPr>
              <a:t>images.</a:t>
            </a:r>
            <a:endParaRPr sz="1150" dirty="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35940" y="6614566"/>
            <a:ext cx="1261110" cy="1473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10"/>
              </a:lnSpc>
            </a:pPr>
            <a:r>
              <a:rPr sz="950" dirty="0">
                <a:solidFill>
                  <a:srgbClr val="525A78"/>
                </a:solidFill>
                <a:latin typeface="Calibri"/>
                <a:cs typeface="Calibri"/>
              </a:rPr>
              <a:t>Part</a:t>
            </a:r>
            <a:r>
              <a:rPr sz="950" spc="-45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525A78"/>
                </a:solidFill>
                <a:latin typeface="Calibri"/>
                <a:cs typeface="Calibri"/>
              </a:rPr>
              <a:t>1</a:t>
            </a:r>
            <a:r>
              <a:rPr sz="950" spc="25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525A78"/>
                </a:solidFill>
                <a:latin typeface="Calibri"/>
                <a:cs typeface="Calibri"/>
              </a:rPr>
              <a:t>—</a:t>
            </a:r>
            <a:r>
              <a:rPr sz="950" spc="-15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525A78"/>
                </a:solidFill>
                <a:latin typeface="Calibri"/>
                <a:cs typeface="Calibri"/>
              </a:rPr>
              <a:t>Paper</a:t>
            </a:r>
            <a:r>
              <a:rPr sz="950" spc="-15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525A78"/>
                </a:solidFill>
                <a:latin typeface="Calibri"/>
                <a:cs typeface="Calibri"/>
              </a:rPr>
              <a:t>Summary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8425">
              <a:lnSpc>
                <a:spcPts val="1010"/>
              </a:lnSpc>
            </a:pPr>
            <a:r>
              <a:rPr spc="-50" dirty="0"/>
              <a:t>4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535940" y="4548632"/>
            <a:ext cx="6722109" cy="215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50" i="1" dirty="0">
                <a:solidFill>
                  <a:srgbClr val="525A78"/>
                </a:solidFill>
                <a:latin typeface="Calibri"/>
                <a:cs typeface="Calibri"/>
              </a:rPr>
              <a:t>Input</a:t>
            </a:r>
            <a:r>
              <a:rPr sz="1250" i="1" spc="-40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1250" i="1" dirty="0">
                <a:solidFill>
                  <a:srgbClr val="525A78"/>
                </a:solidFill>
                <a:latin typeface="Calibri"/>
                <a:cs typeface="Calibri"/>
              </a:rPr>
              <a:t>to</a:t>
            </a:r>
            <a:r>
              <a:rPr sz="1250" i="1" spc="-5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1250" i="1" dirty="0">
                <a:solidFill>
                  <a:srgbClr val="525A78"/>
                </a:solidFill>
                <a:latin typeface="Calibri"/>
                <a:cs typeface="Calibri"/>
              </a:rPr>
              <a:t>network:</a:t>
            </a:r>
            <a:r>
              <a:rPr sz="1250" i="1" spc="225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1250" i="1" dirty="0">
                <a:solidFill>
                  <a:srgbClr val="525A78"/>
                </a:solidFill>
                <a:latin typeface="Calibri"/>
                <a:cs typeface="Calibri"/>
              </a:rPr>
              <a:t>1024</a:t>
            </a:r>
            <a:r>
              <a:rPr sz="1250" i="1" spc="35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1250" i="1" dirty="0">
                <a:solidFill>
                  <a:srgbClr val="525A78"/>
                </a:solidFill>
                <a:latin typeface="Calibri"/>
                <a:cs typeface="Calibri"/>
              </a:rPr>
              <a:t>samples</a:t>
            </a:r>
            <a:r>
              <a:rPr sz="1250" i="1" spc="-15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1250" i="1" dirty="0">
                <a:solidFill>
                  <a:srgbClr val="525A78"/>
                </a:solidFill>
                <a:latin typeface="Calibri"/>
                <a:cs typeface="Calibri"/>
              </a:rPr>
              <a:t>per</a:t>
            </a:r>
            <a:r>
              <a:rPr sz="1250" i="1" spc="-30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1250" i="1" dirty="0">
                <a:solidFill>
                  <a:srgbClr val="525A78"/>
                </a:solidFill>
                <a:latin typeface="Calibri"/>
                <a:cs typeface="Calibri"/>
              </a:rPr>
              <a:t>window</a:t>
            </a:r>
            <a:r>
              <a:rPr sz="1250" i="1" spc="245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1250" i="1" dirty="0">
                <a:solidFill>
                  <a:srgbClr val="525A78"/>
                </a:solidFill>
                <a:latin typeface="Calibri"/>
                <a:cs typeface="Calibri"/>
              </a:rPr>
              <a:t>→</a:t>
            </a:r>
            <a:r>
              <a:rPr sz="1250" i="1" spc="270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1250" i="1" dirty="0">
                <a:solidFill>
                  <a:srgbClr val="525A78"/>
                </a:solidFill>
                <a:latin typeface="Calibri"/>
                <a:cs typeface="Calibri"/>
              </a:rPr>
              <a:t>224</a:t>
            </a:r>
            <a:r>
              <a:rPr sz="1250" i="1" spc="-20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1250" i="1" dirty="0">
                <a:solidFill>
                  <a:srgbClr val="525A78"/>
                </a:solidFill>
                <a:latin typeface="Calibri"/>
                <a:cs typeface="Calibri"/>
              </a:rPr>
              <a:t>×</a:t>
            </a:r>
            <a:r>
              <a:rPr sz="1250" i="1" spc="-10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1250" i="1" dirty="0">
                <a:solidFill>
                  <a:srgbClr val="525A78"/>
                </a:solidFill>
                <a:latin typeface="Calibri"/>
                <a:cs typeface="Calibri"/>
              </a:rPr>
              <a:t>224</a:t>
            </a:r>
            <a:r>
              <a:rPr sz="1250" i="1" spc="35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1250" i="1" dirty="0">
                <a:solidFill>
                  <a:srgbClr val="525A78"/>
                </a:solidFill>
                <a:latin typeface="Calibri"/>
                <a:cs typeface="Calibri"/>
              </a:rPr>
              <a:t>×</a:t>
            </a:r>
            <a:r>
              <a:rPr sz="1250" i="1" spc="-5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1250" i="1" dirty="0">
                <a:solidFill>
                  <a:srgbClr val="525A78"/>
                </a:solidFill>
                <a:latin typeface="Calibri"/>
                <a:cs typeface="Calibri"/>
              </a:rPr>
              <a:t>3</a:t>
            </a:r>
            <a:r>
              <a:rPr sz="1250" i="1" spc="-20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1250" i="1" dirty="0">
                <a:solidFill>
                  <a:srgbClr val="525A78"/>
                </a:solidFill>
                <a:latin typeface="Calibri"/>
                <a:cs typeface="Calibri"/>
              </a:rPr>
              <a:t>image</a:t>
            </a:r>
            <a:r>
              <a:rPr sz="1250" i="1" spc="-25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1250" i="1" spc="-20" dirty="0">
                <a:solidFill>
                  <a:srgbClr val="525A78"/>
                </a:solidFill>
                <a:latin typeface="Calibri"/>
                <a:cs typeface="Calibri"/>
              </a:rPr>
              <a:t>tensor,</a:t>
            </a:r>
            <a:r>
              <a:rPr sz="1250" i="1" spc="-5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1250" i="1" dirty="0">
                <a:solidFill>
                  <a:srgbClr val="525A78"/>
                </a:solidFill>
                <a:latin typeface="Calibri"/>
                <a:cs typeface="Calibri"/>
              </a:rPr>
              <a:t>per</a:t>
            </a:r>
            <a:r>
              <a:rPr sz="1250" i="1" spc="-25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1250" i="1" dirty="0">
                <a:solidFill>
                  <a:srgbClr val="525A78"/>
                </a:solidFill>
                <a:latin typeface="Calibri"/>
                <a:cs typeface="Calibri"/>
              </a:rPr>
              <a:t>branch</a:t>
            </a:r>
            <a:r>
              <a:rPr sz="1250" i="1" spc="-50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1250" i="1" dirty="0">
                <a:solidFill>
                  <a:srgbClr val="525A78"/>
                </a:solidFill>
                <a:latin typeface="Calibri"/>
                <a:cs typeface="Calibri"/>
              </a:rPr>
              <a:t>(STFT</a:t>
            </a:r>
            <a:r>
              <a:rPr sz="1250" i="1" spc="-15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1250" i="1" dirty="0">
                <a:solidFill>
                  <a:srgbClr val="525A78"/>
                </a:solidFill>
                <a:latin typeface="Calibri"/>
                <a:cs typeface="Calibri"/>
              </a:rPr>
              <a:t>and</a:t>
            </a:r>
            <a:r>
              <a:rPr sz="1250" i="1" spc="-25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1250" i="1" spc="-20" dirty="0">
                <a:solidFill>
                  <a:srgbClr val="525A78"/>
                </a:solidFill>
                <a:latin typeface="Calibri"/>
                <a:cs typeface="Calibri"/>
              </a:rPr>
              <a:t>CWT)</a:t>
            </a:r>
            <a:endParaRPr sz="12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411556"/>
            <a:ext cx="1150620" cy="2019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50" b="1" spc="100" dirty="0">
                <a:solidFill>
                  <a:srgbClr val="525A78"/>
                </a:solidFill>
                <a:latin typeface="Calibri"/>
                <a:cs typeface="Calibri"/>
              </a:rPr>
              <a:t>ARCHI</a:t>
            </a:r>
            <a:r>
              <a:rPr sz="1150" b="1" spc="-110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1150" b="1" spc="-10" dirty="0">
                <a:solidFill>
                  <a:srgbClr val="525A78"/>
                </a:solidFill>
                <a:latin typeface="Calibri"/>
                <a:cs typeface="Calibri"/>
              </a:rPr>
              <a:t>T</a:t>
            </a:r>
            <a:r>
              <a:rPr sz="1150" b="1" spc="-100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1150" b="1" spc="80" dirty="0">
                <a:solidFill>
                  <a:srgbClr val="525A78"/>
                </a:solidFill>
                <a:latin typeface="Calibri"/>
                <a:cs typeface="Calibri"/>
              </a:rPr>
              <a:t>ECT</a:t>
            </a:r>
            <a:r>
              <a:rPr sz="1150" b="1" spc="-100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1150" b="1" spc="60" dirty="0">
                <a:solidFill>
                  <a:srgbClr val="525A78"/>
                </a:solidFill>
                <a:latin typeface="Calibri"/>
                <a:cs typeface="Calibri"/>
              </a:rPr>
              <a:t>UR</a:t>
            </a:r>
            <a:r>
              <a:rPr sz="1150" b="1" spc="-80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1150" b="1" spc="-50" dirty="0">
                <a:solidFill>
                  <a:srgbClr val="525A78"/>
                </a:solidFill>
                <a:latin typeface="Calibri"/>
                <a:cs typeface="Calibri"/>
              </a:rPr>
              <a:t>E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Dual-</a:t>
            </a:r>
            <a:r>
              <a:rPr dirty="0"/>
              <a:t>Branch</a:t>
            </a:r>
            <a:r>
              <a:rPr spc="-90" dirty="0"/>
              <a:t> </a:t>
            </a:r>
            <a:r>
              <a:rPr spc="-10" dirty="0"/>
              <a:t>Architecture</a:t>
            </a:r>
            <a:r>
              <a:rPr spc="-55" dirty="0"/>
              <a:t> </a:t>
            </a:r>
            <a:r>
              <a:rPr dirty="0"/>
              <a:t>&amp;</a:t>
            </a:r>
            <a:r>
              <a:rPr spc="-65" dirty="0"/>
              <a:t> </a:t>
            </a:r>
            <a:r>
              <a:rPr dirty="0"/>
              <a:t>Latent</a:t>
            </a:r>
            <a:r>
              <a:rPr spc="-40" dirty="0"/>
              <a:t> </a:t>
            </a:r>
            <a:r>
              <a:rPr dirty="0"/>
              <a:t>Space</a:t>
            </a:r>
            <a:r>
              <a:rPr spc="-55" dirty="0"/>
              <a:t> </a:t>
            </a:r>
            <a:r>
              <a:rPr spc="-10" dirty="0"/>
              <a:t>Extraction</a:t>
            </a:r>
          </a:p>
        </p:txBody>
      </p:sp>
      <p:sp>
        <p:nvSpPr>
          <p:cNvPr id="4" name="object 4"/>
          <p:cNvSpPr/>
          <p:nvPr/>
        </p:nvSpPr>
        <p:spPr>
          <a:xfrm>
            <a:off x="548640" y="1371600"/>
            <a:ext cx="11094720" cy="0"/>
          </a:xfrm>
          <a:custGeom>
            <a:avLst/>
            <a:gdLst/>
            <a:ahLst/>
            <a:cxnLst/>
            <a:rect l="l" t="t" r="r" b="b"/>
            <a:pathLst>
              <a:path w="11094720">
                <a:moveTo>
                  <a:pt x="0" y="0"/>
                </a:moveTo>
                <a:lnTo>
                  <a:pt x="11094719" y="0"/>
                </a:lnTo>
              </a:path>
            </a:pathLst>
          </a:custGeom>
          <a:ln w="12192">
            <a:solidFill>
              <a:srgbClr val="C4CCE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542290" y="1685289"/>
            <a:ext cx="4218940" cy="881380"/>
            <a:chOff x="542290" y="1685289"/>
            <a:chExt cx="4218940" cy="881380"/>
          </a:xfrm>
        </p:grpSpPr>
        <p:sp>
          <p:nvSpPr>
            <p:cNvPr id="6" name="object 6"/>
            <p:cNvSpPr/>
            <p:nvPr/>
          </p:nvSpPr>
          <p:spPr>
            <a:xfrm>
              <a:off x="548640" y="1691639"/>
              <a:ext cx="4206240" cy="868680"/>
            </a:xfrm>
            <a:custGeom>
              <a:avLst/>
              <a:gdLst/>
              <a:ahLst/>
              <a:cxnLst/>
              <a:rect l="l" t="t" r="r" b="b"/>
              <a:pathLst>
                <a:path w="4206240" h="868680">
                  <a:moveTo>
                    <a:pt x="4160520" y="0"/>
                  </a:moveTo>
                  <a:lnTo>
                    <a:pt x="45719" y="0"/>
                  </a:lnTo>
                  <a:lnTo>
                    <a:pt x="27924" y="3589"/>
                  </a:lnTo>
                  <a:lnTo>
                    <a:pt x="13392" y="13382"/>
                  </a:lnTo>
                  <a:lnTo>
                    <a:pt x="3593" y="27914"/>
                  </a:lnTo>
                  <a:lnTo>
                    <a:pt x="0" y="45720"/>
                  </a:lnTo>
                  <a:lnTo>
                    <a:pt x="0" y="822960"/>
                  </a:lnTo>
                  <a:lnTo>
                    <a:pt x="3593" y="840765"/>
                  </a:lnTo>
                  <a:lnTo>
                    <a:pt x="13392" y="855297"/>
                  </a:lnTo>
                  <a:lnTo>
                    <a:pt x="27924" y="865090"/>
                  </a:lnTo>
                  <a:lnTo>
                    <a:pt x="45719" y="868680"/>
                  </a:lnTo>
                  <a:lnTo>
                    <a:pt x="4160520" y="868680"/>
                  </a:lnTo>
                  <a:lnTo>
                    <a:pt x="4178325" y="865090"/>
                  </a:lnTo>
                  <a:lnTo>
                    <a:pt x="4192857" y="855297"/>
                  </a:lnTo>
                  <a:lnTo>
                    <a:pt x="4202650" y="840765"/>
                  </a:lnTo>
                  <a:lnTo>
                    <a:pt x="4206240" y="822960"/>
                  </a:lnTo>
                  <a:lnTo>
                    <a:pt x="4206240" y="45720"/>
                  </a:lnTo>
                  <a:lnTo>
                    <a:pt x="4202650" y="27914"/>
                  </a:lnTo>
                  <a:lnTo>
                    <a:pt x="4192857" y="13382"/>
                  </a:lnTo>
                  <a:lnTo>
                    <a:pt x="4178325" y="3589"/>
                  </a:lnTo>
                  <a:lnTo>
                    <a:pt x="4160520" y="0"/>
                  </a:lnTo>
                  <a:close/>
                </a:path>
              </a:pathLst>
            </a:custGeom>
            <a:solidFill>
              <a:srgbClr val="F4F6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48640" y="1691639"/>
              <a:ext cx="4206240" cy="868680"/>
            </a:xfrm>
            <a:custGeom>
              <a:avLst/>
              <a:gdLst/>
              <a:ahLst/>
              <a:cxnLst/>
              <a:rect l="l" t="t" r="r" b="b"/>
              <a:pathLst>
                <a:path w="4206240" h="868680">
                  <a:moveTo>
                    <a:pt x="0" y="45720"/>
                  </a:moveTo>
                  <a:lnTo>
                    <a:pt x="3593" y="27914"/>
                  </a:lnTo>
                  <a:lnTo>
                    <a:pt x="13392" y="13382"/>
                  </a:lnTo>
                  <a:lnTo>
                    <a:pt x="27924" y="3589"/>
                  </a:lnTo>
                  <a:lnTo>
                    <a:pt x="45719" y="0"/>
                  </a:lnTo>
                  <a:lnTo>
                    <a:pt x="4160520" y="0"/>
                  </a:lnTo>
                  <a:lnTo>
                    <a:pt x="4178325" y="3589"/>
                  </a:lnTo>
                  <a:lnTo>
                    <a:pt x="4192857" y="13382"/>
                  </a:lnTo>
                  <a:lnTo>
                    <a:pt x="4202650" y="27914"/>
                  </a:lnTo>
                  <a:lnTo>
                    <a:pt x="4206240" y="45720"/>
                  </a:lnTo>
                  <a:lnTo>
                    <a:pt x="4206240" y="822960"/>
                  </a:lnTo>
                  <a:lnTo>
                    <a:pt x="4202650" y="840765"/>
                  </a:lnTo>
                  <a:lnTo>
                    <a:pt x="4192857" y="855297"/>
                  </a:lnTo>
                  <a:lnTo>
                    <a:pt x="4178325" y="865090"/>
                  </a:lnTo>
                  <a:lnTo>
                    <a:pt x="4160520" y="868680"/>
                  </a:lnTo>
                  <a:lnTo>
                    <a:pt x="45719" y="868680"/>
                  </a:lnTo>
                  <a:lnTo>
                    <a:pt x="27924" y="865090"/>
                  </a:lnTo>
                  <a:lnTo>
                    <a:pt x="13392" y="855297"/>
                  </a:lnTo>
                  <a:lnTo>
                    <a:pt x="3593" y="840765"/>
                  </a:lnTo>
                  <a:lnTo>
                    <a:pt x="0" y="822960"/>
                  </a:lnTo>
                  <a:lnTo>
                    <a:pt x="0" y="45720"/>
                  </a:lnTo>
                  <a:close/>
                </a:path>
              </a:pathLst>
            </a:custGeom>
            <a:ln w="12191">
              <a:solidFill>
                <a:srgbClr val="D6DE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48640" y="1691639"/>
            <a:ext cx="4206240" cy="868680"/>
          </a:xfrm>
          <a:prstGeom prst="rect">
            <a:avLst/>
          </a:prstGeom>
        </p:spPr>
        <p:txBody>
          <a:bodyPr vert="horz" wrap="square" lIns="0" tIns="12382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75"/>
              </a:spcBef>
            </a:pPr>
            <a:endParaRPr sz="1350">
              <a:latin typeface="Times New Roman"/>
              <a:cs typeface="Times New Roman"/>
            </a:endParaRPr>
          </a:p>
          <a:p>
            <a:pPr marL="228600">
              <a:lnSpc>
                <a:spcPct val="100000"/>
              </a:lnSpc>
            </a:pPr>
            <a:r>
              <a:rPr sz="1350" b="1" dirty="0">
                <a:solidFill>
                  <a:srgbClr val="1E2760"/>
                </a:solidFill>
                <a:latin typeface="Calibri"/>
                <a:cs typeface="Calibri"/>
              </a:rPr>
              <a:t>STFT</a:t>
            </a:r>
            <a:r>
              <a:rPr sz="1350" b="1" spc="-5" dirty="0">
                <a:solidFill>
                  <a:srgbClr val="1E2760"/>
                </a:solidFill>
                <a:latin typeface="Calibri"/>
                <a:cs typeface="Calibri"/>
              </a:rPr>
              <a:t> </a:t>
            </a:r>
            <a:r>
              <a:rPr sz="1350" b="1" dirty="0">
                <a:solidFill>
                  <a:srgbClr val="1E2760"/>
                </a:solidFill>
                <a:latin typeface="Calibri"/>
                <a:cs typeface="Calibri"/>
              </a:rPr>
              <a:t>image</a:t>
            </a:r>
            <a:r>
              <a:rPr sz="1350" b="1" spc="254" dirty="0">
                <a:solidFill>
                  <a:srgbClr val="1E2760"/>
                </a:solidFill>
                <a:latin typeface="Calibri"/>
                <a:cs typeface="Calibri"/>
              </a:rPr>
              <a:t> </a:t>
            </a:r>
            <a:r>
              <a:rPr sz="1350" b="1" dirty="0">
                <a:solidFill>
                  <a:srgbClr val="1E2760"/>
                </a:solidFill>
                <a:latin typeface="Calibri"/>
                <a:cs typeface="Calibri"/>
              </a:rPr>
              <a:t>→</a:t>
            </a:r>
            <a:r>
              <a:rPr sz="1350" b="1" spc="260" dirty="0">
                <a:solidFill>
                  <a:srgbClr val="1E2760"/>
                </a:solidFill>
                <a:latin typeface="Calibri"/>
                <a:cs typeface="Calibri"/>
              </a:rPr>
              <a:t> </a:t>
            </a:r>
            <a:r>
              <a:rPr sz="1350" b="1" spc="-10" dirty="0">
                <a:solidFill>
                  <a:srgbClr val="1E2760"/>
                </a:solidFill>
                <a:latin typeface="Calibri"/>
                <a:cs typeface="Calibri"/>
              </a:rPr>
              <a:t>ResNet-</a:t>
            </a:r>
            <a:r>
              <a:rPr sz="1350" b="1" dirty="0">
                <a:solidFill>
                  <a:srgbClr val="1E2760"/>
                </a:solidFill>
                <a:latin typeface="Calibri"/>
                <a:cs typeface="Calibri"/>
              </a:rPr>
              <a:t>50</a:t>
            </a:r>
            <a:r>
              <a:rPr sz="1350" b="1" spc="5" dirty="0">
                <a:solidFill>
                  <a:srgbClr val="1E2760"/>
                </a:solidFill>
                <a:latin typeface="Calibri"/>
                <a:cs typeface="Calibri"/>
              </a:rPr>
              <a:t> </a:t>
            </a:r>
            <a:r>
              <a:rPr sz="1350" b="1" spc="-10" dirty="0">
                <a:solidFill>
                  <a:srgbClr val="1E2760"/>
                </a:solidFill>
                <a:latin typeface="Calibri"/>
                <a:cs typeface="Calibri"/>
              </a:rPr>
              <a:t>backbone</a:t>
            </a:r>
            <a:r>
              <a:rPr sz="1350" b="1" spc="-15" dirty="0">
                <a:solidFill>
                  <a:srgbClr val="1E2760"/>
                </a:solidFill>
                <a:latin typeface="Calibri"/>
                <a:cs typeface="Calibri"/>
              </a:rPr>
              <a:t> </a:t>
            </a:r>
            <a:r>
              <a:rPr sz="1350" b="1" spc="-10" dirty="0">
                <a:solidFill>
                  <a:srgbClr val="1E2760"/>
                </a:solidFill>
                <a:latin typeface="Calibri"/>
                <a:cs typeface="Calibri"/>
              </a:rPr>
              <a:t>(compact)</a:t>
            </a:r>
            <a:endParaRPr sz="135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7430769" y="1685289"/>
            <a:ext cx="4218940" cy="881380"/>
            <a:chOff x="7430769" y="1685289"/>
            <a:chExt cx="4218940" cy="881380"/>
          </a:xfrm>
        </p:grpSpPr>
        <p:sp>
          <p:nvSpPr>
            <p:cNvPr id="10" name="object 10"/>
            <p:cNvSpPr/>
            <p:nvPr/>
          </p:nvSpPr>
          <p:spPr>
            <a:xfrm>
              <a:off x="7437119" y="1691639"/>
              <a:ext cx="4206240" cy="868680"/>
            </a:xfrm>
            <a:custGeom>
              <a:avLst/>
              <a:gdLst/>
              <a:ahLst/>
              <a:cxnLst/>
              <a:rect l="l" t="t" r="r" b="b"/>
              <a:pathLst>
                <a:path w="4206240" h="868680">
                  <a:moveTo>
                    <a:pt x="4160520" y="0"/>
                  </a:moveTo>
                  <a:lnTo>
                    <a:pt x="45720" y="0"/>
                  </a:lnTo>
                  <a:lnTo>
                    <a:pt x="27914" y="3589"/>
                  </a:lnTo>
                  <a:lnTo>
                    <a:pt x="13382" y="13382"/>
                  </a:lnTo>
                  <a:lnTo>
                    <a:pt x="3589" y="27914"/>
                  </a:lnTo>
                  <a:lnTo>
                    <a:pt x="0" y="45720"/>
                  </a:lnTo>
                  <a:lnTo>
                    <a:pt x="0" y="822960"/>
                  </a:lnTo>
                  <a:lnTo>
                    <a:pt x="3589" y="840765"/>
                  </a:lnTo>
                  <a:lnTo>
                    <a:pt x="13382" y="855297"/>
                  </a:lnTo>
                  <a:lnTo>
                    <a:pt x="27914" y="865090"/>
                  </a:lnTo>
                  <a:lnTo>
                    <a:pt x="45720" y="868680"/>
                  </a:lnTo>
                  <a:lnTo>
                    <a:pt x="4160520" y="868680"/>
                  </a:lnTo>
                  <a:lnTo>
                    <a:pt x="4178325" y="865090"/>
                  </a:lnTo>
                  <a:lnTo>
                    <a:pt x="4192857" y="855297"/>
                  </a:lnTo>
                  <a:lnTo>
                    <a:pt x="4202650" y="840765"/>
                  </a:lnTo>
                  <a:lnTo>
                    <a:pt x="4206239" y="822960"/>
                  </a:lnTo>
                  <a:lnTo>
                    <a:pt x="4206239" y="45720"/>
                  </a:lnTo>
                  <a:lnTo>
                    <a:pt x="4202650" y="27914"/>
                  </a:lnTo>
                  <a:lnTo>
                    <a:pt x="4192857" y="13382"/>
                  </a:lnTo>
                  <a:lnTo>
                    <a:pt x="4178325" y="3589"/>
                  </a:lnTo>
                  <a:lnTo>
                    <a:pt x="4160520" y="0"/>
                  </a:lnTo>
                  <a:close/>
                </a:path>
              </a:pathLst>
            </a:custGeom>
            <a:solidFill>
              <a:srgbClr val="F4F6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437119" y="1691639"/>
              <a:ext cx="4206240" cy="868680"/>
            </a:xfrm>
            <a:custGeom>
              <a:avLst/>
              <a:gdLst/>
              <a:ahLst/>
              <a:cxnLst/>
              <a:rect l="l" t="t" r="r" b="b"/>
              <a:pathLst>
                <a:path w="4206240" h="868680">
                  <a:moveTo>
                    <a:pt x="0" y="45720"/>
                  </a:moveTo>
                  <a:lnTo>
                    <a:pt x="3589" y="27914"/>
                  </a:lnTo>
                  <a:lnTo>
                    <a:pt x="13382" y="13382"/>
                  </a:lnTo>
                  <a:lnTo>
                    <a:pt x="27914" y="3589"/>
                  </a:lnTo>
                  <a:lnTo>
                    <a:pt x="45720" y="0"/>
                  </a:lnTo>
                  <a:lnTo>
                    <a:pt x="4160520" y="0"/>
                  </a:lnTo>
                  <a:lnTo>
                    <a:pt x="4178325" y="3589"/>
                  </a:lnTo>
                  <a:lnTo>
                    <a:pt x="4192857" y="13382"/>
                  </a:lnTo>
                  <a:lnTo>
                    <a:pt x="4202650" y="27914"/>
                  </a:lnTo>
                  <a:lnTo>
                    <a:pt x="4206239" y="45720"/>
                  </a:lnTo>
                  <a:lnTo>
                    <a:pt x="4206239" y="822960"/>
                  </a:lnTo>
                  <a:lnTo>
                    <a:pt x="4202650" y="840765"/>
                  </a:lnTo>
                  <a:lnTo>
                    <a:pt x="4192857" y="855297"/>
                  </a:lnTo>
                  <a:lnTo>
                    <a:pt x="4178325" y="865090"/>
                  </a:lnTo>
                  <a:lnTo>
                    <a:pt x="4160520" y="868680"/>
                  </a:lnTo>
                  <a:lnTo>
                    <a:pt x="45720" y="868680"/>
                  </a:lnTo>
                  <a:lnTo>
                    <a:pt x="27914" y="865090"/>
                  </a:lnTo>
                  <a:lnTo>
                    <a:pt x="13382" y="855297"/>
                  </a:lnTo>
                  <a:lnTo>
                    <a:pt x="3589" y="840765"/>
                  </a:lnTo>
                  <a:lnTo>
                    <a:pt x="0" y="822960"/>
                  </a:lnTo>
                  <a:lnTo>
                    <a:pt x="0" y="45720"/>
                  </a:lnTo>
                  <a:close/>
                </a:path>
              </a:pathLst>
            </a:custGeom>
            <a:ln w="12191">
              <a:solidFill>
                <a:srgbClr val="D6DE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7437119" y="1691639"/>
            <a:ext cx="4206240" cy="868680"/>
          </a:xfrm>
          <a:prstGeom prst="rect">
            <a:avLst/>
          </a:prstGeom>
        </p:spPr>
        <p:txBody>
          <a:bodyPr vert="horz" wrap="square" lIns="0" tIns="12382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75"/>
              </a:spcBef>
            </a:pPr>
            <a:endParaRPr sz="1350">
              <a:latin typeface="Times New Roman"/>
              <a:cs typeface="Times New Roman"/>
            </a:endParaRPr>
          </a:p>
          <a:p>
            <a:pPr marL="229870">
              <a:lnSpc>
                <a:spcPct val="100000"/>
              </a:lnSpc>
            </a:pPr>
            <a:r>
              <a:rPr sz="1350" b="1" dirty="0">
                <a:solidFill>
                  <a:srgbClr val="1E2760"/>
                </a:solidFill>
                <a:latin typeface="Calibri"/>
                <a:cs typeface="Calibri"/>
              </a:rPr>
              <a:t>CWT</a:t>
            </a:r>
            <a:r>
              <a:rPr sz="1350" b="1" spc="-25" dirty="0">
                <a:solidFill>
                  <a:srgbClr val="1E2760"/>
                </a:solidFill>
                <a:latin typeface="Calibri"/>
                <a:cs typeface="Calibri"/>
              </a:rPr>
              <a:t> </a:t>
            </a:r>
            <a:r>
              <a:rPr sz="1350" b="1" dirty="0">
                <a:solidFill>
                  <a:srgbClr val="1E2760"/>
                </a:solidFill>
                <a:latin typeface="Calibri"/>
                <a:cs typeface="Calibri"/>
              </a:rPr>
              <a:t>image</a:t>
            </a:r>
            <a:r>
              <a:rPr sz="1350" b="1" spc="265" dirty="0">
                <a:solidFill>
                  <a:srgbClr val="1E2760"/>
                </a:solidFill>
                <a:latin typeface="Calibri"/>
                <a:cs typeface="Calibri"/>
              </a:rPr>
              <a:t> </a:t>
            </a:r>
            <a:r>
              <a:rPr sz="1350" b="1" dirty="0">
                <a:solidFill>
                  <a:srgbClr val="1E2760"/>
                </a:solidFill>
                <a:latin typeface="Calibri"/>
                <a:cs typeface="Calibri"/>
              </a:rPr>
              <a:t>→</a:t>
            </a:r>
            <a:r>
              <a:rPr sz="1350" b="1" spc="275" dirty="0">
                <a:solidFill>
                  <a:srgbClr val="1E2760"/>
                </a:solidFill>
                <a:latin typeface="Calibri"/>
                <a:cs typeface="Calibri"/>
              </a:rPr>
              <a:t> </a:t>
            </a:r>
            <a:r>
              <a:rPr sz="1350" b="1" spc="-10" dirty="0">
                <a:solidFill>
                  <a:srgbClr val="1E2760"/>
                </a:solidFill>
                <a:latin typeface="Calibri"/>
                <a:cs typeface="Calibri"/>
              </a:rPr>
              <a:t>ResNet-</a:t>
            </a:r>
            <a:r>
              <a:rPr sz="1350" b="1" dirty="0">
                <a:solidFill>
                  <a:srgbClr val="1E2760"/>
                </a:solidFill>
                <a:latin typeface="Calibri"/>
                <a:cs typeface="Calibri"/>
              </a:rPr>
              <a:t>50</a:t>
            </a:r>
            <a:r>
              <a:rPr sz="1350" b="1" spc="10" dirty="0">
                <a:solidFill>
                  <a:srgbClr val="1E2760"/>
                </a:solidFill>
                <a:latin typeface="Calibri"/>
                <a:cs typeface="Calibri"/>
              </a:rPr>
              <a:t> </a:t>
            </a:r>
            <a:r>
              <a:rPr sz="1350" b="1" spc="-10" dirty="0">
                <a:solidFill>
                  <a:srgbClr val="1E2760"/>
                </a:solidFill>
                <a:latin typeface="Calibri"/>
                <a:cs typeface="Calibri"/>
              </a:rPr>
              <a:t>backbone (compact)</a:t>
            </a:r>
            <a:endParaRPr sz="135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645664" y="2561844"/>
            <a:ext cx="6903720" cy="1513840"/>
            <a:chOff x="2645664" y="2561844"/>
            <a:chExt cx="6903720" cy="1513840"/>
          </a:xfrm>
        </p:grpSpPr>
        <p:sp>
          <p:nvSpPr>
            <p:cNvPr id="14" name="object 14"/>
            <p:cNvSpPr/>
            <p:nvPr/>
          </p:nvSpPr>
          <p:spPr>
            <a:xfrm>
              <a:off x="2653284" y="2561844"/>
              <a:ext cx="6888480" cy="822960"/>
            </a:xfrm>
            <a:custGeom>
              <a:avLst/>
              <a:gdLst/>
              <a:ahLst/>
              <a:cxnLst/>
              <a:rect l="l" t="t" r="r" b="b"/>
              <a:pathLst>
                <a:path w="6888480" h="822960">
                  <a:moveTo>
                    <a:pt x="0" y="0"/>
                  </a:moveTo>
                  <a:lnTo>
                    <a:pt x="0" y="502919"/>
                  </a:lnTo>
                </a:path>
                <a:path w="6888480" h="822960">
                  <a:moveTo>
                    <a:pt x="6888480" y="0"/>
                  </a:moveTo>
                  <a:lnTo>
                    <a:pt x="6888480" y="502919"/>
                  </a:lnTo>
                </a:path>
                <a:path w="6888480" h="822960">
                  <a:moveTo>
                    <a:pt x="0" y="502919"/>
                  </a:moveTo>
                  <a:lnTo>
                    <a:pt x="6888480" y="502919"/>
                  </a:lnTo>
                </a:path>
                <a:path w="6888480" h="822960">
                  <a:moveTo>
                    <a:pt x="3444240" y="502919"/>
                  </a:moveTo>
                  <a:lnTo>
                    <a:pt x="3444240" y="822959"/>
                  </a:lnTo>
                </a:path>
              </a:pathLst>
            </a:custGeom>
            <a:ln w="15240">
              <a:solidFill>
                <a:srgbClr val="C4CC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718560" y="3383280"/>
              <a:ext cx="4754880" cy="685800"/>
            </a:xfrm>
            <a:custGeom>
              <a:avLst/>
              <a:gdLst/>
              <a:ahLst/>
              <a:cxnLst/>
              <a:rect l="l" t="t" r="r" b="b"/>
              <a:pathLst>
                <a:path w="4754880" h="685800">
                  <a:moveTo>
                    <a:pt x="4709160" y="0"/>
                  </a:moveTo>
                  <a:lnTo>
                    <a:pt x="45719" y="0"/>
                  </a:lnTo>
                  <a:lnTo>
                    <a:pt x="27914" y="3589"/>
                  </a:lnTo>
                  <a:lnTo>
                    <a:pt x="13382" y="13382"/>
                  </a:lnTo>
                  <a:lnTo>
                    <a:pt x="3589" y="27914"/>
                  </a:lnTo>
                  <a:lnTo>
                    <a:pt x="0" y="45720"/>
                  </a:lnTo>
                  <a:lnTo>
                    <a:pt x="0" y="640080"/>
                  </a:lnTo>
                  <a:lnTo>
                    <a:pt x="3589" y="657885"/>
                  </a:lnTo>
                  <a:lnTo>
                    <a:pt x="13382" y="672417"/>
                  </a:lnTo>
                  <a:lnTo>
                    <a:pt x="27914" y="682210"/>
                  </a:lnTo>
                  <a:lnTo>
                    <a:pt x="45719" y="685800"/>
                  </a:lnTo>
                  <a:lnTo>
                    <a:pt x="4709160" y="685800"/>
                  </a:lnTo>
                  <a:lnTo>
                    <a:pt x="4726965" y="682210"/>
                  </a:lnTo>
                  <a:lnTo>
                    <a:pt x="4741497" y="672417"/>
                  </a:lnTo>
                  <a:lnTo>
                    <a:pt x="4751290" y="657885"/>
                  </a:lnTo>
                  <a:lnTo>
                    <a:pt x="4754880" y="640080"/>
                  </a:lnTo>
                  <a:lnTo>
                    <a:pt x="4754880" y="45720"/>
                  </a:lnTo>
                  <a:lnTo>
                    <a:pt x="4751290" y="27914"/>
                  </a:lnTo>
                  <a:lnTo>
                    <a:pt x="4741497" y="13382"/>
                  </a:lnTo>
                  <a:lnTo>
                    <a:pt x="4726965" y="3589"/>
                  </a:lnTo>
                  <a:lnTo>
                    <a:pt x="4709160" y="0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718560" y="3383280"/>
              <a:ext cx="4754880" cy="685800"/>
            </a:xfrm>
            <a:custGeom>
              <a:avLst/>
              <a:gdLst/>
              <a:ahLst/>
              <a:cxnLst/>
              <a:rect l="l" t="t" r="r" b="b"/>
              <a:pathLst>
                <a:path w="4754880" h="685800">
                  <a:moveTo>
                    <a:pt x="0" y="45720"/>
                  </a:moveTo>
                  <a:lnTo>
                    <a:pt x="3589" y="27914"/>
                  </a:lnTo>
                  <a:lnTo>
                    <a:pt x="13382" y="13382"/>
                  </a:lnTo>
                  <a:lnTo>
                    <a:pt x="27914" y="3589"/>
                  </a:lnTo>
                  <a:lnTo>
                    <a:pt x="45719" y="0"/>
                  </a:lnTo>
                  <a:lnTo>
                    <a:pt x="4709160" y="0"/>
                  </a:lnTo>
                  <a:lnTo>
                    <a:pt x="4726965" y="3589"/>
                  </a:lnTo>
                  <a:lnTo>
                    <a:pt x="4741497" y="13382"/>
                  </a:lnTo>
                  <a:lnTo>
                    <a:pt x="4751290" y="27914"/>
                  </a:lnTo>
                  <a:lnTo>
                    <a:pt x="4754880" y="45720"/>
                  </a:lnTo>
                  <a:lnTo>
                    <a:pt x="4754880" y="640080"/>
                  </a:lnTo>
                  <a:lnTo>
                    <a:pt x="4751290" y="657885"/>
                  </a:lnTo>
                  <a:lnTo>
                    <a:pt x="4741497" y="672417"/>
                  </a:lnTo>
                  <a:lnTo>
                    <a:pt x="4726965" y="682210"/>
                  </a:lnTo>
                  <a:lnTo>
                    <a:pt x="4709160" y="685800"/>
                  </a:lnTo>
                  <a:lnTo>
                    <a:pt x="45719" y="685800"/>
                  </a:lnTo>
                  <a:lnTo>
                    <a:pt x="27914" y="682210"/>
                  </a:lnTo>
                  <a:lnTo>
                    <a:pt x="13382" y="672417"/>
                  </a:lnTo>
                  <a:lnTo>
                    <a:pt x="3589" y="657885"/>
                  </a:lnTo>
                  <a:lnTo>
                    <a:pt x="0" y="640080"/>
                  </a:lnTo>
                  <a:lnTo>
                    <a:pt x="0" y="45720"/>
                  </a:lnTo>
                  <a:close/>
                </a:path>
              </a:pathLst>
            </a:custGeom>
            <a:ln w="12192">
              <a:solidFill>
                <a:srgbClr val="1E27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3718559" y="3383279"/>
            <a:ext cx="4754880" cy="68580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80"/>
              </a:spcBef>
            </a:pPr>
            <a:endParaRPr sz="14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Global</a:t>
            </a:r>
            <a:r>
              <a:rPr sz="1400" b="1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Average</a:t>
            </a:r>
            <a:r>
              <a:rPr sz="1400" b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Pooling</a:t>
            </a:r>
            <a:r>
              <a:rPr sz="14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20" dirty="0">
                <a:solidFill>
                  <a:srgbClr val="FFFFFF"/>
                </a:solidFill>
                <a:latin typeface="Calibri"/>
                <a:cs typeface="Calibri"/>
              </a:rPr>
              <a:t>(GAP)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35940" y="6614566"/>
            <a:ext cx="1261110" cy="1473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10"/>
              </a:lnSpc>
            </a:pPr>
            <a:r>
              <a:rPr sz="950" dirty="0">
                <a:solidFill>
                  <a:srgbClr val="525A78"/>
                </a:solidFill>
                <a:latin typeface="Calibri"/>
                <a:cs typeface="Calibri"/>
              </a:rPr>
              <a:t>Part</a:t>
            </a:r>
            <a:r>
              <a:rPr sz="950" spc="-45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525A78"/>
                </a:solidFill>
                <a:latin typeface="Calibri"/>
                <a:cs typeface="Calibri"/>
              </a:rPr>
              <a:t>1</a:t>
            </a:r>
            <a:r>
              <a:rPr sz="950" spc="25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525A78"/>
                </a:solidFill>
                <a:latin typeface="Calibri"/>
                <a:cs typeface="Calibri"/>
              </a:rPr>
              <a:t>—</a:t>
            </a:r>
            <a:r>
              <a:rPr sz="950" spc="-15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525A78"/>
                </a:solidFill>
                <a:latin typeface="Calibri"/>
                <a:cs typeface="Calibri"/>
              </a:rPr>
              <a:t>Paper</a:t>
            </a:r>
            <a:r>
              <a:rPr sz="950" spc="-15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525A78"/>
                </a:solidFill>
                <a:latin typeface="Calibri"/>
                <a:cs typeface="Calibri"/>
              </a:rPr>
              <a:t>Summary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8425">
              <a:lnSpc>
                <a:spcPts val="1010"/>
              </a:lnSpc>
            </a:pPr>
            <a:r>
              <a:rPr spc="-50" dirty="0"/>
              <a:t>5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535940" y="4503547"/>
            <a:ext cx="10855960" cy="10052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solidFill>
                  <a:srgbClr val="1E2760"/>
                </a:solidFill>
                <a:latin typeface="Calibri"/>
                <a:cs typeface="Calibri"/>
              </a:rPr>
              <a:t>Compact</a:t>
            </a:r>
            <a:r>
              <a:rPr sz="1300" b="1" spc="-45" dirty="0">
                <a:solidFill>
                  <a:srgbClr val="1E2760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1E2760"/>
                </a:solidFill>
                <a:latin typeface="Calibri"/>
                <a:cs typeface="Calibri"/>
              </a:rPr>
              <a:t>backbones:</a:t>
            </a:r>
            <a:r>
              <a:rPr sz="1300" b="1" spc="210" dirty="0">
                <a:solidFill>
                  <a:srgbClr val="1E276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12846"/>
                </a:solidFill>
                <a:latin typeface="Calibri"/>
                <a:cs typeface="Calibri"/>
              </a:rPr>
              <a:t>redundant</a:t>
            </a:r>
            <a:r>
              <a:rPr sz="1300" spc="3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deep</a:t>
            </a:r>
            <a:r>
              <a:rPr sz="1300" spc="-1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12846"/>
                </a:solidFill>
                <a:latin typeface="Calibri"/>
                <a:cs typeface="Calibri"/>
              </a:rPr>
              <a:t>layers 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(Stage</a:t>
            </a:r>
            <a:r>
              <a:rPr sz="1300" spc="-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4)</a:t>
            </a:r>
            <a:r>
              <a:rPr sz="1300" spc="-1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were</a:t>
            </a:r>
            <a:r>
              <a:rPr sz="1300" spc="-4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12846"/>
                </a:solidFill>
                <a:latin typeface="Calibri"/>
                <a:cs typeface="Calibri"/>
              </a:rPr>
              <a:t>physically</a:t>
            </a:r>
            <a:r>
              <a:rPr sz="1300" spc="2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12846"/>
                </a:solidFill>
                <a:latin typeface="Calibri"/>
                <a:cs typeface="Calibri"/>
              </a:rPr>
              <a:t>removed</a:t>
            </a:r>
            <a:r>
              <a:rPr sz="1300" spc="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from</a:t>
            </a:r>
            <a:r>
              <a:rPr sz="1300" spc="-1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each</a:t>
            </a:r>
            <a:r>
              <a:rPr sz="1300" spc="-1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12846"/>
                </a:solidFill>
                <a:latin typeface="Calibri"/>
                <a:cs typeface="Calibri"/>
              </a:rPr>
              <a:t>ResNet-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50</a:t>
            </a:r>
            <a:r>
              <a:rPr sz="1300" spc="-3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to</a:t>
            </a:r>
            <a:r>
              <a:rPr sz="1300" spc="-2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reduce</a:t>
            </a:r>
            <a:r>
              <a:rPr sz="1300" spc="-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12846"/>
                </a:solidFill>
                <a:latin typeface="Calibri"/>
                <a:cs typeface="Calibri"/>
              </a:rPr>
              <a:t>computation.</a:t>
            </a:r>
            <a:endParaRPr sz="13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40"/>
              </a:spcBef>
            </a:pP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300" b="1" dirty="0">
                <a:solidFill>
                  <a:srgbClr val="1E2760"/>
                </a:solidFill>
                <a:latin typeface="Calibri"/>
                <a:cs typeface="Calibri"/>
              </a:rPr>
              <a:t>Latent</a:t>
            </a:r>
            <a:r>
              <a:rPr sz="1300" b="1" spc="-35" dirty="0">
                <a:solidFill>
                  <a:srgbClr val="1E2760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1E2760"/>
                </a:solidFill>
                <a:latin typeface="Calibri"/>
                <a:cs typeface="Calibri"/>
              </a:rPr>
              <a:t>space</a:t>
            </a:r>
            <a:r>
              <a:rPr sz="1300" b="1" spc="-60" dirty="0">
                <a:solidFill>
                  <a:srgbClr val="1E2760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1E2760"/>
                </a:solidFill>
                <a:latin typeface="Calibri"/>
                <a:cs typeface="Calibri"/>
              </a:rPr>
              <a:t>extraction:</a:t>
            </a:r>
            <a:r>
              <a:rPr sz="1300" b="1" spc="180" dirty="0">
                <a:solidFill>
                  <a:srgbClr val="1E276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GAP</a:t>
            </a:r>
            <a:r>
              <a:rPr sz="1300" spc="-4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12846"/>
                </a:solidFill>
                <a:latin typeface="Calibri"/>
                <a:cs typeface="Calibri"/>
              </a:rPr>
              <a:t>flattens</a:t>
            </a:r>
            <a:r>
              <a:rPr sz="1300" spc="4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each</a:t>
            </a:r>
            <a:r>
              <a:rPr sz="1300" spc="-4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3D</a:t>
            </a:r>
            <a:r>
              <a:rPr sz="1300" spc="-4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12846"/>
                </a:solidFill>
                <a:latin typeface="Calibri"/>
                <a:cs typeface="Calibri"/>
              </a:rPr>
              <a:t>convolutional</a:t>
            </a:r>
            <a:r>
              <a:rPr sz="1300" spc="5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map</a:t>
            </a:r>
            <a:r>
              <a:rPr sz="1300" spc="-4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into</a:t>
            </a:r>
            <a:r>
              <a:rPr sz="1300" spc="1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a</a:t>
            </a:r>
            <a:r>
              <a:rPr sz="1300" spc="-5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12846"/>
                </a:solidFill>
                <a:latin typeface="Calibri"/>
                <a:cs typeface="Calibri"/>
              </a:rPr>
              <a:t>1024-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dimensional</a:t>
            </a:r>
            <a:r>
              <a:rPr sz="1300" spc="5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12846"/>
                </a:solidFill>
                <a:latin typeface="Calibri"/>
                <a:cs typeface="Calibri"/>
              </a:rPr>
              <a:t>feature</a:t>
            </a:r>
            <a:r>
              <a:rPr sz="1300" spc="-2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descriptor</a:t>
            </a:r>
            <a:r>
              <a:rPr sz="1300" spc="1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—</a:t>
            </a:r>
            <a:r>
              <a:rPr sz="1300" spc="-3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the</a:t>
            </a:r>
            <a:r>
              <a:rPr sz="1300" spc="-3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embedding</a:t>
            </a:r>
            <a:r>
              <a:rPr sz="1300" spc="3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vector</a:t>
            </a:r>
            <a:r>
              <a:rPr sz="1300" spc="-2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12846"/>
                </a:solidFill>
                <a:latin typeface="Calibri"/>
                <a:cs typeface="Calibri"/>
              </a:rPr>
              <a:t>representing</a:t>
            </a:r>
            <a:r>
              <a:rPr sz="1300" spc="3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the</a:t>
            </a:r>
            <a:r>
              <a:rPr sz="1300" spc="-2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12846"/>
                </a:solidFill>
                <a:latin typeface="Calibri"/>
                <a:cs typeface="Calibri"/>
              </a:rPr>
              <a:t>vibration</a:t>
            </a: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10"/>
              </a:spcBef>
            </a:pP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signal's</a:t>
            </a:r>
            <a:r>
              <a:rPr sz="1300" spc="-1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12846"/>
                </a:solidFill>
                <a:latin typeface="Calibri"/>
                <a:cs typeface="Calibri"/>
              </a:rPr>
              <a:t>coordinates</a:t>
            </a:r>
            <a:r>
              <a:rPr sz="1300" spc="3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in</a:t>
            </a:r>
            <a:r>
              <a:rPr sz="1300" spc="-3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the</a:t>
            </a:r>
            <a:r>
              <a:rPr sz="1300" spc="-5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model's</a:t>
            </a:r>
            <a:r>
              <a:rPr sz="1300" spc="-1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abstract</a:t>
            </a:r>
            <a:r>
              <a:rPr sz="1300" spc="-3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latent</a:t>
            </a:r>
            <a:r>
              <a:rPr sz="1300" spc="-10" dirty="0">
                <a:solidFill>
                  <a:srgbClr val="212846"/>
                </a:solidFill>
                <a:latin typeface="Calibri"/>
                <a:cs typeface="Calibri"/>
              </a:rPr>
              <a:t> space.</a:t>
            </a:r>
            <a:endParaRPr sz="1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411556"/>
            <a:ext cx="1150620" cy="2019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50" b="1" spc="100" dirty="0">
                <a:solidFill>
                  <a:srgbClr val="525A78"/>
                </a:solidFill>
                <a:latin typeface="Calibri"/>
                <a:cs typeface="Calibri"/>
              </a:rPr>
              <a:t>ARCHI</a:t>
            </a:r>
            <a:r>
              <a:rPr sz="1150" b="1" spc="-110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1150" b="1" spc="-10" dirty="0">
                <a:solidFill>
                  <a:srgbClr val="525A78"/>
                </a:solidFill>
                <a:latin typeface="Calibri"/>
                <a:cs typeface="Calibri"/>
              </a:rPr>
              <a:t>T</a:t>
            </a:r>
            <a:r>
              <a:rPr sz="1150" b="1" spc="-100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1150" b="1" spc="80" dirty="0">
                <a:solidFill>
                  <a:srgbClr val="525A78"/>
                </a:solidFill>
                <a:latin typeface="Calibri"/>
                <a:cs typeface="Calibri"/>
              </a:rPr>
              <a:t>ECT</a:t>
            </a:r>
            <a:r>
              <a:rPr sz="1150" b="1" spc="-100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1150" b="1" spc="60" dirty="0">
                <a:solidFill>
                  <a:srgbClr val="525A78"/>
                </a:solidFill>
                <a:latin typeface="Calibri"/>
                <a:cs typeface="Calibri"/>
              </a:rPr>
              <a:t>UR</a:t>
            </a:r>
            <a:r>
              <a:rPr sz="1150" b="1" spc="-80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1150" b="1" spc="-50" dirty="0">
                <a:solidFill>
                  <a:srgbClr val="525A78"/>
                </a:solidFill>
                <a:latin typeface="Calibri"/>
                <a:cs typeface="Calibri"/>
              </a:rPr>
              <a:t>E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Feature</a:t>
            </a:r>
            <a:r>
              <a:rPr spc="-40" dirty="0"/>
              <a:t> </a:t>
            </a:r>
            <a:r>
              <a:rPr dirty="0"/>
              <a:t>Fusion</a:t>
            </a:r>
            <a:r>
              <a:rPr spc="-60" dirty="0"/>
              <a:t> </a:t>
            </a:r>
            <a:r>
              <a:rPr dirty="0"/>
              <a:t>&amp;</a:t>
            </a:r>
            <a:r>
              <a:rPr spc="-65" dirty="0"/>
              <a:t> </a:t>
            </a:r>
            <a:r>
              <a:rPr dirty="0"/>
              <a:t>Classification</a:t>
            </a:r>
            <a:r>
              <a:rPr spc="-114" dirty="0"/>
              <a:t> </a:t>
            </a:r>
            <a:r>
              <a:rPr spc="-20" dirty="0"/>
              <a:t>Head</a:t>
            </a:r>
          </a:p>
        </p:txBody>
      </p:sp>
      <p:sp>
        <p:nvSpPr>
          <p:cNvPr id="4" name="object 4"/>
          <p:cNvSpPr/>
          <p:nvPr/>
        </p:nvSpPr>
        <p:spPr>
          <a:xfrm>
            <a:off x="548640" y="1371600"/>
            <a:ext cx="11094720" cy="0"/>
          </a:xfrm>
          <a:custGeom>
            <a:avLst/>
            <a:gdLst/>
            <a:ahLst/>
            <a:cxnLst/>
            <a:rect l="l" t="t" r="r" b="b"/>
            <a:pathLst>
              <a:path w="11094720">
                <a:moveTo>
                  <a:pt x="0" y="0"/>
                </a:moveTo>
                <a:lnTo>
                  <a:pt x="11094719" y="0"/>
                </a:lnTo>
              </a:path>
            </a:pathLst>
          </a:custGeom>
          <a:ln w="12192">
            <a:solidFill>
              <a:srgbClr val="C4CCE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35940" y="1631060"/>
            <a:ext cx="2244725" cy="2635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50" b="1" dirty="0">
                <a:solidFill>
                  <a:srgbClr val="1E2760"/>
                </a:solidFill>
                <a:latin typeface="Cambria"/>
                <a:cs typeface="Cambria"/>
              </a:rPr>
              <a:t>Bottleneck</a:t>
            </a:r>
            <a:r>
              <a:rPr sz="1550" b="1" spc="-40" dirty="0">
                <a:solidFill>
                  <a:srgbClr val="1E2760"/>
                </a:solidFill>
                <a:latin typeface="Cambria"/>
                <a:cs typeface="Cambria"/>
              </a:rPr>
              <a:t> </a:t>
            </a:r>
            <a:r>
              <a:rPr sz="1550" b="1" spc="-10" dirty="0">
                <a:solidFill>
                  <a:srgbClr val="1E2760"/>
                </a:solidFill>
                <a:latin typeface="Cambria"/>
                <a:cs typeface="Cambria"/>
              </a:rPr>
              <a:t>Compression</a:t>
            </a:r>
            <a:endParaRPr sz="155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737228" y="1609115"/>
            <a:ext cx="7515859" cy="501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100"/>
              </a:spcBef>
            </a:pPr>
            <a:r>
              <a:rPr sz="1300" spc="-20" dirty="0">
                <a:solidFill>
                  <a:srgbClr val="212846"/>
                </a:solidFill>
                <a:latin typeface="Calibri"/>
                <a:cs typeface="Calibri"/>
              </a:rPr>
              <a:t>1024-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D</a:t>
            </a:r>
            <a:r>
              <a:rPr sz="1300" spc="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12846"/>
                </a:solidFill>
                <a:latin typeface="Calibri"/>
                <a:cs typeface="Calibri"/>
              </a:rPr>
              <a:t>vectors</a:t>
            </a:r>
            <a:r>
              <a:rPr sz="1300" spc="1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are</a:t>
            </a:r>
            <a:r>
              <a:rPr sz="1300" spc="-2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12846"/>
                </a:solidFill>
                <a:latin typeface="Calibri"/>
                <a:cs typeface="Calibri"/>
              </a:rPr>
              <a:t>compressed</a:t>
            </a:r>
            <a:r>
              <a:rPr sz="1300" spc="1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to</a:t>
            </a:r>
            <a:r>
              <a:rPr sz="1300" spc="-3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12846"/>
                </a:solidFill>
                <a:latin typeface="Calibri"/>
                <a:cs typeface="Calibri"/>
              </a:rPr>
              <a:t>128-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D,</a:t>
            </a:r>
            <a:r>
              <a:rPr sz="1300" spc="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12846"/>
                </a:solidFill>
                <a:latin typeface="Calibri"/>
                <a:cs typeface="Calibri"/>
              </a:rPr>
              <a:t>suppressing</a:t>
            </a:r>
            <a:r>
              <a:rPr sz="1300" spc="5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12846"/>
                </a:solidFill>
                <a:latin typeface="Calibri"/>
                <a:cs typeface="Calibri"/>
              </a:rPr>
              <a:t>redundant</a:t>
            </a:r>
            <a:r>
              <a:rPr sz="1300" spc="5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12846"/>
                </a:solidFill>
                <a:latin typeface="Calibri"/>
                <a:cs typeface="Calibri"/>
              </a:rPr>
              <a:t>test-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rig</a:t>
            </a:r>
            <a:r>
              <a:rPr sz="1300" spc="-1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noise</a:t>
            </a:r>
            <a:r>
              <a:rPr sz="1300" spc="2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and</a:t>
            </a:r>
            <a:r>
              <a:rPr sz="1300" spc="-1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isolating</a:t>
            </a:r>
            <a:r>
              <a:rPr sz="1300" spc="5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12846"/>
                </a:solidFill>
                <a:latin typeface="Calibri"/>
                <a:cs typeface="Calibri"/>
              </a:rPr>
              <a:t>discriminative</a:t>
            </a:r>
            <a:r>
              <a:rPr sz="1300" spc="8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12846"/>
                </a:solidFill>
                <a:latin typeface="Calibri"/>
                <a:cs typeface="Calibri"/>
              </a:rPr>
              <a:t>fault features.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50163" y="2378964"/>
            <a:ext cx="11094720" cy="0"/>
          </a:xfrm>
          <a:custGeom>
            <a:avLst/>
            <a:gdLst/>
            <a:ahLst/>
            <a:cxnLst/>
            <a:rect l="l" t="t" r="r" b="b"/>
            <a:pathLst>
              <a:path w="11094720">
                <a:moveTo>
                  <a:pt x="0" y="0"/>
                </a:moveTo>
                <a:lnTo>
                  <a:pt x="11094719" y="0"/>
                </a:lnTo>
              </a:path>
            </a:pathLst>
          </a:custGeom>
          <a:ln w="9144">
            <a:solidFill>
              <a:srgbClr val="C4CCE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35940" y="2472689"/>
            <a:ext cx="1597025" cy="2635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50" b="1" dirty="0">
                <a:solidFill>
                  <a:srgbClr val="1E2760"/>
                </a:solidFill>
                <a:latin typeface="Cambria"/>
                <a:cs typeface="Cambria"/>
              </a:rPr>
              <a:t>Learnable</a:t>
            </a:r>
            <a:r>
              <a:rPr sz="1550" b="1" spc="-25" dirty="0">
                <a:solidFill>
                  <a:srgbClr val="1E2760"/>
                </a:solidFill>
                <a:latin typeface="Cambria"/>
                <a:cs typeface="Cambria"/>
              </a:rPr>
              <a:t> </a:t>
            </a:r>
            <a:r>
              <a:rPr sz="1550" b="1" spc="-10" dirty="0">
                <a:solidFill>
                  <a:srgbClr val="1E2760"/>
                </a:solidFill>
                <a:latin typeface="Cambria"/>
                <a:cs typeface="Cambria"/>
              </a:rPr>
              <a:t>Fusion</a:t>
            </a:r>
            <a:endParaRPr sz="155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737228" y="2490977"/>
            <a:ext cx="766635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The</a:t>
            </a:r>
            <a:r>
              <a:rPr sz="1300" spc="-2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two</a:t>
            </a:r>
            <a:r>
              <a:rPr sz="1300" spc="-4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12846"/>
                </a:solidFill>
                <a:latin typeface="Calibri"/>
                <a:cs typeface="Calibri"/>
              </a:rPr>
              <a:t>128-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D</a:t>
            </a:r>
            <a:r>
              <a:rPr sz="1300" spc="-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12846"/>
                </a:solidFill>
                <a:latin typeface="Calibri"/>
                <a:cs typeface="Calibri"/>
              </a:rPr>
              <a:t>vectors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 combine</a:t>
            </a:r>
            <a:r>
              <a:rPr sz="1300" spc="-1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as</a:t>
            </a:r>
            <a:r>
              <a:rPr sz="1300" spc="-3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shown</a:t>
            </a:r>
            <a:r>
              <a:rPr sz="1300" spc="-2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12846"/>
                </a:solidFill>
                <a:latin typeface="Calibri"/>
                <a:cs typeface="Calibri"/>
              </a:rPr>
              <a:t>below,</a:t>
            </a:r>
            <a:r>
              <a:rPr sz="1300" spc="-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letting</a:t>
            </a:r>
            <a:r>
              <a:rPr sz="1300" spc="-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the</a:t>
            </a:r>
            <a:r>
              <a:rPr sz="1300" spc="-3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model</a:t>
            </a:r>
            <a:r>
              <a:rPr sz="1300" spc="-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dynamically</a:t>
            </a:r>
            <a:r>
              <a:rPr sz="1300" spc="1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12846"/>
                </a:solidFill>
                <a:latin typeface="Calibri"/>
                <a:cs typeface="Calibri"/>
              </a:rPr>
              <a:t>prioritize</a:t>
            </a:r>
            <a:r>
              <a:rPr sz="1300" spc="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the</a:t>
            </a:r>
            <a:r>
              <a:rPr sz="1300" spc="-1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STFT</a:t>
            </a:r>
            <a:r>
              <a:rPr sz="1300" spc="-4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or</a:t>
            </a:r>
            <a:r>
              <a:rPr sz="1300" spc="-3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CWT</a:t>
            </a:r>
            <a:r>
              <a:rPr sz="1300" spc="-4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12846"/>
                </a:solidFill>
                <a:latin typeface="Calibri"/>
                <a:cs typeface="Calibri"/>
              </a:rPr>
              <a:t>branch.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50163" y="3220211"/>
            <a:ext cx="11094720" cy="0"/>
          </a:xfrm>
          <a:custGeom>
            <a:avLst/>
            <a:gdLst/>
            <a:ahLst/>
            <a:cxnLst/>
            <a:rect l="l" t="t" r="r" b="b"/>
            <a:pathLst>
              <a:path w="11094720">
                <a:moveTo>
                  <a:pt x="0" y="0"/>
                </a:moveTo>
                <a:lnTo>
                  <a:pt x="11094719" y="0"/>
                </a:lnTo>
              </a:path>
            </a:pathLst>
          </a:custGeom>
          <a:ln w="9144">
            <a:solidFill>
              <a:srgbClr val="C4CCE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535940" y="3313887"/>
            <a:ext cx="1751330" cy="2635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50" b="1" dirty="0">
                <a:solidFill>
                  <a:srgbClr val="1E2760"/>
                </a:solidFill>
                <a:latin typeface="Cambria"/>
                <a:cs typeface="Cambria"/>
              </a:rPr>
              <a:t>Classification</a:t>
            </a:r>
            <a:r>
              <a:rPr sz="1550" b="1" spc="-80" dirty="0">
                <a:solidFill>
                  <a:srgbClr val="1E2760"/>
                </a:solidFill>
                <a:latin typeface="Cambria"/>
                <a:cs typeface="Cambria"/>
              </a:rPr>
              <a:t> </a:t>
            </a:r>
            <a:r>
              <a:rPr sz="1550" b="1" spc="-20" dirty="0">
                <a:solidFill>
                  <a:srgbClr val="1E2760"/>
                </a:solidFill>
                <a:latin typeface="Cambria"/>
                <a:cs typeface="Cambria"/>
              </a:rPr>
              <a:t>Head</a:t>
            </a:r>
            <a:endParaRPr sz="155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737228" y="3291673"/>
            <a:ext cx="7670800" cy="502284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The</a:t>
            </a:r>
            <a:r>
              <a:rPr sz="1300" spc="-3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fused</a:t>
            </a:r>
            <a:r>
              <a:rPr sz="1300" spc="-2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vector</a:t>
            </a:r>
            <a:r>
              <a:rPr sz="1300" spc="-3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passes</a:t>
            </a:r>
            <a:r>
              <a:rPr sz="1300" spc="-1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12846"/>
                </a:solidFill>
                <a:latin typeface="Calibri"/>
                <a:cs typeface="Calibri"/>
              </a:rPr>
              <a:t>through</a:t>
            </a:r>
            <a:r>
              <a:rPr sz="1300" spc="-2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Fully</a:t>
            </a:r>
            <a:r>
              <a:rPr sz="1300" spc="-2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Connected</a:t>
            </a:r>
            <a:r>
              <a:rPr sz="1300" spc="-1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layers</a:t>
            </a:r>
            <a:r>
              <a:rPr sz="1300" spc="-1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with</a:t>
            </a:r>
            <a:r>
              <a:rPr sz="1300" spc="-6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Dropout</a:t>
            </a:r>
            <a:r>
              <a:rPr sz="1300" spc="-1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12846"/>
                </a:solidFill>
                <a:latin typeface="Calibri"/>
                <a:cs typeface="Calibri"/>
              </a:rPr>
              <a:t>regularization,</a:t>
            </a:r>
            <a:r>
              <a:rPr sz="1300" spc="3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then</a:t>
            </a:r>
            <a:r>
              <a:rPr sz="1300" spc="-3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a</a:t>
            </a:r>
            <a:r>
              <a:rPr sz="1300" spc="-6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SoftMax </a:t>
            </a:r>
            <a:r>
              <a:rPr sz="1300" spc="-10" dirty="0">
                <a:solidFill>
                  <a:srgbClr val="212846"/>
                </a:solidFill>
                <a:latin typeface="Calibri"/>
                <a:cs typeface="Calibri"/>
              </a:rPr>
              <a:t>layer</a:t>
            </a:r>
            <a:r>
              <a:rPr sz="1300" spc="-5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12846"/>
                </a:solidFill>
                <a:latin typeface="Calibri"/>
                <a:cs typeface="Calibri"/>
              </a:rPr>
              <a:t>outputs</a:t>
            </a: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300" spc="-10" dirty="0">
                <a:solidFill>
                  <a:srgbClr val="212846"/>
                </a:solidFill>
                <a:latin typeface="Calibri"/>
                <a:cs typeface="Calibri"/>
              </a:rPr>
              <a:t>probabilities</a:t>
            </a:r>
            <a:r>
              <a:rPr sz="1300" spc="5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across</a:t>
            </a:r>
            <a:r>
              <a:rPr sz="1300" spc="-4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24</a:t>
            </a:r>
            <a:r>
              <a:rPr sz="1300" spc="-2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fault</a:t>
            </a:r>
            <a:r>
              <a:rPr sz="1300" spc="-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12846"/>
                </a:solidFill>
                <a:latin typeface="Calibri"/>
                <a:cs typeface="Calibri"/>
              </a:rPr>
              <a:t>classes.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542544" y="4300728"/>
            <a:ext cx="11107420" cy="972819"/>
            <a:chOff x="542544" y="4300728"/>
            <a:chExt cx="11107420" cy="972819"/>
          </a:xfrm>
          <a:solidFill>
            <a:schemeClr val="tx1">
              <a:lumMod val="50000"/>
              <a:lumOff val="50000"/>
            </a:schemeClr>
          </a:solidFill>
        </p:grpSpPr>
        <p:sp>
          <p:nvSpPr>
            <p:cNvPr id="14" name="object 14"/>
            <p:cNvSpPr/>
            <p:nvPr/>
          </p:nvSpPr>
          <p:spPr>
            <a:xfrm>
              <a:off x="548640" y="4306824"/>
              <a:ext cx="11094720" cy="960119"/>
            </a:xfrm>
            <a:custGeom>
              <a:avLst/>
              <a:gdLst/>
              <a:ahLst/>
              <a:cxnLst/>
              <a:rect l="l" t="t" r="r" b="b"/>
              <a:pathLst>
                <a:path w="11094720" h="960120">
                  <a:moveTo>
                    <a:pt x="11049000" y="0"/>
                  </a:moveTo>
                  <a:lnTo>
                    <a:pt x="45719" y="0"/>
                  </a:lnTo>
                  <a:lnTo>
                    <a:pt x="27924" y="3589"/>
                  </a:lnTo>
                  <a:lnTo>
                    <a:pt x="13392" y="13382"/>
                  </a:lnTo>
                  <a:lnTo>
                    <a:pt x="3593" y="27914"/>
                  </a:lnTo>
                  <a:lnTo>
                    <a:pt x="0" y="45719"/>
                  </a:lnTo>
                  <a:lnTo>
                    <a:pt x="0" y="914400"/>
                  </a:lnTo>
                  <a:lnTo>
                    <a:pt x="3593" y="932205"/>
                  </a:lnTo>
                  <a:lnTo>
                    <a:pt x="13392" y="946737"/>
                  </a:lnTo>
                  <a:lnTo>
                    <a:pt x="27924" y="956530"/>
                  </a:lnTo>
                  <a:lnTo>
                    <a:pt x="45719" y="960119"/>
                  </a:lnTo>
                  <a:lnTo>
                    <a:pt x="11049000" y="960119"/>
                  </a:lnTo>
                  <a:lnTo>
                    <a:pt x="11066805" y="956530"/>
                  </a:lnTo>
                  <a:lnTo>
                    <a:pt x="11081337" y="946737"/>
                  </a:lnTo>
                  <a:lnTo>
                    <a:pt x="11091130" y="932205"/>
                  </a:lnTo>
                  <a:lnTo>
                    <a:pt x="11094719" y="914400"/>
                  </a:lnTo>
                  <a:lnTo>
                    <a:pt x="11094719" y="45719"/>
                  </a:lnTo>
                  <a:lnTo>
                    <a:pt x="11091130" y="27914"/>
                  </a:lnTo>
                  <a:lnTo>
                    <a:pt x="11081337" y="13382"/>
                  </a:lnTo>
                  <a:lnTo>
                    <a:pt x="11066805" y="3589"/>
                  </a:lnTo>
                  <a:lnTo>
                    <a:pt x="11049000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48640" y="4306824"/>
              <a:ext cx="11094720" cy="960119"/>
            </a:xfrm>
            <a:custGeom>
              <a:avLst/>
              <a:gdLst/>
              <a:ahLst/>
              <a:cxnLst/>
              <a:rect l="l" t="t" r="r" b="b"/>
              <a:pathLst>
                <a:path w="11094720" h="960120">
                  <a:moveTo>
                    <a:pt x="0" y="45719"/>
                  </a:moveTo>
                  <a:lnTo>
                    <a:pt x="3593" y="27914"/>
                  </a:lnTo>
                  <a:lnTo>
                    <a:pt x="13392" y="13382"/>
                  </a:lnTo>
                  <a:lnTo>
                    <a:pt x="27924" y="3589"/>
                  </a:lnTo>
                  <a:lnTo>
                    <a:pt x="45719" y="0"/>
                  </a:lnTo>
                  <a:lnTo>
                    <a:pt x="11049000" y="0"/>
                  </a:lnTo>
                  <a:lnTo>
                    <a:pt x="11066805" y="3589"/>
                  </a:lnTo>
                  <a:lnTo>
                    <a:pt x="11081337" y="13382"/>
                  </a:lnTo>
                  <a:lnTo>
                    <a:pt x="11091130" y="27914"/>
                  </a:lnTo>
                  <a:lnTo>
                    <a:pt x="11094719" y="45719"/>
                  </a:lnTo>
                  <a:lnTo>
                    <a:pt x="11094719" y="914400"/>
                  </a:lnTo>
                  <a:lnTo>
                    <a:pt x="11091130" y="932205"/>
                  </a:lnTo>
                  <a:lnTo>
                    <a:pt x="11081337" y="946737"/>
                  </a:lnTo>
                  <a:lnTo>
                    <a:pt x="11066805" y="956530"/>
                  </a:lnTo>
                  <a:lnTo>
                    <a:pt x="11049000" y="960119"/>
                  </a:lnTo>
                  <a:lnTo>
                    <a:pt x="45719" y="960119"/>
                  </a:lnTo>
                  <a:lnTo>
                    <a:pt x="27924" y="956530"/>
                  </a:lnTo>
                  <a:lnTo>
                    <a:pt x="13392" y="946737"/>
                  </a:lnTo>
                  <a:lnTo>
                    <a:pt x="3593" y="932205"/>
                  </a:lnTo>
                  <a:lnTo>
                    <a:pt x="0" y="914400"/>
                  </a:lnTo>
                  <a:lnTo>
                    <a:pt x="0" y="45719"/>
                  </a:lnTo>
                  <a:close/>
                </a:path>
              </a:pathLst>
            </a:custGeom>
            <a:grpFill/>
            <a:ln w="12192">
              <a:solidFill>
                <a:srgbClr val="1E27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548640" y="4306823"/>
            <a:ext cx="11094720" cy="960119"/>
          </a:xfrm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875"/>
              </a:spcBef>
            </a:pPr>
            <a:endParaRPr sz="1250">
              <a:latin typeface="Times New Roman"/>
              <a:cs typeface="Times New Roman"/>
            </a:endParaRPr>
          </a:p>
          <a:p>
            <a:pPr marL="365760">
              <a:lnSpc>
                <a:spcPct val="100000"/>
              </a:lnSpc>
            </a:pPr>
            <a:r>
              <a:rPr sz="2300" i="1" dirty="0">
                <a:solidFill>
                  <a:srgbClr val="FFFFFF"/>
                </a:solidFill>
                <a:latin typeface="Cambria"/>
                <a:cs typeface="Cambria"/>
              </a:rPr>
              <a:t>Z</a:t>
            </a:r>
            <a:r>
              <a:rPr sz="1250" i="1" dirty="0">
                <a:solidFill>
                  <a:srgbClr val="FFFFFF"/>
                </a:solidFill>
                <a:latin typeface="Cambria"/>
                <a:cs typeface="Cambria"/>
              </a:rPr>
              <a:t>fused</a:t>
            </a:r>
            <a:r>
              <a:rPr sz="1250" i="1" spc="210" dirty="0">
                <a:solidFill>
                  <a:srgbClr val="FFFFFF"/>
                </a:solidFill>
                <a:latin typeface="Cambria"/>
                <a:cs typeface="Cambria"/>
              </a:rPr>
              <a:t>  </a:t>
            </a:r>
            <a:r>
              <a:rPr sz="2300" i="1" spc="434" dirty="0">
                <a:solidFill>
                  <a:srgbClr val="FFFFFF"/>
                </a:solidFill>
                <a:latin typeface="Cambria"/>
                <a:cs typeface="Cambria"/>
              </a:rPr>
              <a:t>=</a:t>
            </a:r>
            <a:r>
              <a:rPr sz="2300" i="1" spc="45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300" i="1" dirty="0">
                <a:solidFill>
                  <a:srgbClr val="FFFFFF"/>
                </a:solidFill>
                <a:latin typeface="Cambria"/>
                <a:cs typeface="Cambria"/>
              </a:rPr>
              <a:t>α</a:t>
            </a:r>
            <a:r>
              <a:rPr sz="1250" i="1" dirty="0">
                <a:solidFill>
                  <a:srgbClr val="FFFFFF"/>
                </a:solidFill>
                <a:latin typeface="Cambria"/>
                <a:cs typeface="Cambria"/>
              </a:rPr>
              <a:t>S</a:t>
            </a:r>
            <a:r>
              <a:rPr sz="1250" i="1" spc="20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300" i="1" dirty="0">
                <a:solidFill>
                  <a:srgbClr val="FFFFFF"/>
                </a:solidFill>
                <a:latin typeface="Cambria"/>
                <a:cs typeface="Cambria"/>
              </a:rPr>
              <a:t>Z</a:t>
            </a:r>
            <a:r>
              <a:rPr sz="1250" i="1" dirty="0">
                <a:solidFill>
                  <a:srgbClr val="FFFFFF"/>
                </a:solidFill>
                <a:latin typeface="Cambria"/>
                <a:cs typeface="Cambria"/>
              </a:rPr>
              <a:t>S</a:t>
            </a:r>
            <a:r>
              <a:rPr sz="1250" i="1" spc="210" dirty="0">
                <a:solidFill>
                  <a:srgbClr val="FFFFFF"/>
                </a:solidFill>
                <a:latin typeface="Cambria"/>
                <a:cs typeface="Cambria"/>
              </a:rPr>
              <a:t>  </a:t>
            </a:r>
            <a:r>
              <a:rPr sz="2300" i="1" spc="434" dirty="0">
                <a:solidFill>
                  <a:srgbClr val="FFFFFF"/>
                </a:solidFill>
                <a:latin typeface="Cambria"/>
                <a:cs typeface="Cambria"/>
              </a:rPr>
              <a:t>+</a:t>
            </a:r>
            <a:r>
              <a:rPr sz="2300" i="1" spc="459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300" i="1" dirty="0">
                <a:solidFill>
                  <a:srgbClr val="FFFFFF"/>
                </a:solidFill>
                <a:latin typeface="Cambria"/>
                <a:cs typeface="Cambria"/>
              </a:rPr>
              <a:t>α</a:t>
            </a:r>
            <a:r>
              <a:rPr sz="1250" i="1" dirty="0">
                <a:solidFill>
                  <a:srgbClr val="FFFFFF"/>
                </a:solidFill>
                <a:latin typeface="Cambria"/>
                <a:cs typeface="Cambria"/>
              </a:rPr>
              <a:t>C</a:t>
            </a:r>
            <a:r>
              <a:rPr sz="1250" i="1" spc="19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300" i="1" spc="-25" dirty="0">
                <a:solidFill>
                  <a:srgbClr val="FFFFFF"/>
                </a:solidFill>
                <a:latin typeface="Cambria"/>
                <a:cs typeface="Cambria"/>
              </a:rPr>
              <a:t>Z</a:t>
            </a:r>
            <a:r>
              <a:rPr sz="1250" i="1" spc="-25" dirty="0">
                <a:solidFill>
                  <a:srgbClr val="FFFFFF"/>
                </a:solidFill>
                <a:latin typeface="Cambria"/>
                <a:cs typeface="Cambria"/>
              </a:rPr>
              <a:t>C</a:t>
            </a:r>
            <a:endParaRPr sz="1250">
              <a:latin typeface="Cambria"/>
              <a:cs typeface="Cambria"/>
            </a:endParaRPr>
          </a:p>
          <a:p>
            <a:pPr marL="365760">
              <a:lnSpc>
                <a:spcPct val="100000"/>
              </a:lnSpc>
              <a:spcBef>
                <a:spcPts val="1055"/>
              </a:spcBef>
            </a:pPr>
            <a:r>
              <a:rPr sz="1150" dirty="0">
                <a:solidFill>
                  <a:srgbClr val="C9DCFB"/>
                </a:solidFill>
                <a:latin typeface="Calibri"/>
                <a:cs typeface="Calibri"/>
              </a:rPr>
              <a:t>αS</a:t>
            </a:r>
            <a:r>
              <a:rPr sz="1150" spc="-20" dirty="0">
                <a:solidFill>
                  <a:srgbClr val="C9DCFB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C9DCFB"/>
                </a:solidFill>
                <a:latin typeface="Calibri"/>
                <a:cs typeface="Calibri"/>
              </a:rPr>
              <a:t>and</a:t>
            </a:r>
            <a:r>
              <a:rPr sz="1150" spc="-15" dirty="0">
                <a:solidFill>
                  <a:srgbClr val="C9DCFB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C9DCFB"/>
                </a:solidFill>
                <a:latin typeface="Calibri"/>
                <a:cs typeface="Calibri"/>
              </a:rPr>
              <a:t>αC</a:t>
            </a:r>
            <a:r>
              <a:rPr sz="1150" spc="-30" dirty="0">
                <a:solidFill>
                  <a:srgbClr val="C9DCFB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C9DCFB"/>
                </a:solidFill>
                <a:latin typeface="Calibri"/>
                <a:cs typeface="Calibri"/>
              </a:rPr>
              <a:t>are</a:t>
            </a:r>
            <a:r>
              <a:rPr sz="1150" spc="-5" dirty="0">
                <a:solidFill>
                  <a:srgbClr val="C9DCFB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C9DCFB"/>
                </a:solidFill>
                <a:latin typeface="Calibri"/>
                <a:cs typeface="Calibri"/>
              </a:rPr>
              <a:t>learned</a:t>
            </a:r>
            <a:r>
              <a:rPr sz="1150" spc="-40" dirty="0">
                <a:solidFill>
                  <a:srgbClr val="C9DCFB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C9DCFB"/>
                </a:solidFill>
                <a:latin typeface="Calibri"/>
                <a:cs typeface="Calibri"/>
              </a:rPr>
              <a:t>weights</a:t>
            </a:r>
            <a:r>
              <a:rPr sz="1150" spc="-10" dirty="0">
                <a:solidFill>
                  <a:srgbClr val="C9DCFB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C9DCFB"/>
                </a:solidFill>
                <a:latin typeface="Calibri"/>
                <a:cs typeface="Calibri"/>
              </a:rPr>
              <a:t>that</a:t>
            </a:r>
            <a:r>
              <a:rPr sz="1150" spc="-15" dirty="0">
                <a:solidFill>
                  <a:srgbClr val="C9DCFB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C9DCFB"/>
                </a:solidFill>
                <a:latin typeface="Calibri"/>
                <a:cs typeface="Calibri"/>
              </a:rPr>
              <a:t>set</a:t>
            </a:r>
            <a:r>
              <a:rPr sz="1150" spc="-10" dirty="0">
                <a:solidFill>
                  <a:srgbClr val="C9DCFB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C9DCFB"/>
                </a:solidFill>
                <a:latin typeface="Calibri"/>
                <a:cs typeface="Calibri"/>
              </a:rPr>
              <a:t>each</a:t>
            </a:r>
            <a:r>
              <a:rPr sz="1150" spc="-20" dirty="0">
                <a:solidFill>
                  <a:srgbClr val="C9DCFB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C9DCFB"/>
                </a:solidFill>
                <a:latin typeface="Calibri"/>
                <a:cs typeface="Calibri"/>
              </a:rPr>
              <a:t>branch's</a:t>
            </a:r>
            <a:r>
              <a:rPr sz="1150" spc="-30" dirty="0">
                <a:solidFill>
                  <a:srgbClr val="C9DCFB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C9DCFB"/>
                </a:solidFill>
                <a:latin typeface="Calibri"/>
                <a:cs typeface="Calibri"/>
              </a:rPr>
              <a:t>contribution</a:t>
            </a:r>
            <a:r>
              <a:rPr sz="1150" spc="5" dirty="0">
                <a:solidFill>
                  <a:srgbClr val="C9DCFB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C9DCFB"/>
                </a:solidFill>
                <a:latin typeface="Calibri"/>
                <a:cs typeface="Calibri"/>
              </a:rPr>
              <a:t>to</a:t>
            </a:r>
            <a:r>
              <a:rPr sz="1150" spc="-20" dirty="0">
                <a:solidFill>
                  <a:srgbClr val="C9DCFB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C9DCFB"/>
                </a:solidFill>
                <a:latin typeface="Calibri"/>
                <a:cs typeface="Calibri"/>
              </a:rPr>
              <a:t>the</a:t>
            </a:r>
            <a:r>
              <a:rPr sz="1150" spc="-10" dirty="0">
                <a:solidFill>
                  <a:srgbClr val="C9DCFB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C9DCFB"/>
                </a:solidFill>
                <a:latin typeface="Calibri"/>
                <a:cs typeface="Calibri"/>
              </a:rPr>
              <a:t>fused</a:t>
            </a:r>
            <a:r>
              <a:rPr sz="1150" spc="-15" dirty="0">
                <a:solidFill>
                  <a:srgbClr val="C9DCFB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C9DCFB"/>
                </a:solidFill>
                <a:latin typeface="Calibri"/>
                <a:cs typeface="Calibri"/>
              </a:rPr>
              <a:t>representation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35940" y="6614566"/>
            <a:ext cx="1261110" cy="1473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10"/>
              </a:lnSpc>
            </a:pPr>
            <a:r>
              <a:rPr sz="950" dirty="0">
                <a:solidFill>
                  <a:srgbClr val="525A78"/>
                </a:solidFill>
                <a:latin typeface="Calibri"/>
                <a:cs typeface="Calibri"/>
              </a:rPr>
              <a:t>Part</a:t>
            </a:r>
            <a:r>
              <a:rPr sz="950" spc="-45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525A78"/>
                </a:solidFill>
                <a:latin typeface="Calibri"/>
                <a:cs typeface="Calibri"/>
              </a:rPr>
              <a:t>1</a:t>
            </a:r>
            <a:r>
              <a:rPr sz="950" spc="25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525A78"/>
                </a:solidFill>
                <a:latin typeface="Calibri"/>
                <a:cs typeface="Calibri"/>
              </a:rPr>
              <a:t>—</a:t>
            </a:r>
            <a:r>
              <a:rPr sz="950" spc="-15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525A78"/>
                </a:solidFill>
                <a:latin typeface="Calibri"/>
                <a:cs typeface="Calibri"/>
              </a:rPr>
              <a:t>Paper</a:t>
            </a:r>
            <a:r>
              <a:rPr sz="950" spc="-15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525A78"/>
                </a:solidFill>
                <a:latin typeface="Calibri"/>
                <a:cs typeface="Calibri"/>
              </a:rPr>
              <a:t>Summary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8425">
              <a:lnSpc>
                <a:spcPts val="1010"/>
              </a:lnSpc>
            </a:pPr>
            <a:r>
              <a:rPr spc="-50" dirty="0"/>
              <a:t>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411556"/>
            <a:ext cx="656590" cy="2019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50" b="1" spc="85" dirty="0">
                <a:solidFill>
                  <a:srgbClr val="525A78"/>
                </a:solidFill>
                <a:latin typeface="Calibri"/>
                <a:cs typeface="Calibri"/>
              </a:rPr>
              <a:t>RES</a:t>
            </a:r>
            <a:r>
              <a:rPr sz="1150" b="1" spc="-100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1150" b="1" spc="85" dirty="0">
                <a:solidFill>
                  <a:srgbClr val="525A78"/>
                </a:solidFill>
                <a:latin typeface="Calibri"/>
                <a:cs typeface="Calibri"/>
              </a:rPr>
              <a:t>ULT</a:t>
            </a:r>
            <a:r>
              <a:rPr sz="1150" b="1" spc="-100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1150" b="1" spc="-50" dirty="0">
                <a:solidFill>
                  <a:srgbClr val="525A78"/>
                </a:solidFill>
                <a:latin typeface="Calibri"/>
                <a:cs typeface="Calibri"/>
              </a:rPr>
              <a:t>S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Validation</a:t>
            </a:r>
            <a:r>
              <a:rPr spc="-80" dirty="0"/>
              <a:t> </a:t>
            </a:r>
            <a:r>
              <a:rPr dirty="0"/>
              <a:t>and</a:t>
            </a:r>
            <a:r>
              <a:rPr spc="-60" dirty="0"/>
              <a:t> </a:t>
            </a:r>
            <a:r>
              <a:rPr dirty="0"/>
              <a:t>Comparison</a:t>
            </a:r>
            <a:r>
              <a:rPr spc="-85" dirty="0"/>
              <a:t> </a:t>
            </a:r>
            <a:r>
              <a:rPr spc="-10" dirty="0"/>
              <a:t>Metrics</a:t>
            </a:r>
          </a:p>
        </p:txBody>
      </p:sp>
      <p:sp>
        <p:nvSpPr>
          <p:cNvPr id="4" name="object 4"/>
          <p:cNvSpPr/>
          <p:nvPr/>
        </p:nvSpPr>
        <p:spPr>
          <a:xfrm>
            <a:off x="548640" y="1371600"/>
            <a:ext cx="11094720" cy="0"/>
          </a:xfrm>
          <a:custGeom>
            <a:avLst/>
            <a:gdLst/>
            <a:ahLst/>
            <a:cxnLst/>
            <a:rect l="l" t="t" r="r" b="b"/>
            <a:pathLst>
              <a:path w="11094720">
                <a:moveTo>
                  <a:pt x="0" y="0"/>
                </a:moveTo>
                <a:lnTo>
                  <a:pt x="11094719" y="0"/>
                </a:lnTo>
              </a:path>
            </a:pathLst>
          </a:custGeom>
          <a:ln w="12192">
            <a:solidFill>
              <a:srgbClr val="C4CCE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542544" y="1685544"/>
            <a:ext cx="1670685" cy="1430020"/>
            <a:chOff x="542544" y="1685544"/>
            <a:chExt cx="1670685" cy="1430020"/>
          </a:xfrm>
        </p:grpSpPr>
        <p:sp>
          <p:nvSpPr>
            <p:cNvPr id="6" name="object 6"/>
            <p:cNvSpPr/>
            <p:nvPr/>
          </p:nvSpPr>
          <p:spPr>
            <a:xfrm>
              <a:off x="548640" y="1691640"/>
              <a:ext cx="1658620" cy="1417320"/>
            </a:xfrm>
            <a:custGeom>
              <a:avLst/>
              <a:gdLst/>
              <a:ahLst/>
              <a:cxnLst/>
              <a:rect l="l" t="t" r="r" b="b"/>
              <a:pathLst>
                <a:path w="1658620" h="1417320">
                  <a:moveTo>
                    <a:pt x="1612392" y="0"/>
                  </a:moveTo>
                  <a:lnTo>
                    <a:pt x="45719" y="0"/>
                  </a:lnTo>
                  <a:lnTo>
                    <a:pt x="27924" y="3589"/>
                  </a:lnTo>
                  <a:lnTo>
                    <a:pt x="13392" y="13382"/>
                  </a:lnTo>
                  <a:lnTo>
                    <a:pt x="3593" y="27914"/>
                  </a:lnTo>
                  <a:lnTo>
                    <a:pt x="0" y="45720"/>
                  </a:lnTo>
                  <a:lnTo>
                    <a:pt x="0" y="1371600"/>
                  </a:lnTo>
                  <a:lnTo>
                    <a:pt x="3593" y="1389405"/>
                  </a:lnTo>
                  <a:lnTo>
                    <a:pt x="13392" y="1403937"/>
                  </a:lnTo>
                  <a:lnTo>
                    <a:pt x="27924" y="1413730"/>
                  </a:lnTo>
                  <a:lnTo>
                    <a:pt x="45719" y="1417320"/>
                  </a:lnTo>
                  <a:lnTo>
                    <a:pt x="1612392" y="1417320"/>
                  </a:lnTo>
                  <a:lnTo>
                    <a:pt x="1630197" y="1413730"/>
                  </a:lnTo>
                  <a:lnTo>
                    <a:pt x="1644729" y="1403937"/>
                  </a:lnTo>
                  <a:lnTo>
                    <a:pt x="1654522" y="1389405"/>
                  </a:lnTo>
                  <a:lnTo>
                    <a:pt x="1658112" y="1371600"/>
                  </a:lnTo>
                  <a:lnTo>
                    <a:pt x="1658112" y="45720"/>
                  </a:lnTo>
                  <a:lnTo>
                    <a:pt x="1654522" y="27914"/>
                  </a:lnTo>
                  <a:lnTo>
                    <a:pt x="1644729" y="13382"/>
                  </a:lnTo>
                  <a:lnTo>
                    <a:pt x="1630197" y="3589"/>
                  </a:lnTo>
                  <a:lnTo>
                    <a:pt x="1612392" y="0"/>
                  </a:lnTo>
                  <a:close/>
                </a:path>
              </a:pathLst>
            </a:custGeom>
            <a:solidFill>
              <a:srgbClr val="F4F6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48640" y="1691640"/>
              <a:ext cx="1658620" cy="1417320"/>
            </a:xfrm>
            <a:custGeom>
              <a:avLst/>
              <a:gdLst/>
              <a:ahLst/>
              <a:cxnLst/>
              <a:rect l="l" t="t" r="r" b="b"/>
              <a:pathLst>
                <a:path w="1658620" h="1417320">
                  <a:moveTo>
                    <a:pt x="0" y="45720"/>
                  </a:moveTo>
                  <a:lnTo>
                    <a:pt x="3593" y="27914"/>
                  </a:lnTo>
                  <a:lnTo>
                    <a:pt x="13392" y="13382"/>
                  </a:lnTo>
                  <a:lnTo>
                    <a:pt x="27924" y="3589"/>
                  </a:lnTo>
                  <a:lnTo>
                    <a:pt x="45719" y="0"/>
                  </a:lnTo>
                  <a:lnTo>
                    <a:pt x="1612392" y="0"/>
                  </a:lnTo>
                  <a:lnTo>
                    <a:pt x="1630197" y="3589"/>
                  </a:lnTo>
                  <a:lnTo>
                    <a:pt x="1644729" y="13382"/>
                  </a:lnTo>
                  <a:lnTo>
                    <a:pt x="1654522" y="27914"/>
                  </a:lnTo>
                  <a:lnTo>
                    <a:pt x="1658112" y="45720"/>
                  </a:lnTo>
                  <a:lnTo>
                    <a:pt x="1658112" y="1371600"/>
                  </a:lnTo>
                  <a:lnTo>
                    <a:pt x="1654522" y="1389405"/>
                  </a:lnTo>
                  <a:lnTo>
                    <a:pt x="1644729" y="1403937"/>
                  </a:lnTo>
                  <a:lnTo>
                    <a:pt x="1630197" y="1413730"/>
                  </a:lnTo>
                  <a:lnTo>
                    <a:pt x="1612392" y="1417320"/>
                  </a:lnTo>
                  <a:lnTo>
                    <a:pt x="45719" y="1417320"/>
                  </a:lnTo>
                  <a:lnTo>
                    <a:pt x="27924" y="1413730"/>
                  </a:lnTo>
                  <a:lnTo>
                    <a:pt x="13392" y="1403937"/>
                  </a:lnTo>
                  <a:lnTo>
                    <a:pt x="3593" y="1389405"/>
                  </a:lnTo>
                  <a:lnTo>
                    <a:pt x="0" y="1371600"/>
                  </a:lnTo>
                  <a:lnTo>
                    <a:pt x="0" y="45720"/>
                  </a:lnTo>
                  <a:close/>
                </a:path>
              </a:pathLst>
            </a:custGeom>
            <a:ln w="12192">
              <a:solidFill>
                <a:srgbClr val="D6DE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914501" y="1976704"/>
            <a:ext cx="930910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10" dirty="0">
                <a:solidFill>
                  <a:srgbClr val="1E2760"/>
                </a:solidFill>
                <a:latin typeface="Cambria"/>
                <a:cs typeface="Cambria"/>
              </a:rPr>
              <a:t>99.38%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56589" y="2665602"/>
            <a:ext cx="1042669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dirty="0">
                <a:solidFill>
                  <a:srgbClr val="525A78"/>
                </a:solidFill>
                <a:latin typeface="Calibri"/>
                <a:cs typeface="Calibri"/>
              </a:rPr>
              <a:t>Validation</a:t>
            </a:r>
            <a:r>
              <a:rPr sz="1000" spc="-50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525A78"/>
                </a:solidFill>
                <a:latin typeface="Calibri"/>
                <a:cs typeface="Calibri"/>
              </a:rPr>
              <a:t>Accuracy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429255" y="1685544"/>
            <a:ext cx="1670685" cy="1430020"/>
            <a:chOff x="2429255" y="1685544"/>
            <a:chExt cx="1670685" cy="1430020"/>
          </a:xfrm>
        </p:grpSpPr>
        <p:sp>
          <p:nvSpPr>
            <p:cNvPr id="11" name="object 11"/>
            <p:cNvSpPr/>
            <p:nvPr/>
          </p:nvSpPr>
          <p:spPr>
            <a:xfrm>
              <a:off x="2435351" y="1691640"/>
              <a:ext cx="1658620" cy="1417320"/>
            </a:xfrm>
            <a:custGeom>
              <a:avLst/>
              <a:gdLst/>
              <a:ahLst/>
              <a:cxnLst/>
              <a:rect l="l" t="t" r="r" b="b"/>
              <a:pathLst>
                <a:path w="1658620" h="1417320">
                  <a:moveTo>
                    <a:pt x="1612392" y="0"/>
                  </a:moveTo>
                  <a:lnTo>
                    <a:pt x="45720" y="0"/>
                  </a:lnTo>
                  <a:lnTo>
                    <a:pt x="27914" y="3589"/>
                  </a:lnTo>
                  <a:lnTo>
                    <a:pt x="13382" y="13382"/>
                  </a:lnTo>
                  <a:lnTo>
                    <a:pt x="3589" y="27914"/>
                  </a:lnTo>
                  <a:lnTo>
                    <a:pt x="0" y="45720"/>
                  </a:lnTo>
                  <a:lnTo>
                    <a:pt x="0" y="1371600"/>
                  </a:lnTo>
                  <a:lnTo>
                    <a:pt x="3589" y="1389405"/>
                  </a:lnTo>
                  <a:lnTo>
                    <a:pt x="13382" y="1403937"/>
                  </a:lnTo>
                  <a:lnTo>
                    <a:pt x="27914" y="1413730"/>
                  </a:lnTo>
                  <a:lnTo>
                    <a:pt x="45720" y="1417320"/>
                  </a:lnTo>
                  <a:lnTo>
                    <a:pt x="1612392" y="1417320"/>
                  </a:lnTo>
                  <a:lnTo>
                    <a:pt x="1630197" y="1413730"/>
                  </a:lnTo>
                  <a:lnTo>
                    <a:pt x="1644729" y="1403937"/>
                  </a:lnTo>
                  <a:lnTo>
                    <a:pt x="1654522" y="1389405"/>
                  </a:lnTo>
                  <a:lnTo>
                    <a:pt x="1658112" y="1371600"/>
                  </a:lnTo>
                  <a:lnTo>
                    <a:pt x="1658112" y="45720"/>
                  </a:lnTo>
                  <a:lnTo>
                    <a:pt x="1654522" y="27914"/>
                  </a:lnTo>
                  <a:lnTo>
                    <a:pt x="1644729" y="13382"/>
                  </a:lnTo>
                  <a:lnTo>
                    <a:pt x="1630197" y="3589"/>
                  </a:lnTo>
                  <a:lnTo>
                    <a:pt x="1612392" y="0"/>
                  </a:lnTo>
                  <a:close/>
                </a:path>
              </a:pathLst>
            </a:custGeom>
            <a:solidFill>
              <a:srgbClr val="F4F6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435351" y="1691640"/>
              <a:ext cx="1658620" cy="1417320"/>
            </a:xfrm>
            <a:custGeom>
              <a:avLst/>
              <a:gdLst/>
              <a:ahLst/>
              <a:cxnLst/>
              <a:rect l="l" t="t" r="r" b="b"/>
              <a:pathLst>
                <a:path w="1658620" h="1417320">
                  <a:moveTo>
                    <a:pt x="0" y="45720"/>
                  </a:moveTo>
                  <a:lnTo>
                    <a:pt x="3589" y="27914"/>
                  </a:lnTo>
                  <a:lnTo>
                    <a:pt x="13382" y="13382"/>
                  </a:lnTo>
                  <a:lnTo>
                    <a:pt x="27914" y="3589"/>
                  </a:lnTo>
                  <a:lnTo>
                    <a:pt x="45720" y="0"/>
                  </a:lnTo>
                  <a:lnTo>
                    <a:pt x="1612392" y="0"/>
                  </a:lnTo>
                  <a:lnTo>
                    <a:pt x="1630197" y="3589"/>
                  </a:lnTo>
                  <a:lnTo>
                    <a:pt x="1644729" y="13382"/>
                  </a:lnTo>
                  <a:lnTo>
                    <a:pt x="1654522" y="27914"/>
                  </a:lnTo>
                  <a:lnTo>
                    <a:pt x="1658112" y="45720"/>
                  </a:lnTo>
                  <a:lnTo>
                    <a:pt x="1658112" y="1371600"/>
                  </a:lnTo>
                  <a:lnTo>
                    <a:pt x="1654522" y="1389405"/>
                  </a:lnTo>
                  <a:lnTo>
                    <a:pt x="1644729" y="1403937"/>
                  </a:lnTo>
                  <a:lnTo>
                    <a:pt x="1630197" y="1413730"/>
                  </a:lnTo>
                  <a:lnTo>
                    <a:pt x="1612392" y="1417320"/>
                  </a:lnTo>
                  <a:lnTo>
                    <a:pt x="45720" y="1417320"/>
                  </a:lnTo>
                  <a:lnTo>
                    <a:pt x="27914" y="1413730"/>
                  </a:lnTo>
                  <a:lnTo>
                    <a:pt x="13382" y="1403937"/>
                  </a:lnTo>
                  <a:lnTo>
                    <a:pt x="3589" y="1389405"/>
                  </a:lnTo>
                  <a:lnTo>
                    <a:pt x="0" y="1371600"/>
                  </a:lnTo>
                  <a:lnTo>
                    <a:pt x="0" y="45720"/>
                  </a:lnTo>
                  <a:close/>
                </a:path>
              </a:pathLst>
            </a:custGeom>
            <a:ln w="12192">
              <a:solidFill>
                <a:srgbClr val="D6DE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2851150" y="1976704"/>
            <a:ext cx="831215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10" dirty="0">
                <a:solidFill>
                  <a:srgbClr val="1E2760"/>
                </a:solidFill>
                <a:latin typeface="Cambria"/>
                <a:cs typeface="Cambria"/>
              </a:rPr>
              <a:t>0.0183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869183" y="2665602"/>
            <a:ext cx="798195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dirty="0">
                <a:solidFill>
                  <a:srgbClr val="525A78"/>
                </a:solidFill>
                <a:latin typeface="Calibri"/>
                <a:cs typeface="Calibri"/>
              </a:rPr>
              <a:t>Validation</a:t>
            </a:r>
            <a:r>
              <a:rPr sz="1000" spc="-20" dirty="0">
                <a:solidFill>
                  <a:srgbClr val="525A78"/>
                </a:solidFill>
                <a:latin typeface="Calibri"/>
                <a:cs typeface="Calibri"/>
              </a:rPr>
              <a:t> Loss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315967" y="1685544"/>
            <a:ext cx="1670685" cy="1430020"/>
            <a:chOff x="4315967" y="1685544"/>
            <a:chExt cx="1670685" cy="1430020"/>
          </a:xfrm>
        </p:grpSpPr>
        <p:sp>
          <p:nvSpPr>
            <p:cNvPr id="16" name="object 16"/>
            <p:cNvSpPr/>
            <p:nvPr/>
          </p:nvSpPr>
          <p:spPr>
            <a:xfrm>
              <a:off x="4322063" y="1691640"/>
              <a:ext cx="1658620" cy="1417320"/>
            </a:xfrm>
            <a:custGeom>
              <a:avLst/>
              <a:gdLst/>
              <a:ahLst/>
              <a:cxnLst/>
              <a:rect l="l" t="t" r="r" b="b"/>
              <a:pathLst>
                <a:path w="1658620" h="1417320">
                  <a:moveTo>
                    <a:pt x="1612391" y="0"/>
                  </a:moveTo>
                  <a:lnTo>
                    <a:pt x="45720" y="0"/>
                  </a:lnTo>
                  <a:lnTo>
                    <a:pt x="27914" y="3589"/>
                  </a:lnTo>
                  <a:lnTo>
                    <a:pt x="13382" y="13382"/>
                  </a:lnTo>
                  <a:lnTo>
                    <a:pt x="3589" y="27914"/>
                  </a:lnTo>
                  <a:lnTo>
                    <a:pt x="0" y="45720"/>
                  </a:lnTo>
                  <a:lnTo>
                    <a:pt x="0" y="1371600"/>
                  </a:lnTo>
                  <a:lnTo>
                    <a:pt x="3589" y="1389405"/>
                  </a:lnTo>
                  <a:lnTo>
                    <a:pt x="13382" y="1403937"/>
                  </a:lnTo>
                  <a:lnTo>
                    <a:pt x="27914" y="1413730"/>
                  </a:lnTo>
                  <a:lnTo>
                    <a:pt x="45720" y="1417320"/>
                  </a:lnTo>
                  <a:lnTo>
                    <a:pt x="1612391" y="1417320"/>
                  </a:lnTo>
                  <a:lnTo>
                    <a:pt x="1630197" y="1413730"/>
                  </a:lnTo>
                  <a:lnTo>
                    <a:pt x="1644729" y="1403937"/>
                  </a:lnTo>
                  <a:lnTo>
                    <a:pt x="1654522" y="1389405"/>
                  </a:lnTo>
                  <a:lnTo>
                    <a:pt x="1658112" y="1371600"/>
                  </a:lnTo>
                  <a:lnTo>
                    <a:pt x="1658112" y="45720"/>
                  </a:lnTo>
                  <a:lnTo>
                    <a:pt x="1654522" y="27914"/>
                  </a:lnTo>
                  <a:lnTo>
                    <a:pt x="1644729" y="13382"/>
                  </a:lnTo>
                  <a:lnTo>
                    <a:pt x="1630197" y="3589"/>
                  </a:lnTo>
                  <a:lnTo>
                    <a:pt x="1612391" y="0"/>
                  </a:lnTo>
                  <a:close/>
                </a:path>
              </a:pathLst>
            </a:custGeom>
            <a:solidFill>
              <a:srgbClr val="F4F6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322063" y="1691640"/>
              <a:ext cx="1658620" cy="1417320"/>
            </a:xfrm>
            <a:custGeom>
              <a:avLst/>
              <a:gdLst/>
              <a:ahLst/>
              <a:cxnLst/>
              <a:rect l="l" t="t" r="r" b="b"/>
              <a:pathLst>
                <a:path w="1658620" h="1417320">
                  <a:moveTo>
                    <a:pt x="0" y="45720"/>
                  </a:moveTo>
                  <a:lnTo>
                    <a:pt x="3589" y="27914"/>
                  </a:lnTo>
                  <a:lnTo>
                    <a:pt x="13382" y="13382"/>
                  </a:lnTo>
                  <a:lnTo>
                    <a:pt x="27914" y="3589"/>
                  </a:lnTo>
                  <a:lnTo>
                    <a:pt x="45720" y="0"/>
                  </a:lnTo>
                  <a:lnTo>
                    <a:pt x="1612391" y="0"/>
                  </a:lnTo>
                  <a:lnTo>
                    <a:pt x="1630197" y="3589"/>
                  </a:lnTo>
                  <a:lnTo>
                    <a:pt x="1644729" y="13382"/>
                  </a:lnTo>
                  <a:lnTo>
                    <a:pt x="1654522" y="27914"/>
                  </a:lnTo>
                  <a:lnTo>
                    <a:pt x="1658112" y="45720"/>
                  </a:lnTo>
                  <a:lnTo>
                    <a:pt x="1658112" y="1371600"/>
                  </a:lnTo>
                  <a:lnTo>
                    <a:pt x="1654522" y="1389405"/>
                  </a:lnTo>
                  <a:lnTo>
                    <a:pt x="1644729" y="1403937"/>
                  </a:lnTo>
                  <a:lnTo>
                    <a:pt x="1630197" y="1413730"/>
                  </a:lnTo>
                  <a:lnTo>
                    <a:pt x="1612391" y="1417320"/>
                  </a:lnTo>
                  <a:lnTo>
                    <a:pt x="45720" y="1417320"/>
                  </a:lnTo>
                  <a:lnTo>
                    <a:pt x="27914" y="1413730"/>
                  </a:lnTo>
                  <a:lnTo>
                    <a:pt x="13382" y="1403937"/>
                  </a:lnTo>
                  <a:lnTo>
                    <a:pt x="3589" y="1389405"/>
                  </a:lnTo>
                  <a:lnTo>
                    <a:pt x="0" y="1371600"/>
                  </a:lnTo>
                  <a:lnTo>
                    <a:pt x="0" y="45720"/>
                  </a:lnTo>
                  <a:close/>
                </a:path>
              </a:pathLst>
            </a:custGeom>
            <a:ln w="12192">
              <a:solidFill>
                <a:srgbClr val="D6DE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4738878" y="1976704"/>
            <a:ext cx="831215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10" dirty="0">
                <a:solidFill>
                  <a:srgbClr val="1E2760"/>
                </a:solidFill>
                <a:latin typeface="Cambria"/>
                <a:cs typeface="Cambria"/>
              </a:rPr>
              <a:t>0.9946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903470" y="2665602"/>
            <a:ext cx="501015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spc="-10" dirty="0">
                <a:solidFill>
                  <a:srgbClr val="525A78"/>
                </a:solidFill>
                <a:latin typeface="Calibri"/>
                <a:cs typeface="Calibri"/>
              </a:rPr>
              <a:t>Precision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6202679" y="1685544"/>
            <a:ext cx="1673860" cy="1430020"/>
            <a:chOff x="6202679" y="1685544"/>
            <a:chExt cx="1673860" cy="1430020"/>
          </a:xfrm>
        </p:grpSpPr>
        <p:sp>
          <p:nvSpPr>
            <p:cNvPr id="21" name="object 21"/>
            <p:cNvSpPr/>
            <p:nvPr/>
          </p:nvSpPr>
          <p:spPr>
            <a:xfrm>
              <a:off x="6208775" y="1691640"/>
              <a:ext cx="1661160" cy="1417320"/>
            </a:xfrm>
            <a:custGeom>
              <a:avLst/>
              <a:gdLst/>
              <a:ahLst/>
              <a:cxnLst/>
              <a:rect l="l" t="t" r="r" b="b"/>
              <a:pathLst>
                <a:path w="1661159" h="1417320">
                  <a:moveTo>
                    <a:pt x="1615440" y="0"/>
                  </a:moveTo>
                  <a:lnTo>
                    <a:pt x="45720" y="0"/>
                  </a:lnTo>
                  <a:lnTo>
                    <a:pt x="27914" y="3589"/>
                  </a:lnTo>
                  <a:lnTo>
                    <a:pt x="13382" y="13382"/>
                  </a:lnTo>
                  <a:lnTo>
                    <a:pt x="3589" y="27914"/>
                  </a:lnTo>
                  <a:lnTo>
                    <a:pt x="0" y="45720"/>
                  </a:lnTo>
                  <a:lnTo>
                    <a:pt x="0" y="1371600"/>
                  </a:lnTo>
                  <a:lnTo>
                    <a:pt x="3589" y="1389405"/>
                  </a:lnTo>
                  <a:lnTo>
                    <a:pt x="13382" y="1403937"/>
                  </a:lnTo>
                  <a:lnTo>
                    <a:pt x="27914" y="1413730"/>
                  </a:lnTo>
                  <a:lnTo>
                    <a:pt x="45720" y="1417320"/>
                  </a:lnTo>
                  <a:lnTo>
                    <a:pt x="1615440" y="1417320"/>
                  </a:lnTo>
                  <a:lnTo>
                    <a:pt x="1633245" y="1413730"/>
                  </a:lnTo>
                  <a:lnTo>
                    <a:pt x="1647777" y="1403937"/>
                  </a:lnTo>
                  <a:lnTo>
                    <a:pt x="1657570" y="1389405"/>
                  </a:lnTo>
                  <a:lnTo>
                    <a:pt x="1661159" y="1371600"/>
                  </a:lnTo>
                  <a:lnTo>
                    <a:pt x="1661159" y="45720"/>
                  </a:lnTo>
                  <a:lnTo>
                    <a:pt x="1657570" y="27914"/>
                  </a:lnTo>
                  <a:lnTo>
                    <a:pt x="1647777" y="13382"/>
                  </a:lnTo>
                  <a:lnTo>
                    <a:pt x="1633245" y="3589"/>
                  </a:lnTo>
                  <a:lnTo>
                    <a:pt x="1615440" y="0"/>
                  </a:lnTo>
                  <a:close/>
                </a:path>
              </a:pathLst>
            </a:custGeom>
            <a:solidFill>
              <a:srgbClr val="F4F6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208775" y="1691640"/>
              <a:ext cx="1661160" cy="1417320"/>
            </a:xfrm>
            <a:custGeom>
              <a:avLst/>
              <a:gdLst/>
              <a:ahLst/>
              <a:cxnLst/>
              <a:rect l="l" t="t" r="r" b="b"/>
              <a:pathLst>
                <a:path w="1661159" h="1417320">
                  <a:moveTo>
                    <a:pt x="0" y="45720"/>
                  </a:moveTo>
                  <a:lnTo>
                    <a:pt x="3589" y="27914"/>
                  </a:lnTo>
                  <a:lnTo>
                    <a:pt x="13382" y="13382"/>
                  </a:lnTo>
                  <a:lnTo>
                    <a:pt x="27914" y="3589"/>
                  </a:lnTo>
                  <a:lnTo>
                    <a:pt x="45720" y="0"/>
                  </a:lnTo>
                  <a:lnTo>
                    <a:pt x="1615440" y="0"/>
                  </a:lnTo>
                  <a:lnTo>
                    <a:pt x="1633245" y="3589"/>
                  </a:lnTo>
                  <a:lnTo>
                    <a:pt x="1647777" y="13382"/>
                  </a:lnTo>
                  <a:lnTo>
                    <a:pt x="1657570" y="27914"/>
                  </a:lnTo>
                  <a:lnTo>
                    <a:pt x="1661159" y="45720"/>
                  </a:lnTo>
                  <a:lnTo>
                    <a:pt x="1661159" y="1371600"/>
                  </a:lnTo>
                  <a:lnTo>
                    <a:pt x="1657570" y="1389405"/>
                  </a:lnTo>
                  <a:lnTo>
                    <a:pt x="1647777" y="1403937"/>
                  </a:lnTo>
                  <a:lnTo>
                    <a:pt x="1633245" y="1413730"/>
                  </a:lnTo>
                  <a:lnTo>
                    <a:pt x="1615440" y="1417320"/>
                  </a:lnTo>
                  <a:lnTo>
                    <a:pt x="45720" y="1417320"/>
                  </a:lnTo>
                  <a:lnTo>
                    <a:pt x="27914" y="1413730"/>
                  </a:lnTo>
                  <a:lnTo>
                    <a:pt x="13382" y="1403937"/>
                  </a:lnTo>
                  <a:lnTo>
                    <a:pt x="3589" y="1389405"/>
                  </a:lnTo>
                  <a:lnTo>
                    <a:pt x="0" y="1371600"/>
                  </a:lnTo>
                  <a:lnTo>
                    <a:pt x="0" y="45720"/>
                  </a:lnTo>
                  <a:close/>
                </a:path>
              </a:pathLst>
            </a:custGeom>
            <a:ln w="12192">
              <a:solidFill>
                <a:srgbClr val="D6DE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6626479" y="1976704"/>
            <a:ext cx="831215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10" dirty="0">
                <a:solidFill>
                  <a:srgbClr val="1E2760"/>
                </a:solidFill>
                <a:latin typeface="Cambria"/>
                <a:cs typeface="Cambria"/>
              </a:rPr>
              <a:t>0.9938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873367" y="2665602"/>
            <a:ext cx="335280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spc="-10" dirty="0">
                <a:solidFill>
                  <a:srgbClr val="525A78"/>
                </a:solidFill>
                <a:latin typeface="Calibri"/>
                <a:cs typeface="Calibri"/>
              </a:rPr>
              <a:t>Recall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8092440" y="1685544"/>
            <a:ext cx="1670685" cy="1430020"/>
            <a:chOff x="8092440" y="1685544"/>
            <a:chExt cx="1670685" cy="1430020"/>
          </a:xfrm>
        </p:grpSpPr>
        <p:sp>
          <p:nvSpPr>
            <p:cNvPr id="26" name="object 26"/>
            <p:cNvSpPr/>
            <p:nvPr/>
          </p:nvSpPr>
          <p:spPr>
            <a:xfrm>
              <a:off x="8098536" y="1691640"/>
              <a:ext cx="1658620" cy="1417320"/>
            </a:xfrm>
            <a:custGeom>
              <a:avLst/>
              <a:gdLst/>
              <a:ahLst/>
              <a:cxnLst/>
              <a:rect l="l" t="t" r="r" b="b"/>
              <a:pathLst>
                <a:path w="1658620" h="1417320">
                  <a:moveTo>
                    <a:pt x="1612392" y="0"/>
                  </a:moveTo>
                  <a:lnTo>
                    <a:pt x="45720" y="0"/>
                  </a:lnTo>
                  <a:lnTo>
                    <a:pt x="27914" y="3589"/>
                  </a:lnTo>
                  <a:lnTo>
                    <a:pt x="13382" y="13382"/>
                  </a:lnTo>
                  <a:lnTo>
                    <a:pt x="3589" y="27914"/>
                  </a:lnTo>
                  <a:lnTo>
                    <a:pt x="0" y="45720"/>
                  </a:lnTo>
                  <a:lnTo>
                    <a:pt x="0" y="1371600"/>
                  </a:lnTo>
                  <a:lnTo>
                    <a:pt x="3589" y="1389405"/>
                  </a:lnTo>
                  <a:lnTo>
                    <a:pt x="13382" y="1403937"/>
                  </a:lnTo>
                  <a:lnTo>
                    <a:pt x="27914" y="1413730"/>
                  </a:lnTo>
                  <a:lnTo>
                    <a:pt x="45720" y="1417320"/>
                  </a:lnTo>
                  <a:lnTo>
                    <a:pt x="1612392" y="1417320"/>
                  </a:lnTo>
                  <a:lnTo>
                    <a:pt x="1630197" y="1413730"/>
                  </a:lnTo>
                  <a:lnTo>
                    <a:pt x="1644729" y="1403937"/>
                  </a:lnTo>
                  <a:lnTo>
                    <a:pt x="1654522" y="1389405"/>
                  </a:lnTo>
                  <a:lnTo>
                    <a:pt x="1658112" y="1371600"/>
                  </a:lnTo>
                  <a:lnTo>
                    <a:pt x="1658112" y="45720"/>
                  </a:lnTo>
                  <a:lnTo>
                    <a:pt x="1654522" y="27914"/>
                  </a:lnTo>
                  <a:lnTo>
                    <a:pt x="1644729" y="13382"/>
                  </a:lnTo>
                  <a:lnTo>
                    <a:pt x="1630197" y="3589"/>
                  </a:lnTo>
                  <a:lnTo>
                    <a:pt x="1612392" y="0"/>
                  </a:lnTo>
                  <a:close/>
                </a:path>
              </a:pathLst>
            </a:custGeom>
            <a:solidFill>
              <a:srgbClr val="F4F6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8098536" y="1691640"/>
              <a:ext cx="1658620" cy="1417320"/>
            </a:xfrm>
            <a:custGeom>
              <a:avLst/>
              <a:gdLst/>
              <a:ahLst/>
              <a:cxnLst/>
              <a:rect l="l" t="t" r="r" b="b"/>
              <a:pathLst>
                <a:path w="1658620" h="1417320">
                  <a:moveTo>
                    <a:pt x="0" y="45720"/>
                  </a:moveTo>
                  <a:lnTo>
                    <a:pt x="3589" y="27914"/>
                  </a:lnTo>
                  <a:lnTo>
                    <a:pt x="13382" y="13382"/>
                  </a:lnTo>
                  <a:lnTo>
                    <a:pt x="27914" y="3589"/>
                  </a:lnTo>
                  <a:lnTo>
                    <a:pt x="45720" y="0"/>
                  </a:lnTo>
                  <a:lnTo>
                    <a:pt x="1612392" y="0"/>
                  </a:lnTo>
                  <a:lnTo>
                    <a:pt x="1630197" y="3589"/>
                  </a:lnTo>
                  <a:lnTo>
                    <a:pt x="1644729" y="13382"/>
                  </a:lnTo>
                  <a:lnTo>
                    <a:pt x="1654522" y="27914"/>
                  </a:lnTo>
                  <a:lnTo>
                    <a:pt x="1658112" y="45720"/>
                  </a:lnTo>
                  <a:lnTo>
                    <a:pt x="1658112" y="1371600"/>
                  </a:lnTo>
                  <a:lnTo>
                    <a:pt x="1654522" y="1389405"/>
                  </a:lnTo>
                  <a:lnTo>
                    <a:pt x="1644729" y="1403937"/>
                  </a:lnTo>
                  <a:lnTo>
                    <a:pt x="1630197" y="1413730"/>
                  </a:lnTo>
                  <a:lnTo>
                    <a:pt x="1612392" y="1417320"/>
                  </a:lnTo>
                  <a:lnTo>
                    <a:pt x="45720" y="1417320"/>
                  </a:lnTo>
                  <a:lnTo>
                    <a:pt x="27914" y="1413730"/>
                  </a:lnTo>
                  <a:lnTo>
                    <a:pt x="13382" y="1403937"/>
                  </a:lnTo>
                  <a:lnTo>
                    <a:pt x="3589" y="1389405"/>
                  </a:lnTo>
                  <a:lnTo>
                    <a:pt x="0" y="1371600"/>
                  </a:lnTo>
                  <a:lnTo>
                    <a:pt x="0" y="45720"/>
                  </a:lnTo>
                  <a:close/>
                </a:path>
              </a:pathLst>
            </a:custGeom>
            <a:ln w="12192">
              <a:solidFill>
                <a:srgbClr val="D6DE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8514080" y="1976704"/>
            <a:ext cx="831215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10" dirty="0">
                <a:solidFill>
                  <a:srgbClr val="1E2760"/>
                </a:solidFill>
                <a:latin typeface="Cambria"/>
                <a:cs typeface="Cambria"/>
              </a:rPr>
              <a:t>0.9932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693911" y="2665602"/>
            <a:ext cx="467359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spc="-10" dirty="0">
                <a:solidFill>
                  <a:srgbClr val="525A78"/>
                </a:solidFill>
                <a:latin typeface="Calibri"/>
                <a:cs typeface="Calibri"/>
              </a:rPr>
              <a:t>F1-score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9979152" y="1685544"/>
            <a:ext cx="1670685" cy="1430020"/>
            <a:chOff x="9979152" y="1685544"/>
            <a:chExt cx="1670685" cy="1430020"/>
          </a:xfrm>
        </p:grpSpPr>
        <p:sp>
          <p:nvSpPr>
            <p:cNvPr id="31" name="object 31"/>
            <p:cNvSpPr/>
            <p:nvPr/>
          </p:nvSpPr>
          <p:spPr>
            <a:xfrm>
              <a:off x="9985248" y="1691640"/>
              <a:ext cx="1658620" cy="1417320"/>
            </a:xfrm>
            <a:custGeom>
              <a:avLst/>
              <a:gdLst/>
              <a:ahLst/>
              <a:cxnLst/>
              <a:rect l="l" t="t" r="r" b="b"/>
              <a:pathLst>
                <a:path w="1658620" h="1417320">
                  <a:moveTo>
                    <a:pt x="1612392" y="0"/>
                  </a:moveTo>
                  <a:lnTo>
                    <a:pt x="45720" y="0"/>
                  </a:lnTo>
                  <a:lnTo>
                    <a:pt x="27914" y="3589"/>
                  </a:lnTo>
                  <a:lnTo>
                    <a:pt x="13382" y="13382"/>
                  </a:lnTo>
                  <a:lnTo>
                    <a:pt x="3589" y="27914"/>
                  </a:lnTo>
                  <a:lnTo>
                    <a:pt x="0" y="45720"/>
                  </a:lnTo>
                  <a:lnTo>
                    <a:pt x="0" y="1371600"/>
                  </a:lnTo>
                  <a:lnTo>
                    <a:pt x="3589" y="1389405"/>
                  </a:lnTo>
                  <a:lnTo>
                    <a:pt x="13382" y="1403937"/>
                  </a:lnTo>
                  <a:lnTo>
                    <a:pt x="27914" y="1413730"/>
                  </a:lnTo>
                  <a:lnTo>
                    <a:pt x="45720" y="1417320"/>
                  </a:lnTo>
                  <a:lnTo>
                    <a:pt x="1612392" y="1417320"/>
                  </a:lnTo>
                  <a:lnTo>
                    <a:pt x="1630197" y="1413730"/>
                  </a:lnTo>
                  <a:lnTo>
                    <a:pt x="1644729" y="1403937"/>
                  </a:lnTo>
                  <a:lnTo>
                    <a:pt x="1654522" y="1389405"/>
                  </a:lnTo>
                  <a:lnTo>
                    <a:pt x="1658111" y="1371600"/>
                  </a:lnTo>
                  <a:lnTo>
                    <a:pt x="1658111" y="45720"/>
                  </a:lnTo>
                  <a:lnTo>
                    <a:pt x="1654522" y="27914"/>
                  </a:lnTo>
                  <a:lnTo>
                    <a:pt x="1644729" y="13382"/>
                  </a:lnTo>
                  <a:lnTo>
                    <a:pt x="1630197" y="3589"/>
                  </a:lnTo>
                  <a:lnTo>
                    <a:pt x="1612392" y="0"/>
                  </a:lnTo>
                  <a:close/>
                </a:path>
              </a:pathLst>
            </a:custGeom>
            <a:solidFill>
              <a:srgbClr val="F4F6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9985248" y="1691640"/>
              <a:ext cx="1658620" cy="1417320"/>
            </a:xfrm>
            <a:custGeom>
              <a:avLst/>
              <a:gdLst/>
              <a:ahLst/>
              <a:cxnLst/>
              <a:rect l="l" t="t" r="r" b="b"/>
              <a:pathLst>
                <a:path w="1658620" h="1417320">
                  <a:moveTo>
                    <a:pt x="0" y="45720"/>
                  </a:moveTo>
                  <a:lnTo>
                    <a:pt x="3589" y="27914"/>
                  </a:lnTo>
                  <a:lnTo>
                    <a:pt x="13382" y="13382"/>
                  </a:lnTo>
                  <a:lnTo>
                    <a:pt x="27914" y="3589"/>
                  </a:lnTo>
                  <a:lnTo>
                    <a:pt x="45720" y="0"/>
                  </a:lnTo>
                  <a:lnTo>
                    <a:pt x="1612392" y="0"/>
                  </a:lnTo>
                  <a:lnTo>
                    <a:pt x="1630197" y="3589"/>
                  </a:lnTo>
                  <a:lnTo>
                    <a:pt x="1644729" y="13382"/>
                  </a:lnTo>
                  <a:lnTo>
                    <a:pt x="1654522" y="27914"/>
                  </a:lnTo>
                  <a:lnTo>
                    <a:pt x="1658111" y="45720"/>
                  </a:lnTo>
                  <a:lnTo>
                    <a:pt x="1658111" y="1371600"/>
                  </a:lnTo>
                  <a:lnTo>
                    <a:pt x="1654522" y="1389405"/>
                  </a:lnTo>
                  <a:lnTo>
                    <a:pt x="1644729" y="1403937"/>
                  </a:lnTo>
                  <a:lnTo>
                    <a:pt x="1630197" y="1413730"/>
                  </a:lnTo>
                  <a:lnTo>
                    <a:pt x="1612392" y="1417320"/>
                  </a:lnTo>
                  <a:lnTo>
                    <a:pt x="45720" y="1417320"/>
                  </a:lnTo>
                  <a:lnTo>
                    <a:pt x="27914" y="1413730"/>
                  </a:lnTo>
                  <a:lnTo>
                    <a:pt x="13382" y="1403937"/>
                  </a:lnTo>
                  <a:lnTo>
                    <a:pt x="3589" y="1389405"/>
                  </a:lnTo>
                  <a:lnTo>
                    <a:pt x="0" y="1371600"/>
                  </a:lnTo>
                  <a:lnTo>
                    <a:pt x="0" y="45720"/>
                  </a:lnTo>
                  <a:close/>
                </a:path>
              </a:pathLst>
            </a:custGeom>
            <a:ln w="12192">
              <a:solidFill>
                <a:srgbClr val="D6DE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10401681" y="1976704"/>
            <a:ext cx="831215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10" dirty="0">
                <a:solidFill>
                  <a:srgbClr val="1E2760"/>
                </a:solidFill>
                <a:latin typeface="Cambria"/>
                <a:cs typeface="Cambria"/>
              </a:rPr>
              <a:t>0.9937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0682096" y="2665602"/>
            <a:ext cx="270510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spc="-25" dirty="0">
                <a:solidFill>
                  <a:srgbClr val="525A78"/>
                </a:solidFill>
                <a:latin typeface="Calibri"/>
                <a:cs typeface="Calibri"/>
              </a:rPr>
              <a:t>MCC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35940" y="3543046"/>
            <a:ext cx="10662285" cy="215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50" i="1" spc="-10" dirty="0">
                <a:solidFill>
                  <a:srgbClr val="212846"/>
                </a:solidFill>
                <a:latin typeface="Calibri"/>
                <a:cs typeface="Calibri"/>
              </a:rPr>
              <a:t>Robustness: </a:t>
            </a:r>
            <a:r>
              <a:rPr sz="1250" i="1" dirty="0">
                <a:solidFill>
                  <a:srgbClr val="212846"/>
                </a:solidFill>
                <a:latin typeface="Calibri"/>
                <a:cs typeface="Calibri"/>
              </a:rPr>
              <a:t>high</a:t>
            </a:r>
            <a:r>
              <a:rPr sz="1250" i="1" spc="-2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i="1" dirty="0">
                <a:solidFill>
                  <a:srgbClr val="212846"/>
                </a:solidFill>
                <a:latin typeface="Calibri"/>
                <a:cs typeface="Calibri"/>
              </a:rPr>
              <a:t>precision</a:t>
            </a:r>
            <a:r>
              <a:rPr sz="1250" i="1" spc="-4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i="1" dirty="0">
                <a:solidFill>
                  <a:srgbClr val="212846"/>
                </a:solidFill>
                <a:latin typeface="Calibri"/>
                <a:cs typeface="Calibri"/>
              </a:rPr>
              <a:t>and</a:t>
            </a:r>
            <a:r>
              <a:rPr sz="1250" i="1" spc="-2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i="1" dirty="0">
                <a:solidFill>
                  <a:srgbClr val="212846"/>
                </a:solidFill>
                <a:latin typeface="Calibri"/>
                <a:cs typeface="Calibri"/>
              </a:rPr>
              <a:t>recall</a:t>
            </a:r>
            <a:r>
              <a:rPr sz="1250" i="1" spc="-5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i="1" dirty="0">
                <a:solidFill>
                  <a:srgbClr val="212846"/>
                </a:solidFill>
                <a:latin typeface="Calibri"/>
                <a:cs typeface="Calibri"/>
              </a:rPr>
              <a:t>together</a:t>
            </a:r>
            <a:r>
              <a:rPr sz="1250" i="1" spc="-2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i="1" dirty="0">
                <a:solidFill>
                  <a:srgbClr val="212846"/>
                </a:solidFill>
                <a:latin typeface="Calibri"/>
                <a:cs typeface="Calibri"/>
              </a:rPr>
              <a:t>indicate</a:t>
            </a:r>
            <a:r>
              <a:rPr sz="1250" i="1" spc="-2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i="1" dirty="0">
                <a:solidFill>
                  <a:srgbClr val="212846"/>
                </a:solidFill>
                <a:latin typeface="Calibri"/>
                <a:cs typeface="Calibri"/>
              </a:rPr>
              <a:t>the</a:t>
            </a:r>
            <a:r>
              <a:rPr sz="1250" i="1" spc="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i="1" dirty="0">
                <a:solidFill>
                  <a:srgbClr val="212846"/>
                </a:solidFill>
                <a:latin typeface="Calibri"/>
                <a:cs typeface="Calibri"/>
              </a:rPr>
              <a:t>model</a:t>
            </a:r>
            <a:r>
              <a:rPr sz="1250" i="1" spc="-3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i="1" dirty="0">
                <a:solidFill>
                  <a:srgbClr val="212846"/>
                </a:solidFill>
                <a:latin typeface="Calibri"/>
                <a:cs typeface="Calibri"/>
              </a:rPr>
              <a:t>is</a:t>
            </a:r>
            <a:r>
              <a:rPr sz="1250" i="1" spc="-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i="1" dirty="0">
                <a:solidFill>
                  <a:srgbClr val="212846"/>
                </a:solidFill>
                <a:latin typeface="Calibri"/>
                <a:cs typeface="Calibri"/>
              </a:rPr>
              <a:t>not</a:t>
            </a:r>
            <a:r>
              <a:rPr sz="1250" i="1" spc="-1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i="1" dirty="0">
                <a:solidFill>
                  <a:srgbClr val="212846"/>
                </a:solidFill>
                <a:latin typeface="Calibri"/>
                <a:cs typeface="Calibri"/>
              </a:rPr>
              <a:t>simply</a:t>
            </a:r>
            <a:r>
              <a:rPr sz="1250" i="1" spc="-10" dirty="0">
                <a:solidFill>
                  <a:srgbClr val="212846"/>
                </a:solidFill>
                <a:latin typeface="Calibri"/>
                <a:cs typeface="Calibri"/>
              </a:rPr>
              <a:t> guessing</a:t>
            </a:r>
            <a:r>
              <a:rPr sz="1250" i="1" spc="-9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i="1" dirty="0">
                <a:solidFill>
                  <a:srgbClr val="212846"/>
                </a:solidFill>
                <a:latin typeface="Calibri"/>
                <a:cs typeface="Calibri"/>
              </a:rPr>
              <a:t>—</a:t>
            </a:r>
            <a:r>
              <a:rPr sz="1250" i="1" spc="-1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i="1" dirty="0">
                <a:solidFill>
                  <a:srgbClr val="212846"/>
                </a:solidFill>
                <a:latin typeface="Calibri"/>
                <a:cs typeface="Calibri"/>
              </a:rPr>
              <a:t>errors</a:t>
            </a:r>
            <a:r>
              <a:rPr sz="1250" i="1" spc="-3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i="1" dirty="0">
                <a:solidFill>
                  <a:srgbClr val="212846"/>
                </a:solidFill>
                <a:latin typeface="Calibri"/>
                <a:cs typeface="Calibri"/>
              </a:rPr>
              <a:t>are</a:t>
            </a:r>
            <a:r>
              <a:rPr sz="1250" i="1" spc="-2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i="1" dirty="0">
                <a:solidFill>
                  <a:srgbClr val="212846"/>
                </a:solidFill>
                <a:latin typeface="Calibri"/>
                <a:cs typeface="Calibri"/>
              </a:rPr>
              <a:t>low</a:t>
            </a:r>
            <a:r>
              <a:rPr sz="1250" i="1" spc="-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i="1" dirty="0">
                <a:solidFill>
                  <a:srgbClr val="212846"/>
                </a:solidFill>
                <a:latin typeface="Calibri"/>
                <a:cs typeface="Calibri"/>
              </a:rPr>
              <a:t>and</a:t>
            </a:r>
            <a:r>
              <a:rPr sz="1250" i="1" spc="-5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i="1" dirty="0">
                <a:solidFill>
                  <a:srgbClr val="212846"/>
                </a:solidFill>
                <a:latin typeface="Calibri"/>
                <a:cs typeface="Calibri"/>
              </a:rPr>
              <a:t>balanced</a:t>
            </a:r>
            <a:r>
              <a:rPr sz="1250" i="1" spc="-4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i="1" dirty="0">
                <a:solidFill>
                  <a:srgbClr val="212846"/>
                </a:solidFill>
                <a:latin typeface="Calibri"/>
                <a:cs typeface="Calibri"/>
              </a:rPr>
              <a:t>across</a:t>
            </a:r>
            <a:r>
              <a:rPr sz="1250" i="1" spc="-3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i="1" dirty="0">
                <a:solidFill>
                  <a:srgbClr val="212846"/>
                </a:solidFill>
                <a:latin typeface="Calibri"/>
                <a:cs typeface="Calibri"/>
              </a:rPr>
              <a:t>both</a:t>
            </a:r>
            <a:r>
              <a:rPr sz="1250" i="1" spc="-2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i="1" dirty="0">
                <a:solidFill>
                  <a:srgbClr val="212846"/>
                </a:solidFill>
                <a:latin typeface="Calibri"/>
                <a:cs typeface="Calibri"/>
              </a:rPr>
              <a:t>false positives</a:t>
            </a:r>
            <a:r>
              <a:rPr sz="1250" i="1" spc="1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i="1" dirty="0">
                <a:solidFill>
                  <a:srgbClr val="212846"/>
                </a:solidFill>
                <a:latin typeface="Calibri"/>
                <a:cs typeface="Calibri"/>
              </a:rPr>
              <a:t>and</a:t>
            </a:r>
            <a:r>
              <a:rPr sz="1250" i="1" spc="-4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i="1" dirty="0">
                <a:solidFill>
                  <a:srgbClr val="212846"/>
                </a:solidFill>
                <a:latin typeface="Calibri"/>
                <a:cs typeface="Calibri"/>
              </a:rPr>
              <a:t>false</a:t>
            </a:r>
            <a:r>
              <a:rPr sz="1250" i="1" spc="2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i="1" spc="-10" dirty="0">
                <a:solidFill>
                  <a:srgbClr val="212846"/>
                </a:solidFill>
                <a:latin typeface="Calibri"/>
                <a:cs typeface="Calibri"/>
              </a:rPr>
              <a:t>negatives.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542544" y="3971544"/>
            <a:ext cx="11107420" cy="1384300"/>
            <a:chOff x="542544" y="3971544"/>
            <a:chExt cx="11107420" cy="1384300"/>
          </a:xfrm>
        </p:grpSpPr>
        <p:sp>
          <p:nvSpPr>
            <p:cNvPr id="37" name="object 37"/>
            <p:cNvSpPr/>
            <p:nvPr/>
          </p:nvSpPr>
          <p:spPr>
            <a:xfrm>
              <a:off x="548640" y="3977640"/>
              <a:ext cx="11094720" cy="1371600"/>
            </a:xfrm>
            <a:custGeom>
              <a:avLst/>
              <a:gdLst/>
              <a:ahLst/>
              <a:cxnLst/>
              <a:rect l="l" t="t" r="r" b="b"/>
              <a:pathLst>
                <a:path w="11094720" h="1371600">
                  <a:moveTo>
                    <a:pt x="11049000" y="0"/>
                  </a:moveTo>
                  <a:lnTo>
                    <a:pt x="45719" y="0"/>
                  </a:lnTo>
                  <a:lnTo>
                    <a:pt x="27924" y="3589"/>
                  </a:lnTo>
                  <a:lnTo>
                    <a:pt x="13392" y="13382"/>
                  </a:lnTo>
                  <a:lnTo>
                    <a:pt x="3593" y="27914"/>
                  </a:lnTo>
                  <a:lnTo>
                    <a:pt x="0" y="45720"/>
                  </a:lnTo>
                  <a:lnTo>
                    <a:pt x="0" y="1325880"/>
                  </a:lnTo>
                  <a:lnTo>
                    <a:pt x="3593" y="1343685"/>
                  </a:lnTo>
                  <a:lnTo>
                    <a:pt x="13392" y="1358217"/>
                  </a:lnTo>
                  <a:lnTo>
                    <a:pt x="27924" y="1368010"/>
                  </a:lnTo>
                  <a:lnTo>
                    <a:pt x="45719" y="1371600"/>
                  </a:lnTo>
                  <a:lnTo>
                    <a:pt x="11049000" y="1371600"/>
                  </a:lnTo>
                  <a:lnTo>
                    <a:pt x="11066805" y="1368010"/>
                  </a:lnTo>
                  <a:lnTo>
                    <a:pt x="11081337" y="1358217"/>
                  </a:lnTo>
                  <a:lnTo>
                    <a:pt x="11091130" y="1343685"/>
                  </a:lnTo>
                  <a:lnTo>
                    <a:pt x="11094719" y="1325880"/>
                  </a:lnTo>
                  <a:lnTo>
                    <a:pt x="11094719" y="45720"/>
                  </a:lnTo>
                  <a:lnTo>
                    <a:pt x="11091130" y="27914"/>
                  </a:lnTo>
                  <a:lnTo>
                    <a:pt x="11081337" y="13382"/>
                  </a:lnTo>
                  <a:lnTo>
                    <a:pt x="11066805" y="3589"/>
                  </a:lnTo>
                  <a:lnTo>
                    <a:pt x="11049000" y="0"/>
                  </a:lnTo>
                  <a:close/>
                </a:path>
              </a:pathLst>
            </a:custGeom>
            <a:solidFill>
              <a:srgbClr val="FAF3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48640" y="3977640"/>
              <a:ext cx="11094720" cy="1371600"/>
            </a:xfrm>
            <a:custGeom>
              <a:avLst/>
              <a:gdLst/>
              <a:ahLst/>
              <a:cxnLst/>
              <a:rect l="l" t="t" r="r" b="b"/>
              <a:pathLst>
                <a:path w="11094720" h="1371600">
                  <a:moveTo>
                    <a:pt x="0" y="45720"/>
                  </a:moveTo>
                  <a:lnTo>
                    <a:pt x="3593" y="27914"/>
                  </a:lnTo>
                  <a:lnTo>
                    <a:pt x="13392" y="13382"/>
                  </a:lnTo>
                  <a:lnTo>
                    <a:pt x="27924" y="3589"/>
                  </a:lnTo>
                  <a:lnTo>
                    <a:pt x="45719" y="0"/>
                  </a:lnTo>
                  <a:lnTo>
                    <a:pt x="11049000" y="0"/>
                  </a:lnTo>
                  <a:lnTo>
                    <a:pt x="11066805" y="3589"/>
                  </a:lnTo>
                  <a:lnTo>
                    <a:pt x="11081337" y="13382"/>
                  </a:lnTo>
                  <a:lnTo>
                    <a:pt x="11091130" y="27914"/>
                  </a:lnTo>
                  <a:lnTo>
                    <a:pt x="11094719" y="45720"/>
                  </a:lnTo>
                  <a:lnTo>
                    <a:pt x="11094719" y="1325880"/>
                  </a:lnTo>
                  <a:lnTo>
                    <a:pt x="11091130" y="1343685"/>
                  </a:lnTo>
                  <a:lnTo>
                    <a:pt x="11081337" y="1358217"/>
                  </a:lnTo>
                  <a:lnTo>
                    <a:pt x="11066805" y="1368010"/>
                  </a:lnTo>
                  <a:lnTo>
                    <a:pt x="11049000" y="1371600"/>
                  </a:lnTo>
                  <a:lnTo>
                    <a:pt x="45719" y="1371600"/>
                  </a:lnTo>
                  <a:lnTo>
                    <a:pt x="27924" y="1368010"/>
                  </a:lnTo>
                  <a:lnTo>
                    <a:pt x="13392" y="1358217"/>
                  </a:lnTo>
                  <a:lnTo>
                    <a:pt x="3593" y="1343685"/>
                  </a:lnTo>
                  <a:lnTo>
                    <a:pt x="0" y="1325880"/>
                  </a:lnTo>
                  <a:lnTo>
                    <a:pt x="0" y="45720"/>
                  </a:lnTo>
                  <a:close/>
                </a:path>
              </a:pathLst>
            </a:custGeom>
            <a:ln w="12192">
              <a:solidFill>
                <a:srgbClr val="E7CFC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548640" y="3977640"/>
            <a:ext cx="11094720" cy="1086836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15"/>
              </a:spcBef>
            </a:pPr>
            <a:endParaRPr sz="1050" dirty="0">
              <a:latin typeface="Times New Roman"/>
              <a:cs typeface="Times New Roman"/>
            </a:endParaRPr>
          </a:p>
          <a:p>
            <a:pPr marL="274320">
              <a:lnSpc>
                <a:spcPct val="100000"/>
              </a:lnSpc>
            </a:pPr>
            <a:r>
              <a:rPr sz="1050" b="1" spc="75" dirty="0">
                <a:solidFill>
                  <a:srgbClr val="8B3A31"/>
                </a:solidFill>
                <a:latin typeface="Calibri"/>
                <a:cs typeface="Calibri"/>
              </a:rPr>
              <a:t>THE</a:t>
            </a:r>
            <a:r>
              <a:rPr sz="1050" b="1" spc="235" dirty="0">
                <a:solidFill>
                  <a:srgbClr val="8B3A31"/>
                </a:solidFill>
                <a:latin typeface="Calibri"/>
                <a:cs typeface="Calibri"/>
              </a:rPr>
              <a:t> </a:t>
            </a:r>
            <a:r>
              <a:rPr sz="1050" b="1" spc="-10" dirty="0">
                <a:solidFill>
                  <a:srgbClr val="8B3A31"/>
                </a:solidFill>
                <a:latin typeface="Calibri"/>
                <a:cs typeface="Calibri"/>
              </a:rPr>
              <a:t>L</a:t>
            </a:r>
            <a:r>
              <a:rPr sz="1050" b="1" spc="-105" dirty="0">
                <a:solidFill>
                  <a:srgbClr val="8B3A31"/>
                </a:solidFill>
                <a:latin typeface="Calibri"/>
                <a:cs typeface="Calibri"/>
              </a:rPr>
              <a:t> </a:t>
            </a:r>
            <a:r>
              <a:rPr sz="1050" b="1" spc="95" dirty="0">
                <a:solidFill>
                  <a:srgbClr val="8B3A31"/>
                </a:solidFill>
                <a:latin typeface="Calibri"/>
                <a:cs typeface="Calibri"/>
              </a:rPr>
              <a:t>IMITATION</a:t>
            </a:r>
            <a:endParaRPr sz="105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65"/>
              </a:spcBef>
            </a:pPr>
            <a:endParaRPr sz="1050" dirty="0">
              <a:latin typeface="Calibri"/>
              <a:cs typeface="Calibri"/>
            </a:endParaRPr>
          </a:p>
          <a:p>
            <a:pPr marL="274320">
              <a:lnSpc>
                <a:spcPct val="100000"/>
              </a:lnSpc>
            </a:pPr>
            <a:r>
              <a:rPr sz="1200" spc="-10" dirty="0">
                <a:solidFill>
                  <a:srgbClr val="212846"/>
                </a:solidFill>
                <a:latin typeface="Calibri"/>
                <a:cs typeface="Calibri"/>
              </a:rPr>
              <a:t>Performance</a:t>
            </a:r>
            <a:r>
              <a:rPr sz="1200" dirty="0">
                <a:solidFill>
                  <a:srgbClr val="212846"/>
                </a:solidFill>
                <a:latin typeface="Calibri"/>
                <a:cs typeface="Calibri"/>
              </a:rPr>
              <a:t> is</a:t>
            </a:r>
            <a:r>
              <a:rPr sz="1200" spc="-1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12846"/>
                </a:solidFill>
                <a:latin typeface="Calibri"/>
                <a:cs typeface="Calibri"/>
              </a:rPr>
              <a:t>heavily</a:t>
            </a:r>
            <a:r>
              <a:rPr sz="1200" spc="-3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12846"/>
                </a:solidFill>
                <a:latin typeface="Calibri"/>
                <a:cs typeface="Calibri"/>
              </a:rPr>
              <a:t>dependent</a:t>
            </a:r>
            <a:r>
              <a:rPr sz="1200" spc="-3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12846"/>
                </a:solidFill>
                <a:latin typeface="Calibri"/>
                <a:cs typeface="Calibri"/>
              </a:rPr>
              <a:t>on</a:t>
            </a:r>
            <a:r>
              <a:rPr sz="1200" spc="-3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12846"/>
                </a:solidFill>
                <a:latin typeface="Calibri"/>
                <a:cs typeface="Calibri"/>
              </a:rPr>
              <a:t>specific</a:t>
            </a:r>
            <a:r>
              <a:rPr sz="1200" spc="-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12846"/>
                </a:solidFill>
                <a:latin typeface="Calibri"/>
                <a:cs typeface="Calibri"/>
              </a:rPr>
              <a:t>datasets</a:t>
            </a:r>
            <a:r>
              <a:rPr sz="1200" spc="-5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12846"/>
                </a:solidFill>
                <a:latin typeface="Calibri"/>
                <a:cs typeface="Calibri"/>
              </a:rPr>
              <a:t>(IMS,</a:t>
            </a:r>
            <a:r>
              <a:rPr sz="1200" spc="-5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12846"/>
                </a:solidFill>
                <a:latin typeface="Calibri"/>
                <a:cs typeface="Calibri"/>
              </a:rPr>
              <a:t>CWRU)</a:t>
            </a:r>
            <a:r>
              <a:rPr sz="1200" spc="-2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12846"/>
                </a:solidFill>
                <a:latin typeface="Calibri"/>
                <a:cs typeface="Calibri"/>
              </a:rPr>
              <a:t>recorded </a:t>
            </a:r>
            <a:r>
              <a:rPr sz="1200" dirty="0">
                <a:solidFill>
                  <a:srgbClr val="212846"/>
                </a:solidFill>
                <a:latin typeface="Calibri"/>
                <a:cs typeface="Calibri"/>
              </a:rPr>
              <a:t>under</a:t>
            </a:r>
            <a:r>
              <a:rPr sz="1200" spc="-2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12846"/>
                </a:solidFill>
                <a:latin typeface="Calibri"/>
                <a:cs typeface="Calibri"/>
              </a:rPr>
              <a:t>controlled</a:t>
            </a:r>
            <a:r>
              <a:rPr sz="1200" spc="-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12846"/>
                </a:solidFill>
                <a:latin typeface="Calibri"/>
                <a:cs typeface="Calibri"/>
              </a:rPr>
              <a:t>lab</a:t>
            </a:r>
            <a:r>
              <a:rPr sz="1200" spc="-3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12846"/>
                </a:solidFill>
                <a:latin typeface="Calibri"/>
                <a:cs typeface="Calibri"/>
              </a:rPr>
              <a:t>conditions.</a:t>
            </a:r>
            <a:r>
              <a:rPr sz="1200" spc="-1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12846"/>
                </a:solidFill>
                <a:latin typeface="Calibri"/>
                <a:cs typeface="Calibri"/>
              </a:rPr>
              <a:t>They</a:t>
            </a:r>
            <a:r>
              <a:rPr sz="1200" spc="-3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12846"/>
                </a:solidFill>
                <a:latin typeface="Calibri"/>
                <a:cs typeface="Calibri"/>
              </a:rPr>
              <a:t>lack</a:t>
            </a:r>
            <a:r>
              <a:rPr sz="1200" spc="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12846"/>
                </a:solidFill>
                <a:latin typeface="Calibri"/>
                <a:cs typeface="Calibri"/>
              </a:rPr>
              <a:t>the</a:t>
            </a:r>
            <a:r>
              <a:rPr sz="1200" spc="-4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12846"/>
                </a:solidFill>
                <a:latin typeface="Calibri"/>
                <a:cs typeface="Calibri"/>
              </a:rPr>
              <a:t>complexity</a:t>
            </a:r>
            <a:r>
              <a:rPr sz="1200" spc="-1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12846"/>
                </a:solidFill>
                <a:latin typeface="Calibri"/>
                <a:cs typeface="Calibri"/>
              </a:rPr>
              <a:t>of</a:t>
            </a:r>
            <a:r>
              <a:rPr sz="1200" spc="-2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12846"/>
                </a:solidFill>
                <a:latin typeface="Calibri"/>
                <a:cs typeface="Calibri"/>
              </a:rPr>
              <a:t>real-</a:t>
            </a:r>
            <a:r>
              <a:rPr sz="1200" dirty="0">
                <a:solidFill>
                  <a:srgbClr val="212846"/>
                </a:solidFill>
                <a:latin typeface="Calibri"/>
                <a:cs typeface="Calibri"/>
              </a:rPr>
              <a:t>world</a:t>
            </a:r>
            <a:r>
              <a:rPr sz="1200" spc="-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12846"/>
                </a:solidFill>
                <a:latin typeface="Calibri"/>
                <a:cs typeface="Calibri"/>
              </a:rPr>
              <a:t>scenarios,</a:t>
            </a:r>
            <a:r>
              <a:rPr sz="1200" spc="-10" dirty="0">
                <a:solidFill>
                  <a:srgbClr val="212846"/>
                </a:solidFill>
                <a:latin typeface="Calibri"/>
                <a:cs typeface="Calibri"/>
              </a:rPr>
              <a:t> making</a:t>
            </a:r>
            <a:endParaRPr sz="1200" dirty="0">
              <a:latin typeface="Calibri"/>
              <a:cs typeface="Calibri"/>
            </a:endParaRPr>
          </a:p>
          <a:p>
            <a:pPr marL="274320">
              <a:lnSpc>
                <a:spcPct val="100000"/>
              </a:lnSpc>
              <a:spcBef>
                <a:spcPts val="265"/>
              </a:spcBef>
            </a:pPr>
            <a:r>
              <a:rPr sz="1200" spc="-10" dirty="0">
                <a:solidFill>
                  <a:srgbClr val="212846"/>
                </a:solidFill>
                <a:latin typeface="Calibri"/>
                <a:cs typeface="Calibri"/>
              </a:rPr>
              <a:t>generalization</a:t>
            </a:r>
            <a:r>
              <a:rPr sz="1200" spc="-2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12846"/>
                </a:solidFill>
                <a:latin typeface="Calibri"/>
                <a:cs typeface="Calibri"/>
              </a:rPr>
              <a:t>to</a:t>
            </a:r>
            <a:r>
              <a:rPr sz="1200" spc="-4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12846"/>
                </a:solidFill>
                <a:latin typeface="Calibri"/>
                <a:cs typeface="Calibri"/>
              </a:rPr>
              <a:t>varying</a:t>
            </a:r>
            <a:r>
              <a:rPr sz="1200" spc="-2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12846"/>
                </a:solidFill>
                <a:latin typeface="Calibri"/>
                <a:cs typeface="Calibri"/>
              </a:rPr>
              <a:t>operating</a:t>
            </a:r>
            <a:r>
              <a:rPr sz="1200" spc="-2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12846"/>
                </a:solidFill>
                <a:latin typeface="Calibri"/>
                <a:cs typeface="Calibri"/>
              </a:rPr>
              <a:t>contexts</a:t>
            </a:r>
            <a:r>
              <a:rPr sz="1200" dirty="0">
                <a:solidFill>
                  <a:srgbClr val="212846"/>
                </a:solidFill>
                <a:latin typeface="Calibri"/>
                <a:cs typeface="Calibri"/>
              </a:rPr>
              <a:t> a</a:t>
            </a:r>
            <a:r>
              <a:rPr sz="1200" spc="-3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12846"/>
                </a:solidFill>
                <a:latin typeface="Calibri"/>
                <a:cs typeface="Calibri"/>
              </a:rPr>
              <a:t>major</a:t>
            </a:r>
            <a:r>
              <a:rPr sz="1200" spc="-2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12846"/>
                </a:solidFill>
                <a:latin typeface="Calibri"/>
                <a:cs typeface="Calibri"/>
              </a:rPr>
              <a:t>challenge</a:t>
            </a:r>
            <a:r>
              <a:rPr sz="1200" spc="2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12846"/>
                </a:solidFill>
                <a:latin typeface="Calibri"/>
                <a:cs typeface="Calibri"/>
              </a:rPr>
              <a:t>—</a:t>
            </a:r>
            <a:r>
              <a:rPr sz="1200" spc="-2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12846"/>
                </a:solidFill>
                <a:latin typeface="Calibri"/>
                <a:cs typeface="Calibri"/>
              </a:rPr>
              <a:t>though</a:t>
            </a:r>
            <a:r>
              <a:rPr sz="1200" spc="-3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12846"/>
                </a:solidFill>
                <a:latin typeface="Calibri"/>
                <a:cs typeface="Calibri"/>
              </a:rPr>
              <a:t>the</a:t>
            </a:r>
            <a:r>
              <a:rPr sz="1200" spc="-3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12846"/>
                </a:solidFill>
                <a:latin typeface="Calibri"/>
                <a:cs typeface="Calibri"/>
              </a:rPr>
              <a:t>authors'</a:t>
            </a:r>
            <a:r>
              <a:rPr sz="1200" spc="-1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12846"/>
                </a:solidFill>
                <a:latin typeface="Calibri"/>
                <a:cs typeface="Calibri"/>
              </a:rPr>
              <a:t>own</a:t>
            </a:r>
            <a:r>
              <a:rPr sz="1200" spc="-2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lang="en-IN" sz="1200" spc="-20" dirty="0">
                <a:solidFill>
                  <a:srgbClr val="212846"/>
                </a:solidFill>
                <a:latin typeface="Calibri"/>
                <a:cs typeface="Calibri"/>
              </a:rPr>
              <a:t>experimented data training ,</a:t>
            </a:r>
            <a:r>
              <a:rPr sz="1200" dirty="0">
                <a:solidFill>
                  <a:srgbClr val="212846"/>
                </a:solidFill>
                <a:latin typeface="Calibri"/>
                <a:cs typeface="Calibri"/>
              </a:rPr>
              <a:t> suggest</a:t>
            </a:r>
            <a:r>
              <a:rPr sz="1200" spc="-5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12846"/>
                </a:solidFill>
                <a:latin typeface="Calibri"/>
                <a:cs typeface="Calibri"/>
              </a:rPr>
              <a:t>transfer</a:t>
            </a:r>
            <a:r>
              <a:rPr sz="1200" spc="-4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12846"/>
                </a:solidFill>
                <a:latin typeface="Calibri"/>
                <a:cs typeface="Calibri"/>
              </a:rPr>
              <a:t>learning</a:t>
            </a:r>
            <a:r>
              <a:rPr sz="1200" spc="-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12846"/>
                </a:solidFill>
                <a:latin typeface="Calibri"/>
                <a:cs typeface="Calibri"/>
              </a:rPr>
              <a:t>may</a:t>
            </a:r>
            <a:r>
              <a:rPr sz="1200" spc="-2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12846"/>
                </a:solidFill>
                <a:latin typeface="Calibri"/>
                <a:cs typeface="Calibri"/>
              </a:rPr>
              <a:t>help</a:t>
            </a:r>
            <a:r>
              <a:rPr sz="1200" spc="-2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12846"/>
                </a:solidFill>
                <a:latin typeface="Calibri"/>
                <a:cs typeface="Calibri"/>
              </a:rPr>
              <a:t>generalize.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535940" y="6614566"/>
            <a:ext cx="1261110" cy="1473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10"/>
              </a:lnSpc>
            </a:pPr>
            <a:r>
              <a:rPr sz="950" dirty="0">
                <a:solidFill>
                  <a:srgbClr val="525A78"/>
                </a:solidFill>
                <a:latin typeface="Calibri"/>
                <a:cs typeface="Calibri"/>
              </a:rPr>
              <a:t>Part</a:t>
            </a:r>
            <a:r>
              <a:rPr sz="950" spc="-45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525A78"/>
                </a:solidFill>
                <a:latin typeface="Calibri"/>
                <a:cs typeface="Calibri"/>
              </a:rPr>
              <a:t>1</a:t>
            </a:r>
            <a:r>
              <a:rPr sz="950" spc="25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525A78"/>
                </a:solidFill>
                <a:latin typeface="Calibri"/>
                <a:cs typeface="Calibri"/>
              </a:rPr>
              <a:t>—</a:t>
            </a:r>
            <a:r>
              <a:rPr sz="950" spc="-15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525A78"/>
                </a:solidFill>
                <a:latin typeface="Calibri"/>
                <a:cs typeface="Calibri"/>
              </a:rPr>
              <a:t>Paper</a:t>
            </a:r>
            <a:r>
              <a:rPr sz="950" spc="-15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525A78"/>
                </a:solidFill>
                <a:latin typeface="Calibri"/>
                <a:cs typeface="Calibri"/>
              </a:rPr>
              <a:t>Summary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41" name="object 4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8425">
              <a:lnSpc>
                <a:spcPts val="1010"/>
              </a:lnSpc>
            </a:pPr>
            <a:r>
              <a:rPr spc="-50" dirty="0"/>
              <a:t>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65000"/>
            <a:lumOff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184E4-8585-4D55-A896-9A0E483CBE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609600" y="162051"/>
            <a:ext cx="9481820" cy="415498"/>
          </a:xfrm>
        </p:spPr>
        <p:txBody>
          <a:bodyPr/>
          <a:lstStyle/>
          <a:p>
            <a:r>
              <a:rPr lang="en-IN" dirty="0"/>
              <a:t>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BA2F93-6E1C-0A23-BC30-96FF55E4E6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-228600" y="250536"/>
            <a:ext cx="11094720" cy="238527"/>
          </a:xfrm>
        </p:spPr>
        <p:txBody>
          <a:bodyPr/>
          <a:lstStyle/>
          <a:p>
            <a:r>
              <a:rPr lang="en-IN" dirty="0" err="1"/>
              <a:t>hh</a:t>
            </a:r>
            <a:endParaRPr lang="en-IN" dirty="0"/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BC204276-C230-709D-6D9D-703E5DE642FF}"/>
              </a:ext>
            </a:extLst>
          </p:cNvPr>
          <p:cNvSpPr txBox="1"/>
          <p:nvPr/>
        </p:nvSpPr>
        <p:spPr>
          <a:xfrm>
            <a:off x="535940" y="2829560"/>
            <a:ext cx="96456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solidFill>
                  <a:srgbClr val="C9DCFB"/>
                </a:solidFill>
                <a:latin typeface="Calibri"/>
                <a:cs typeface="Calibri"/>
              </a:rPr>
              <a:t>P</a:t>
            </a:r>
            <a:r>
              <a:rPr sz="1300" b="1" spc="-70" dirty="0">
                <a:solidFill>
                  <a:srgbClr val="C9DCFB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C9DCFB"/>
                </a:solidFill>
                <a:latin typeface="Calibri"/>
                <a:cs typeface="Calibri"/>
              </a:rPr>
              <a:t>A</a:t>
            </a:r>
            <a:r>
              <a:rPr sz="1300" b="1" spc="-70" dirty="0">
                <a:solidFill>
                  <a:srgbClr val="C9DCFB"/>
                </a:solidFill>
                <a:latin typeface="Calibri"/>
                <a:cs typeface="Calibri"/>
              </a:rPr>
              <a:t> </a:t>
            </a:r>
            <a:r>
              <a:rPr sz="1300" b="1" spc="-20" dirty="0">
                <a:solidFill>
                  <a:srgbClr val="C9DCFB"/>
                </a:solidFill>
                <a:latin typeface="Calibri"/>
                <a:cs typeface="Calibri"/>
              </a:rPr>
              <a:t>R</a:t>
            </a:r>
            <a:r>
              <a:rPr sz="1300" b="1" spc="-85" dirty="0">
                <a:solidFill>
                  <a:srgbClr val="C9DCFB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C9DCFB"/>
                </a:solidFill>
                <a:latin typeface="Calibri"/>
                <a:cs typeface="Calibri"/>
              </a:rPr>
              <a:t>T</a:t>
            </a:r>
            <a:r>
              <a:rPr sz="1300" b="1" spc="475" dirty="0">
                <a:solidFill>
                  <a:srgbClr val="C9DCFB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C9DCFB"/>
                </a:solidFill>
                <a:latin typeface="Calibri"/>
                <a:cs typeface="Calibri"/>
              </a:rPr>
              <a:t>T</a:t>
            </a:r>
            <a:r>
              <a:rPr sz="1300" b="1" spc="-70" dirty="0">
                <a:solidFill>
                  <a:srgbClr val="C9DCFB"/>
                </a:solidFill>
                <a:latin typeface="Calibri"/>
                <a:cs typeface="Calibri"/>
              </a:rPr>
              <a:t> </a:t>
            </a:r>
            <a:r>
              <a:rPr sz="1300" b="1" spc="-20" dirty="0">
                <a:solidFill>
                  <a:srgbClr val="C9DCFB"/>
                </a:solidFill>
                <a:latin typeface="Calibri"/>
                <a:cs typeface="Calibri"/>
              </a:rPr>
              <a:t>W</a:t>
            </a:r>
            <a:r>
              <a:rPr sz="1300" b="1" spc="-75" dirty="0">
                <a:solidFill>
                  <a:srgbClr val="C9DCFB"/>
                </a:solidFill>
                <a:latin typeface="Calibri"/>
                <a:cs typeface="Calibri"/>
              </a:rPr>
              <a:t> </a:t>
            </a:r>
            <a:r>
              <a:rPr sz="1300" b="1" spc="-50" dirty="0">
                <a:solidFill>
                  <a:srgbClr val="C9DCFB"/>
                </a:solidFill>
                <a:latin typeface="Calibri"/>
                <a:cs typeface="Calibri"/>
              </a:rPr>
              <a:t>O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D4853105-934F-ED0A-790F-B9A0D8C313C3}"/>
              </a:ext>
            </a:extLst>
          </p:cNvPr>
          <p:cNvSpPr txBox="1"/>
          <p:nvPr/>
        </p:nvSpPr>
        <p:spPr>
          <a:xfrm>
            <a:off x="535940" y="3335782"/>
            <a:ext cx="4904105" cy="5448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400" b="1" dirty="0">
                <a:solidFill>
                  <a:srgbClr val="FFFFFF"/>
                </a:solidFill>
                <a:latin typeface="Cambria"/>
                <a:cs typeface="Cambria"/>
              </a:rPr>
              <a:t>Doubts</a:t>
            </a:r>
            <a:endParaRPr sz="3400" dirty="0">
              <a:latin typeface="Cambria"/>
              <a:cs typeface="Cambria"/>
            </a:endParaRPr>
          </a:p>
        </p:txBody>
      </p:sp>
      <p:sp>
        <p:nvSpPr>
          <p:cNvPr id="9" name="object 4">
            <a:extLst>
              <a:ext uri="{FF2B5EF4-FFF2-40B4-BE49-F238E27FC236}">
                <a16:creationId xmlns:a16="http://schemas.microsoft.com/office/drawing/2014/main" id="{267E73C2-29C2-3575-8306-75AD437AA5AC}"/>
              </a:ext>
            </a:extLst>
          </p:cNvPr>
          <p:cNvSpPr/>
          <p:nvPr/>
        </p:nvSpPr>
        <p:spPr>
          <a:xfrm>
            <a:off x="548640" y="4114800"/>
            <a:ext cx="1463040" cy="0"/>
          </a:xfrm>
          <a:custGeom>
            <a:avLst/>
            <a:gdLst/>
            <a:ahLst/>
            <a:cxnLst/>
            <a:rect l="l" t="t" r="r" b="b"/>
            <a:pathLst>
              <a:path w="1463039">
                <a:moveTo>
                  <a:pt x="0" y="0"/>
                </a:moveTo>
                <a:lnTo>
                  <a:pt x="1463040" y="0"/>
                </a:lnTo>
              </a:path>
            </a:pathLst>
          </a:custGeom>
          <a:ln w="18288">
            <a:solidFill>
              <a:srgbClr val="C9DCF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5">
            <a:extLst>
              <a:ext uri="{FF2B5EF4-FFF2-40B4-BE49-F238E27FC236}">
                <a16:creationId xmlns:a16="http://schemas.microsoft.com/office/drawing/2014/main" id="{5E490A55-22AC-909A-AD85-48280B05BED0}"/>
              </a:ext>
            </a:extLst>
          </p:cNvPr>
          <p:cNvSpPr txBox="1"/>
          <p:nvPr/>
        </p:nvSpPr>
        <p:spPr>
          <a:xfrm>
            <a:off x="535940" y="4381626"/>
            <a:ext cx="4258310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dirty="0">
                <a:solidFill>
                  <a:srgbClr val="ADBAE8"/>
                </a:solidFill>
                <a:latin typeface="Calibri"/>
                <a:cs typeface="Calibri"/>
              </a:rPr>
              <a:t>Open</a:t>
            </a:r>
            <a:r>
              <a:rPr sz="1400" spc="-45" dirty="0">
                <a:solidFill>
                  <a:srgbClr val="ADBAE8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ADBAE8"/>
                </a:solidFill>
                <a:latin typeface="Calibri"/>
                <a:cs typeface="Calibri"/>
              </a:rPr>
              <a:t>technical</a:t>
            </a:r>
            <a:r>
              <a:rPr sz="1400" spc="-20" dirty="0">
                <a:solidFill>
                  <a:srgbClr val="ADBAE8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ADBAE8"/>
                </a:solidFill>
                <a:latin typeface="Calibri"/>
                <a:cs typeface="Calibri"/>
              </a:rPr>
              <a:t>questions</a:t>
            </a:r>
            <a:r>
              <a:rPr sz="1400" spc="-10" dirty="0">
                <a:solidFill>
                  <a:srgbClr val="ADBAE8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ADBAE8"/>
                </a:solidFill>
                <a:latin typeface="Calibri"/>
                <a:cs typeface="Calibri"/>
              </a:rPr>
              <a:t>raised</a:t>
            </a:r>
            <a:r>
              <a:rPr sz="1400" spc="-40" dirty="0">
                <a:solidFill>
                  <a:srgbClr val="ADBAE8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ADBAE8"/>
                </a:solidFill>
                <a:latin typeface="Calibri"/>
                <a:cs typeface="Calibri"/>
              </a:rPr>
              <a:t>while</a:t>
            </a:r>
            <a:r>
              <a:rPr sz="1400" spc="-15" dirty="0">
                <a:solidFill>
                  <a:srgbClr val="ADBAE8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ADBAE8"/>
                </a:solidFill>
                <a:latin typeface="Calibri"/>
                <a:cs typeface="Calibri"/>
              </a:rPr>
              <a:t>reviewing</a:t>
            </a:r>
            <a:r>
              <a:rPr sz="1400" dirty="0">
                <a:solidFill>
                  <a:srgbClr val="ADBAE8"/>
                </a:solidFill>
                <a:latin typeface="Calibri"/>
                <a:cs typeface="Calibri"/>
              </a:rPr>
              <a:t> the</a:t>
            </a:r>
            <a:r>
              <a:rPr sz="1400" spc="-50" dirty="0">
                <a:solidFill>
                  <a:srgbClr val="ADBAE8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ADBAE8"/>
                </a:solidFill>
                <a:latin typeface="Calibri"/>
                <a:cs typeface="Calibri"/>
              </a:rPr>
              <a:t>paper</a:t>
            </a:r>
            <a:endParaRPr sz="14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346731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411556"/>
            <a:ext cx="1358900" cy="2019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50" b="1" spc="65" dirty="0">
                <a:solidFill>
                  <a:srgbClr val="525A78"/>
                </a:solidFill>
                <a:latin typeface="Calibri"/>
                <a:cs typeface="Calibri"/>
              </a:rPr>
              <a:t>OP</a:t>
            </a:r>
            <a:r>
              <a:rPr sz="1150" b="1" spc="-110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1150" b="1" spc="60" dirty="0">
                <a:solidFill>
                  <a:srgbClr val="525A78"/>
                </a:solidFill>
                <a:latin typeface="Calibri"/>
                <a:cs typeface="Calibri"/>
              </a:rPr>
              <a:t>EN</a:t>
            </a:r>
            <a:r>
              <a:rPr sz="1150" b="1" spc="330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1150" b="1" dirty="0">
                <a:solidFill>
                  <a:srgbClr val="525A78"/>
                </a:solidFill>
                <a:latin typeface="Calibri"/>
                <a:cs typeface="Calibri"/>
              </a:rPr>
              <a:t>Q</a:t>
            </a:r>
            <a:r>
              <a:rPr sz="1150" b="1" spc="-114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1150" b="1" spc="90" dirty="0">
                <a:solidFill>
                  <a:srgbClr val="525A78"/>
                </a:solidFill>
                <a:latin typeface="Calibri"/>
                <a:cs typeface="Calibri"/>
              </a:rPr>
              <a:t>UES</a:t>
            </a:r>
            <a:r>
              <a:rPr sz="1150" b="1" spc="-110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1150" b="1" spc="-10" dirty="0">
                <a:solidFill>
                  <a:srgbClr val="525A78"/>
                </a:solidFill>
                <a:latin typeface="Calibri"/>
                <a:cs typeface="Calibri"/>
              </a:rPr>
              <a:t>T</a:t>
            </a:r>
            <a:r>
              <a:rPr sz="1150" b="1" spc="-105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1150" b="1" spc="-10" dirty="0">
                <a:solidFill>
                  <a:srgbClr val="525A78"/>
                </a:solidFill>
                <a:latin typeface="Calibri"/>
                <a:cs typeface="Calibri"/>
              </a:rPr>
              <a:t>I</a:t>
            </a:r>
            <a:r>
              <a:rPr sz="1150" b="1" spc="-114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1150" b="1" spc="60" dirty="0">
                <a:solidFill>
                  <a:srgbClr val="525A78"/>
                </a:solidFill>
                <a:latin typeface="Calibri"/>
                <a:cs typeface="Calibri"/>
              </a:rPr>
              <a:t>ON</a:t>
            </a:r>
            <a:r>
              <a:rPr sz="1150" b="1" spc="-110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1150" b="1" spc="-50" dirty="0">
                <a:solidFill>
                  <a:srgbClr val="525A78"/>
                </a:solidFill>
                <a:latin typeface="Calibri"/>
                <a:cs typeface="Calibri"/>
              </a:rPr>
              <a:t>S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Doubts</a:t>
            </a:r>
            <a:r>
              <a:rPr spc="-65" dirty="0"/>
              <a:t> </a:t>
            </a:r>
            <a:r>
              <a:rPr spc="-10" dirty="0"/>
              <a:t>Regarding</a:t>
            </a:r>
            <a:r>
              <a:rPr spc="-85" dirty="0"/>
              <a:t> </a:t>
            </a:r>
            <a:r>
              <a:rPr dirty="0"/>
              <a:t>Computation</a:t>
            </a:r>
            <a:r>
              <a:rPr spc="-65" dirty="0"/>
              <a:t> </a:t>
            </a:r>
            <a:r>
              <a:rPr dirty="0"/>
              <a:t>&amp;</a:t>
            </a:r>
            <a:r>
              <a:rPr spc="-35" dirty="0"/>
              <a:t> </a:t>
            </a:r>
            <a:r>
              <a:rPr dirty="0"/>
              <a:t>Discrete</a:t>
            </a:r>
            <a:r>
              <a:rPr spc="-80" dirty="0"/>
              <a:t> </a:t>
            </a:r>
            <a:r>
              <a:rPr spc="-10" dirty="0"/>
              <a:t>Classification</a:t>
            </a:r>
          </a:p>
        </p:txBody>
      </p:sp>
      <p:sp>
        <p:nvSpPr>
          <p:cNvPr id="4" name="object 4"/>
          <p:cNvSpPr/>
          <p:nvPr/>
        </p:nvSpPr>
        <p:spPr>
          <a:xfrm>
            <a:off x="548640" y="1371600"/>
            <a:ext cx="11094720" cy="0"/>
          </a:xfrm>
          <a:custGeom>
            <a:avLst/>
            <a:gdLst/>
            <a:ahLst/>
            <a:cxnLst/>
            <a:rect l="l" t="t" r="r" b="b"/>
            <a:pathLst>
              <a:path w="11094720">
                <a:moveTo>
                  <a:pt x="0" y="0"/>
                </a:moveTo>
                <a:lnTo>
                  <a:pt x="11094719" y="0"/>
                </a:lnTo>
              </a:path>
            </a:pathLst>
          </a:custGeom>
          <a:ln w="12192">
            <a:solidFill>
              <a:srgbClr val="C4CCE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542544" y="1685544"/>
            <a:ext cx="11107420" cy="2115820"/>
            <a:chOff x="542544" y="1685544"/>
            <a:chExt cx="11107420" cy="2115820"/>
          </a:xfrm>
        </p:grpSpPr>
        <p:sp>
          <p:nvSpPr>
            <p:cNvPr id="6" name="object 6"/>
            <p:cNvSpPr/>
            <p:nvPr/>
          </p:nvSpPr>
          <p:spPr>
            <a:xfrm>
              <a:off x="548640" y="1691640"/>
              <a:ext cx="11094720" cy="2103120"/>
            </a:xfrm>
            <a:custGeom>
              <a:avLst/>
              <a:gdLst/>
              <a:ahLst/>
              <a:cxnLst/>
              <a:rect l="l" t="t" r="r" b="b"/>
              <a:pathLst>
                <a:path w="11094720" h="2103120">
                  <a:moveTo>
                    <a:pt x="11049000" y="0"/>
                  </a:moveTo>
                  <a:lnTo>
                    <a:pt x="45719" y="0"/>
                  </a:lnTo>
                  <a:lnTo>
                    <a:pt x="27924" y="3589"/>
                  </a:lnTo>
                  <a:lnTo>
                    <a:pt x="13392" y="13382"/>
                  </a:lnTo>
                  <a:lnTo>
                    <a:pt x="3593" y="27914"/>
                  </a:lnTo>
                  <a:lnTo>
                    <a:pt x="0" y="45720"/>
                  </a:lnTo>
                  <a:lnTo>
                    <a:pt x="0" y="2057400"/>
                  </a:lnTo>
                  <a:lnTo>
                    <a:pt x="3593" y="2075205"/>
                  </a:lnTo>
                  <a:lnTo>
                    <a:pt x="13392" y="2089737"/>
                  </a:lnTo>
                  <a:lnTo>
                    <a:pt x="27924" y="2099530"/>
                  </a:lnTo>
                  <a:lnTo>
                    <a:pt x="45719" y="2103120"/>
                  </a:lnTo>
                  <a:lnTo>
                    <a:pt x="11049000" y="2103120"/>
                  </a:lnTo>
                  <a:lnTo>
                    <a:pt x="11066805" y="2099530"/>
                  </a:lnTo>
                  <a:lnTo>
                    <a:pt x="11081337" y="2089737"/>
                  </a:lnTo>
                  <a:lnTo>
                    <a:pt x="11091130" y="2075205"/>
                  </a:lnTo>
                  <a:lnTo>
                    <a:pt x="11094719" y="2057400"/>
                  </a:lnTo>
                  <a:lnTo>
                    <a:pt x="11094719" y="45720"/>
                  </a:lnTo>
                  <a:lnTo>
                    <a:pt x="11091130" y="27914"/>
                  </a:lnTo>
                  <a:lnTo>
                    <a:pt x="11081337" y="13382"/>
                  </a:lnTo>
                  <a:lnTo>
                    <a:pt x="11066805" y="3589"/>
                  </a:lnTo>
                  <a:lnTo>
                    <a:pt x="11049000" y="0"/>
                  </a:lnTo>
                  <a:close/>
                </a:path>
              </a:pathLst>
            </a:custGeom>
            <a:solidFill>
              <a:srgbClr val="F4F6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48640" y="1691640"/>
              <a:ext cx="11094720" cy="2103120"/>
            </a:xfrm>
            <a:custGeom>
              <a:avLst/>
              <a:gdLst/>
              <a:ahLst/>
              <a:cxnLst/>
              <a:rect l="l" t="t" r="r" b="b"/>
              <a:pathLst>
                <a:path w="11094720" h="2103120">
                  <a:moveTo>
                    <a:pt x="0" y="45720"/>
                  </a:moveTo>
                  <a:lnTo>
                    <a:pt x="3593" y="27914"/>
                  </a:lnTo>
                  <a:lnTo>
                    <a:pt x="13392" y="13382"/>
                  </a:lnTo>
                  <a:lnTo>
                    <a:pt x="27924" y="3589"/>
                  </a:lnTo>
                  <a:lnTo>
                    <a:pt x="45719" y="0"/>
                  </a:lnTo>
                  <a:lnTo>
                    <a:pt x="11049000" y="0"/>
                  </a:lnTo>
                  <a:lnTo>
                    <a:pt x="11066805" y="3589"/>
                  </a:lnTo>
                  <a:lnTo>
                    <a:pt x="11081337" y="13382"/>
                  </a:lnTo>
                  <a:lnTo>
                    <a:pt x="11091130" y="27914"/>
                  </a:lnTo>
                  <a:lnTo>
                    <a:pt x="11094719" y="45720"/>
                  </a:lnTo>
                  <a:lnTo>
                    <a:pt x="11094719" y="2057400"/>
                  </a:lnTo>
                  <a:lnTo>
                    <a:pt x="11091130" y="2075205"/>
                  </a:lnTo>
                  <a:lnTo>
                    <a:pt x="11081337" y="2089737"/>
                  </a:lnTo>
                  <a:lnTo>
                    <a:pt x="11066805" y="2099530"/>
                  </a:lnTo>
                  <a:lnTo>
                    <a:pt x="11049000" y="2103120"/>
                  </a:lnTo>
                  <a:lnTo>
                    <a:pt x="45719" y="2103120"/>
                  </a:lnTo>
                  <a:lnTo>
                    <a:pt x="27924" y="2099530"/>
                  </a:lnTo>
                  <a:lnTo>
                    <a:pt x="13392" y="2089737"/>
                  </a:lnTo>
                  <a:lnTo>
                    <a:pt x="3593" y="2075205"/>
                  </a:lnTo>
                  <a:lnTo>
                    <a:pt x="0" y="2057400"/>
                  </a:lnTo>
                  <a:lnTo>
                    <a:pt x="0" y="45720"/>
                  </a:lnTo>
                  <a:close/>
                </a:path>
              </a:pathLst>
            </a:custGeom>
            <a:ln w="12192">
              <a:solidFill>
                <a:srgbClr val="D6DE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48640" y="1691639"/>
            <a:ext cx="11094720" cy="1741502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40"/>
              </a:spcBef>
            </a:pPr>
            <a:endParaRPr sz="1600" dirty="0">
              <a:latin typeface="Times New Roman"/>
              <a:cs typeface="Times New Roman"/>
            </a:endParaRPr>
          </a:p>
          <a:p>
            <a:pPr marL="320040">
              <a:lnSpc>
                <a:spcPct val="100000"/>
              </a:lnSpc>
            </a:pPr>
            <a:r>
              <a:rPr sz="1600" b="1" dirty="0">
                <a:solidFill>
                  <a:srgbClr val="1E2760"/>
                </a:solidFill>
                <a:latin typeface="Cambria"/>
                <a:cs typeface="Cambria"/>
              </a:rPr>
              <a:t>1</a:t>
            </a:r>
            <a:r>
              <a:rPr sz="1600" b="1" spc="-10" dirty="0">
                <a:solidFill>
                  <a:srgbClr val="1E2760"/>
                </a:solidFill>
                <a:latin typeface="Cambria"/>
                <a:cs typeface="Cambria"/>
              </a:rPr>
              <a:t> </a:t>
            </a:r>
            <a:r>
              <a:rPr sz="1600" b="1" dirty="0">
                <a:solidFill>
                  <a:srgbClr val="1E2760"/>
                </a:solidFill>
                <a:latin typeface="Cambria"/>
                <a:cs typeface="Cambria"/>
              </a:rPr>
              <a:t>·</a:t>
            </a:r>
            <a:r>
              <a:rPr sz="1600" b="1" spc="-5" dirty="0">
                <a:solidFill>
                  <a:srgbClr val="1E2760"/>
                </a:solidFill>
                <a:latin typeface="Cambria"/>
                <a:cs typeface="Cambria"/>
              </a:rPr>
              <a:t> </a:t>
            </a:r>
            <a:r>
              <a:rPr sz="1600" b="1" spc="-10" dirty="0">
                <a:solidFill>
                  <a:srgbClr val="1E2760"/>
                </a:solidFill>
                <a:latin typeface="Cambria"/>
                <a:cs typeface="Cambria"/>
              </a:rPr>
              <a:t>Computational</a:t>
            </a:r>
            <a:r>
              <a:rPr sz="1600" b="1" spc="-25" dirty="0">
                <a:solidFill>
                  <a:srgbClr val="1E2760"/>
                </a:solidFill>
                <a:latin typeface="Cambria"/>
                <a:cs typeface="Cambria"/>
              </a:rPr>
              <a:t> </a:t>
            </a:r>
            <a:r>
              <a:rPr sz="1600" b="1" spc="-10" dirty="0">
                <a:solidFill>
                  <a:srgbClr val="1E2760"/>
                </a:solidFill>
                <a:latin typeface="Cambria"/>
                <a:cs typeface="Cambria"/>
              </a:rPr>
              <a:t>Overhead</a:t>
            </a:r>
            <a:r>
              <a:rPr sz="1600" b="1" spc="-60" dirty="0">
                <a:solidFill>
                  <a:srgbClr val="1E2760"/>
                </a:solidFill>
                <a:latin typeface="Cambria"/>
                <a:cs typeface="Cambria"/>
              </a:rPr>
              <a:t> </a:t>
            </a:r>
            <a:r>
              <a:rPr sz="1600" b="1" dirty="0">
                <a:solidFill>
                  <a:srgbClr val="1E2760"/>
                </a:solidFill>
                <a:latin typeface="Cambria"/>
                <a:cs typeface="Cambria"/>
              </a:rPr>
              <a:t>vs.</a:t>
            </a:r>
            <a:r>
              <a:rPr sz="1600" b="1" spc="-25" dirty="0">
                <a:solidFill>
                  <a:srgbClr val="1E2760"/>
                </a:solidFill>
                <a:latin typeface="Cambria"/>
                <a:cs typeface="Cambria"/>
              </a:rPr>
              <a:t> </a:t>
            </a:r>
            <a:r>
              <a:rPr sz="1600" b="1" dirty="0">
                <a:solidFill>
                  <a:srgbClr val="1E2760"/>
                </a:solidFill>
                <a:latin typeface="Cambria"/>
                <a:cs typeface="Cambria"/>
              </a:rPr>
              <a:t>Phase</a:t>
            </a:r>
            <a:r>
              <a:rPr sz="1600" b="1" spc="-30" dirty="0">
                <a:solidFill>
                  <a:srgbClr val="1E2760"/>
                </a:solidFill>
                <a:latin typeface="Cambria"/>
                <a:cs typeface="Cambria"/>
              </a:rPr>
              <a:t> </a:t>
            </a:r>
            <a:r>
              <a:rPr sz="1600" b="1" spc="-10" dirty="0">
                <a:solidFill>
                  <a:srgbClr val="1E2760"/>
                </a:solidFill>
                <a:latin typeface="Cambria"/>
                <a:cs typeface="Cambria"/>
              </a:rPr>
              <a:t>Retention</a:t>
            </a:r>
            <a:endParaRPr sz="16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805"/>
              </a:spcBef>
            </a:pPr>
            <a:endParaRPr sz="1600" dirty="0">
              <a:latin typeface="Cambria"/>
              <a:cs typeface="Cambria"/>
            </a:endParaRPr>
          </a:p>
          <a:p>
            <a:pPr marL="320040">
              <a:lnSpc>
                <a:spcPct val="100000"/>
              </a:lnSpc>
            </a:pPr>
            <a:r>
              <a:rPr sz="1250" spc="-10" dirty="0">
                <a:solidFill>
                  <a:srgbClr val="212846"/>
                </a:solidFill>
                <a:latin typeface="Calibri"/>
                <a:cs typeface="Calibri"/>
              </a:rPr>
              <a:t>Converting</a:t>
            </a:r>
            <a:r>
              <a:rPr sz="1250" spc="-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1D</a:t>
            </a:r>
            <a:r>
              <a:rPr sz="1250" spc="-3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212846"/>
                </a:solidFill>
                <a:latin typeface="Calibri"/>
                <a:cs typeface="Calibri"/>
              </a:rPr>
              <a:t>temporal</a:t>
            </a:r>
            <a:r>
              <a:rPr sz="1250" spc="-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signals</a:t>
            </a:r>
            <a:r>
              <a:rPr sz="1250" spc="-1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into</a:t>
            </a:r>
            <a:r>
              <a:rPr sz="1250" spc="-4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224×224</a:t>
            </a:r>
            <a:r>
              <a:rPr sz="1250" spc="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RGB</a:t>
            </a:r>
            <a:r>
              <a:rPr sz="1250" spc="-6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images</a:t>
            </a:r>
            <a:r>
              <a:rPr sz="1250" spc="-5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212846"/>
                </a:solidFill>
                <a:latin typeface="Calibri"/>
                <a:cs typeface="Calibri"/>
              </a:rPr>
              <a:t>requires</a:t>
            </a:r>
            <a:r>
              <a:rPr sz="1250" spc="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6.63</a:t>
            </a:r>
            <a:r>
              <a:rPr sz="1250" spc="-4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GFLOPs</a:t>
            </a:r>
            <a:r>
              <a:rPr sz="1250" spc="-4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of</a:t>
            </a:r>
            <a:r>
              <a:rPr sz="1250" spc="-4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212846"/>
                </a:solidFill>
                <a:latin typeface="Calibri"/>
                <a:cs typeface="Calibri"/>
              </a:rPr>
              <a:t>computation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 and</a:t>
            </a:r>
            <a:r>
              <a:rPr sz="1250" spc="-4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permanently</a:t>
            </a:r>
            <a:r>
              <a:rPr sz="1250" spc="-2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discards</a:t>
            </a:r>
            <a:r>
              <a:rPr sz="1250" spc="-2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212846"/>
                </a:solidFill>
                <a:latin typeface="Calibri"/>
                <a:cs typeface="Calibri"/>
              </a:rPr>
              <a:t>non-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linear</a:t>
            </a:r>
            <a:r>
              <a:rPr sz="1250" spc="-2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phase</a:t>
            </a:r>
            <a:r>
              <a:rPr sz="1250" spc="-10" dirty="0">
                <a:solidFill>
                  <a:srgbClr val="212846"/>
                </a:solidFill>
                <a:latin typeface="Calibri"/>
                <a:cs typeface="Calibri"/>
              </a:rPr>
              <a:t> information.</a:t>
            </a:r>
            <a:endParaRPr sz="125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20"/>
              </a:spcBef>
            </a:pPr>
            <a:endParaRPr sz="1250" dirty="0">
              <a:latin typeface="Calibri"/>
              <a:cs typeface="Calibri"/>
            </a:endParaRPr>
          </a:p>
          <a:p>
            <a:pPr marL="320040" marR="911860">
              <a:lnSpc>
                <a:spcPct val="120000"/>
              </a:lnSpc>
              <a:tabLst>
                <a:tab pos="914400" algn="l"/>
              </a:tabLst>
            </a:pPr>
            <a:r>
              <a:rPr sz="1050" b="1" spc="65" dirty="0">
                <a:solidFill>
                  <a:srgbClr val="8B3A31"/>
                </a:solidFill>
                <a:latin typeface="Calibri"/>
                <a:cs typeface="Calibri"/>
              </a:rPr>
              <a:t>DOUBT</a:t>
            </a:r>
            <a:r>
              <a:rPr sz="1050" b="1" dirty="0">
                <a:solidFill>
                  <a:srgbClr val="8B3A31"/>
                </a:solidFill>
                <a:latin typeface="Calibri"/>
                <a:cs typeface="Calibri"/>
              </a:rPr>
              <a:t>	</a:t>
            </a:r>
            <a:r>
              <a:rPr sz="1250" i="1" dirty="0">
                <a:solidFill>
                  <a:srgbClr val="212846"/>
                </a:solidFill>
                <a:latin typeface="Calibri"/>
                <a:cs typeface="Calibri"/>
              </a:rPr>
              <a:t>How</a:t>
            </a:r>
            <a:r>
              <a:rPr sz="1250" i="1" spc="-2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i="1" dirty="0">
                <a:solidFill>
                  <a:srgbClr val="212846"/>
                </a:solidFill>
                <a:latin typeface="Calibri"/>
                <a:cs typeface="Calibri"/>
              </a:rPr>
              <a:t>does</a:t>
            </a:r>
            <a:r>
              <a:rPr sz="1250" i="1" spc="-3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i="1" dirty="0">
                <a:solidFill>
                  <a:srgbClr val="212846"/>
                </a:solidFill>
                <a:latin typeface="Calibri"/>
                <a:cs typeface="Calibri"/>
              </a:rPr>
              <a:t>the</a:t>
            </a:r>
            <a:r>
              <a:rPr sz="1250" i="1" spc="-1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i="1" dirty="0">
                <a:solidFill>
                  <a:srgbClr val="212846"/>
                </a:solidFill>
                <a:latin typeface="Calibri"/>
                <a:cs typeface="Calibri"/>
              </a:rPr>
              <a:t>model</a:t>
            </a:r>
            <a:r>
              <a:rPr sz="1250" i="1" spc="-3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i="1" spc="-10" dirty="0">
                <a:solidFill>
                  <a:srgbClr val="212846"/>
                </a:solidFill>
                <a:latin typeface="Calibri"/>
                <a:cs typeface="Calibri"/>
              </a:rPr>
              <a:t>compensate</a:t>
            </a:r>
            <a:r>
              <a:rPr sz="1250" i="1" spc="-3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i="1" dirty="0">
                <a:solidFill>
                  <a:srgbClr val="212846"/>
                </a:solidFill>
                <a:latin typeface="Calibri"/>
                <a:cs typeface="Calibri"/>
              </a:rPr>
              <a:t>for</a:t>
            </a:r>
            <a:r>
              <a:rPr sz="1250" i="1" spc="-1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i="1" dirty="0">
                <a:solidFill>
                  <a:srgbClr val="212846"/>
                </a:solidFill>
                <a:latin typeface="Calibri"/>
                <a:cs typeface="Calibri"/>
              </a:rPr>
              <a:t>the</a:t>
            </a:r>
            <a:r>
              <a:rPr sz="1250" i="1" spc="-3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i="1" dirty="0">
                <a:solidFill>
                  <a:srgbClr val="212846"/>
                </a:solidFill>
                <a:latin typeface="Calibri"/>
                <a:cs typeface="Calibri"/>
              </a:rPr>
              <a:t>absence</a:t>
            </a:r>
            <a:r>
              <a:rPr sz="1250" i="1" spc="-3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i="1" dirty="0">
                <a:solidFill>
                  <a:srgbClr val="212846"/>
                </a:solidFill>
                <a:latin typeface="Calibri"/>
                <a:cs typeface="Calibri"/>
              </a:rPr>
              <a:t>of</a:t>
            </a:r>
            <a:r>
              <a:rPr sz="1250" i="1" spc="-3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i="1" dirty="0">
                <a:solidFill>
                  <a:srgbClr val="212846"/>
                </a:solidFill>
                <a:latin typeface="Calibri"/>
                <a:cs typeface="Calibri"/>
              </a:rPr>
              <a:t>phase</a:t>
            </a:r>
            <a:r>
              <a:rPr sz="1250" i="1" spc="-3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i="1" dirty="0">
                <a:solidFill>
                  <a:srgbClr val="212846"/>
                </a:solidFill>
                <a:latin typeface="Calibri"/>
                <a:cs typeface="Calibri"/>
              </a:rPr>
              <a:t>dynamics</a:t>
            </a:r>
            <a:r>
              <a:rPr sz="1250" i="1" spc="3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i="1" dirty="0">
                <a:solidFill>
                  <a:srgbClr val="212846"/>
                </a:solidFill>
                <a:latin typeface="Calibri"/>
                <a:cs typeface="Calibri"/>
              </a:rPr>
              <a:t>—</a:t>
            </a:r>
            <a:r>
              <a:rPr sz="1250" i="1" spc="-1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i="1" dirty="0">
                <a:solidFill>
                  <a:srgbClr val="212846"/>
                </a:solidFill>
                <a:latin typeface="Calibri"/>
                <a:cs typeface="Calibri"/>
              </a:rPr>
              <a:t>and</a:t>
            </a:r>
            <a:r>
              <a:rPr sz="1250" i="1" spc="-3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i="1" dirty="0">
                <a:solidFill>
                  <a:srgbClr val="212846"/>
                </a:solidFill>
                <a:latin typeface="Calibri"/>
                <a:cs typeface="Calibri"/>
              </a:rPr>
              <a:t>is</a:t>
            </a:r>
            <a:r>
              <a:rPr sz="1250" i="1" spc="-2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i="1" dirty="0">
                <a:solidFill>
                  <a:srgbClr val="212846"/>
                </a:solidFill>
                <a:latin typeface="Calibri"/>
                <a:cs typeface="Calibri"/>
              </a:rPr>
              <a:t>this</a:t>
            </a:r>
            <a:r>
              <a:rPr sz="1250" i="1" spc="-2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i="1" dirty="0">
                <a:solidFill>
                  <a:srgbClr val="212846"/>
                </a:solidFill>
                <a:latin typeface="Calibri"/>
                <a:cs typeface="Calibri"/>
              </a:rPr>
              <a:t>compute</a:t>
            </a:r>
            <a:r>
              <a:rPr sz="1250" i="1" spc="-3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i="1" dirty="0">
                <a:solidFill>
                  <a:srgbClr val="212846"/>
                </a:solidFill>
                <a:latin typeface="Calibri"/>
                <a:cs typeface="Calibri"/>
              </a:rPr>
              <a:t>requirement</a:t>
            </a:r>
            <a:r>
              <a:rPr sz="1250" i="1" spc="-4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i="1" dirty="0">
                <a:solidFill>
                  <a:srgbClr val="212846"/>
                </a:solidFill>
                <a:latin typeface="Calibri"/>
                <a:cs typeface="Calibri"/>
              </a:rPr>
              <a:t>truly</a:t>
            </a:r>
            <a:r>
              <a:rPr sz="1250" i="1" spc="-2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i="1" dirty="0">
                <a:solidFill>
                  <a:srgbClr val="212846"/>
                </a:solidFill>
                <a:latin typeface="Calibri"/>
                <a:cs typeface="Calibri"/>
              </a:rPr>
              <a:t>viable</a:t>
            </a:r>
            <a:r>
              <a:rPr sz="1250" i="1" spc="-3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i="1" dirty="0">
                <a:solidFill>
                  <a:srgbClr val="212846"/>
                </a:solidFill>
                <a:latin typeface="Calibri"/>
                <a:cs typeface="Calibri"/>
              </a:rPr>
              <a:t>for</a:t>
            </a:r>
            <a:r>
              <a:rPr sz="1250" i="1" spc="-1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i="1" dirty="0">
                <a:solidFill>
                  <a:srgbClr val="212846"/>
                </a:solidFill>
                <a:latin typeface="Calibri"/>
                <a:cs typeface="Calibri"/>
              </a:rPr>
              <a:t>edge-deployed</a:t>
            </a:r>
            <a:r>
              <a:rPr sz="1250" i="1" spc="-4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i="1" spc="-10" dirty="0">
                <a:solidFill>
                  <a:srgbClr val="212846"/>
                </a:solidFill>
                <a:latin typeface="Calibri"/>
                <a:cs typeface="Calibri"/>
              </a:rPr>
              <a:t>condition monitoring?</a:t>
            </a:r>
            <a:r>
              <a:rPr lang="en-IN" sz="1250" i="1" spc="-10" dirty="0">
                <a:solidFill>
                  <a:srgbClr val="212846"/>
                </a:solidFill>
                <a:latin typeface="Calibri"/>
                <a:cs typeface="Calibri"/>
              </a:rPr>
              <a:t> (  also for reducing computational cost </a:t>
            </a:r>
            <a:r>
              <a:rPr lang="en-IN" sz="1250" i="1" spc="-10" dirty="0" err="1">
                <a:solidFill>
                  <a:srgbClr val="212846"/>
                </a:solidFill>
                <a:latin typeface="Calibri"/>
                <a:cs typeface="Calibri"/>
              </a:rPr>
              <a:t>restent</a:t>
            </a:r>
            <a:r>
              <a:rPr lang="en-IN" sz="1250" i="1" spc="-10" dirty="0">
                <a:solidFill>
                  <a:srgbClr val="212846"/>
                </a:solidFill>
                <a:latin typeface="Calibri"/>
                <a:cs typeface="Calibri"/>
              </a:rPr>
              <a:t> last layer has been removed )</a:t>
            </a:r>
            <a:endParaRPr sz="1250" dirty="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42544" y="4017264"/>
            <a:ext cx="11107420" cy="2115820"/>
            <a:chOff x="542544" y="4017264"/>
            <a:chExt cx="11107420" cy="2115820"/>
          </a:xfrm>
        </p:grpSpPr>
        <p:sp>
          <p:nvSpPr>
            <p:cNvPr id="10" name="object 10"/>
            <p:cNvSpPr/>
            <p:nvPr/>
          </p:nvSpPr>
          <p:spPr>
            <a:xfrm>
              <a:off x="548640" y="4023360"/>
              <a:ext cx="11094720" cy="2103120"/>
            </a:xfrm>
            <a:custGeom>
              <a:avLst/>
              <a:gdLst/>
              <a:ahLst/>
              <a:cxnLst/>
              <a:rect l="l" t="t" r="r" b="b"/>
              <a:pathLst>
                <a:path w="11094720" h="2103120">
                  <a:moveTo>
                    <a:pt x="11049000" y="0"/>
                  </a:moveTo>
                  <a:lnTo>
                    <a:pt x="45719" y="0"/>
                  </a:lnTo>
                  <a:lnTo>
                    <a:pt x="27924" y="3589"/>
                  </a:lnTo>
                  <a:lnTo>
                    <a:pt x="13392" y="13382"/>
                  </a:lnTo>
                  <a:lnTo>
                    <a:pt x="3593" y="27914"/>
                  </a:lnTo>
                  <a:lnTo>
                    <a:pt x="0" y="45719"/>
                  </a:lnTo>
                  <a:lnTo>
                    <a:pt x="0" y="2057400"/>
                  </a:lnTo>
                  <a:lnTo>
                    <a:pt x="3593" y="2075195"/>
                  </a:lnTo>
                  <a:lnTo>
                    <a:pt x="13392" y="2089727"/>
                  </a:lnTo>
                  <a:lnTo>
                    <a:pt x="27924" y="2099526"/>
                  </a:lnTo>
                  <a:lnTo>
                    <a:pt x="45719" y="2103120"/>
                  </a:lnTo>
                  <a:lnTo>
                    <a:pt x="11049000" y="2103120"/>
                  </a:lnTo>
                  <a:lnTo>
                    <a:pt x="11066805" y="2099526"/>
                  </a:lnTo>
                  <a:lnTo>
                    <a:pt x="11081337" y="2089727"/>
                  </a:lnTo>
                  <a:lnTo>
                    <a:pt x="11091130" y="2075195"/>
                  </a:lnTo>
                  <a:lnTo>
                    <a:pt x="11094719" y="2057400"/>
                  </a:lnTo>
                  <a:lnTo>
                    <a:pt x="11094719" y="45719"/>
                  </a:lnTo>
                  <a:lnTo>
                    <a:pt x="11091130" y="27914"/>
                  </a:lnTo>
                  <a:lnTo>
                    <a:pt x="11081337" y="13382"/>
                  </a:lnTo>
                  <a:lnTo>
                    <a:pt x="11066805" y="3589"/>
                  </a:lnTo>
                  <a:lnTo>
                    <a:pt x="11049000" y="0"/>
                  </a:lnTo>
                  <a:close/>
                </a:path>
              </a:pathLst>
            </a:custGeom>
            <a:solidFill>
              <a:srgbClr val="F4F6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48640" y="4023360"/>
              <a:ext cx="11094720" cy="2103120"/>
            </a:xfrm>
            <a:custGeom>
              <a:avLst/>
              <a:gdLst/>
              <a:ahLst/>
              <a:cxnLst/>
              <a:rect l="l" t="t" r="r" b="b"/>
              <a:pathLst>
                <a:path w="11094720" h="2103120">
                  <a:moveTo>
                    <a:pt x="0" y="45719"/>
                  </a:moveTo>
                  <a:lnTo>
                    <a:pt x="3593" y="27914"/>
                  </a:lnTo>
                  <a:lnTo>
                    <a:pt x="13392" y="13382"/>
                  </a:lnTo>
                  <a:lnTo>
                    <a:pt x="27924" y="3589"/>
                  </a:lnTo>
                  <a:lnTo>
                    <a:pt x="45719" y="0"/>
                  </a:lnTo>
                  <a:lnTo>
                    <a:pt x="11049000" y="0"/>
                  </a:lnTo>
                  <a:lnTo>
                    <a:pt x="11066805" y="3589"/>
                  </a:lnTo>
                  <a:lnTo>
                    <a:pt x="11081337" y="13382"/>
                  </a:lnTo>
                  <a:lnTo>
                    <a:pt x="11091130" y="27914"/>
                  </a:lnTo>
                  <a:lnTo>
                    <a:pt x="11094719" y="45719"/>
                  </a:lnTo>
                  <a:lnTo>
                    <a:pt x="11094719" y="2057400"/>
                  </a:lnTo>
                  <a:lnTo>
                    <a:pt x="11091130" y="2075195"/>
                  </a:lnTo>
                  <a:lnTo>
                    <a:pt x="11081337" y="2089727"/>
                  </a:lnTo>
                  <a:lnTo>
                    <a:pt x="11066805" y="2099526"/>
                  </a:lnTo>
                  <a:lnTo>
                    <a:pt x="11049000" y="2103120"/>
                  </a:lnTo>
                  <a:lnTo>
                    <a:pt x="45719" y="2103120"/>
                  </a:lnTo>
                  <a:lnTo>
                    <a:pt x="27924" y="2099526"/>
                  </a:lnTo>
                  <a:lnTo>
                    <a:pt x="13392" y="2089727"/>
                  </a:lnTo>
                  <a:lnTo>
                    <a:pt x="3593" y="2075195"/>
                  </a:lnTo>
                  <a:lnTo>
                    <a:pt x="0" y="2057400"/>
                  </a:lnTo>
                  <a:lnTo>
                    <a:pt x="0" y="45719"/>
                  </a:lnTo>
                  <a:close/>
                </a:path>
              </a:pathLst>
            </a:custGeom>
            <a:ln w="12192">
              <a:solidFill>
                <a:srgbClr val="D6DE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48640" y="4023359"/>
            <a:ext cx="11094720" cy="2103120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0"/>
              </a:spcBef>
            </a:pPr>
            <a:endParaRPr sz="1600" dirty="0">
              <a:latin typeface="Times New Roman"/>
              <a:cs typeface="Times New Roman"/>
            </a:endParaRPr>
          </a:p>
          <a:p>
            <a:pPr marL="320040">
              <a:lnSpc>
                <a:spcPct val="100000"/>
              </a:lnSpc>
            </a:pPr>
            <a:r>
              <a:rPr sz="1600" b="1" dirty="0">
                <a:solidFill>
                  <a:srgbClr val="1E2760"/>
                </a:solidFill>
                <a:latin typeface="Cambria"/>
                <a:cs typeface="Cambria"/>
              </a:rPr>
              <a:t>2</a:t>
            </a:r>
            <a:r>
              <a:rPr sz="1600" b="1" spc="-15" dirty="0">
                <a:solidFill>
                  <a:srgbClr val="1E2760"/>
                </a:solidFill>
                <a:latin typeface="Cambria"/>
                <a:cs typeface="Cambria"/>
              </a:rPr>
              <a:t> </a:t>
            </a:r>
            <a:r>
              <a:rPr sz="1600" b="1" dirty="0">
                <a:solidFill>
                  <a:srgbClr val="1E2760"/>
                </a:solidFill>
                <a:latin typeface="Cambria"/>
                <a:cs typeface="Cambria"/>
              </a:rPr>
              <a:t>·</a:t>
            </a:r>
            <a:r>
              <a:rPr sz="1600" b="1" spc="-5" dirty="0">
                <a:solidFill>
                  <a:srgbClr val="1E2760"/>
                </a:solidFill>
                <a:latin typeface="Cambria"/>
                <a:cs typeface="Cambria"/>
              </a:rPr>
              <a:t> </a:t>
            </a:r>
            <a:r>
              <a:rPr sz="1600" b="1" spc="-10" dirty="0">
                <a:solidFill>
                  <a:srgbClr val="1E2760"/>
                </a:solidFill>
                <a:latin typeface="Cambria"/>
                <a:cs typeface="Cambria"/>
              </a:rPr>
              <a:t>Operating</a:t>
            </a:r>
            <a:r>
              <a:rPr sz="1600" b="1" spc="-40" dirty="0">
                <a:solidFill>
                  <a:srgbClr val="1E2760"/>
                </a:solidFill>
                <a:latin typeface="Cambria"/>
                <a:cs typeface="Cambria"/>
              </a:rPr>
              <a:t> </a:t>
            </a:r>
            <a:r>
              <a:rPr sz="1600" b="1" spc="-10" dirty="0">
                <a:solidFill>
                  <a:srgbClr val="1E2760"/>
                </a:solidFill>
                <a:latin typeface="Cambria"/>
                <a:cs typeface="Cambria"/>
              </a:rPr>
              <a:t>Context</a:t>
            </a:r>
            <a:r>
              <a:rPr sz="1600" b="1" spc="-30" dirty="0">
                <a:solidFill>
                  <a:srgbClr val="1E2760"/>
                </a:solidFill>
                <a:latin typeface="Cambria"/>
                <a:cs typeface="Cambria"/>
              </a:rPr>
              <a:t> </a:t>
            </a:r>
            <a:r>
              <a:rPr sz="1600" b="1" dirty="0">
                <a:solidFill>
                  <a:srgbClr val="1E2760"/>
                </a:solidFill>
                <a:latin typeface="Cambria"/>
                <a:cs typeface="Cambria"/>
              </a:rPr>
              <a:t>&amp;</a:t>
            </a:r>
            <a:r>
              <a:rPr sz="1600" b="1" spc="-10" dirty="0">
                <a:solidFill>
                  <a:srgbClr val="1E2760"/>
                </a:solidFill>
                <a:latin typeface="Cambria"/>
                <a:cs typeface="Cambria"/>
              </a:rPr>
              <a:t> Discrete Limits</a:t>
            </a:r>
            <a:endParaRPr sz="16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805"/>
              </a:spcBef>
            </a:pPr>
            <a:endParaRPr sz="1600" dirty="0">
              <a:latin typeface="Cambria"/>
              <a:cs typeface="Cambria"/>
            </a:endParaRPr>
          </a:p>
          <a:p>
            <a:pPr marL="320040">
              <a:lnSpc>
                <a:spcPct val="100000"/>
              </a:lnSpc>
            </a:pPr>
            <a:r>
              <a:rPr sz="1250" spc="-20" dirty="0">
                <a:solidFill>
                  <a:srgbClr val="212846"/>
                </a:solidFill>
                <a:latin typeface="Calibri"/>
                <a:cs typeface="Calibri"/>
              </a:rPr>
              <a:t>Real-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world</a:t>
            </a:r>
            <a:r>
              <a:rPr sz="1250" spc="-3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212846"/>
                </a:solidFill>
                <a:latin typeface="Calibri"/>
                <a:cs typeface="Calibri"/>
              </a:rPr>
              <a:t>industrial</a:t>
            </a:r>
            <a:r>
              <a:rPr sz="1250" spc="2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machinery</a:t>
            </a:r>
            <a:r>
              <a:rPr sz="1250" spc="-10" dirty="0">
                <a:solidFill>
                  <a:srgbClr val="212846"/>
                </a:solidFill>
                <a:latin typeface="Calibri"/>
                <a:cs typeface="Calibri"/>
              </a:rPr>
              <a:t> operates</a:t>
            </a:r>
            <a:r>
              <a:rPr sz="1250" spc="-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on</a:t>
            </a:r>
            <a:r>
              <a:rPr sz="1250" spc="-2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a</a:t>
            </a:r>
            <a:r>
              <a:rPr sz="1250" spc="-3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212846"/>
                </a:solidFill>
                <a:latin typeface="Calibri"/>
                <a:cs typeface="Calibri"/>
              </a:rPr>
              <a:t>continuous</a:t>
            </a:r>
            <a:r>
              <a:rPr sz="1250" spc="1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spectrum,</a:t>
            </a:r>
            <a:r>
              <a:rPr sz="1250" spc="-2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yet</a:t>
            </a:r>
            <a:r>
              <a:rPr sz="1250" spc="-4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the</a:t>
            </a:r>
            <a:r>
              <a:rPr sz="1250" spc="-1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SoftMax</a:t>
            </a:r>
            <a:r>
              <a:rPr sz="1250" spc="-2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layer</a:t>
            </a:r>
            <a:r>
              <a:rPr sz="1250" spc="-4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212846"/>
                </a:solidFill>
                <a:latin typeface="Calibri"/>
                <a:cs typeface="Calibri"/>
              </a:rPr>
              <a:t>forces</a:t>
            </a:r>
            <a:r>
              <a:rPr sz="1250" spc="-2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212846"/>
                </a:solidFill>
                <a:latin typeface="Calibri"/>
                <a:cs typeface="Calibri"/>
              </a:rPr>
              <a:t>predictions</a:t>
            </a:r>
            <a:r>
              <a:rPr sz="1250" spc="3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into</a:t>
            </a:r>
            <a:r>
              <a:rPr sz="1250" spc="-2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exactly</a:t>
            </a:r>
            <a:r>
              <a:rPr sz="1250" spc="-5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24</a:t>
            </a:r>
            <a:r>
              <a:rPr sz="1250" spc="-3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discrete</a:t>
            </a:r>
            <a:r>
              <a:rPr sz="1250" spc="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212846"/>
                </a:solidFill>
                <a:latin typeface="Calibri"/>
                <a:cs typeface="Calibri"/>
              </a:rPr>
              <a:t>classes.</a:t>
            </a:r>
            <a:endParaRPr sz="125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20"/>
              </a:spcBef>
            </a:pPr>
            <a:endParaRPr sz="1250" dirty="0">
              <a:latin typeface="Calibri"/>
              <a:cs typeface="Calibri"/>
            </a:endParaRPr>
          </a:p>
          <a:p>
            <a:pPr marL="320040">
              <a:lnSpc>
                <a:spcPct val="100000"/>
              </a:lnSpc>
              <a:tabLst>
                <a:tab pos="914400" algn="l"/>
              </a:tabLst>
            </a:pPr>
            <a:r>
              <a:rPr sz="1050" b="1" spc="65" dirty="0">
                <a:solidFill>
                  <a:srgbClr val="8B3A31"/>
                </a:solidFill>
                <a:latin typeface="Calibri"/>
                <a:cs typeface="Calibri"/>
              </a:rPr>
              <a:t>DOUBT</a:t>
            </a:r>
            <a:r>
              <a:rPr sz="1050" b="1" dirty="0">
                <a:solidFill>
                  <a:srgbClr val="8B3A31"/>
                </a:solidFill>
                <a:latin typeface="Calibri"/>
                <a:cs typeface="Calibri"/>
              </a:rPr>
              <a:t>	</a:t>
            </a:r>
            <a:r>
              <a:rPr sz="1250" i="1" dirty="0">
                <a:solidFill>
                  <a:srgbClr val="212846"/>
                </a:solidFill>
                <a:latin typeface="Calibri"/>
                <a:cs typeface="Calibri"/>
              </a:rPr>
              <a:t>How</a:t>
            </a:r>
            <a:r>
              <a:rPr sz="1250" i="1" spc="-2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i="1" dirty="0">
                <a:solidFill>
                  <a:srgbClr val="212846"/>
                </a:solidFill>
                <a:latin typeface="Calibri"/>
                <a:cs typeface="Calibri"/>
              </a:rPr>
              <a:t>does</a:t>
            </a:r>
            <a:r>
              <a:rPr sz="1250" i="1" spc="-4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i="1" dirty="0">
                <a:solidFill>
                  <a:srgbClr val="212846"/>
                </a:solidFill>
                <a:latin typeface="Calibri"/>
                <a:cs typeface="Calibri"/>
              </a:rPr>
              <a:t>the</a:t>
            </a:r>
            <a:r>
              <a:rPr sz="1250" i="1" spc="-1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i="1" dirty="0">
                <a:solidFill>
                  <a:srgbClr val="212846"/>
                </a:solidFill>
                <a:latin typeface="Calibri"/>
                <a:cs typeface="Calibri"/>
              </a:rPr>
              <a:t>classification</a:t>
            </a:r>
            <a:r>
              <a:rPr sz="1250" i="1" spc="-3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i="1" dirty="0">
                <a:solidFill>
                  <a:srgbClr val="212846"/>
                </a:solidFill>
                <a:latin typeface="Calibri"/>
                <a:cs typeface="Calibri"/>
              </a:rPr>
              <a:t>head</a:t>
            </a:r>
            <a:r>
              <a:rPr sz="1250" i="1" spc="-5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i="1" dirty="0">
                <a:solidFill>
                  <a:srgbClr val="212846"/>
                </a:solidFill>
                <a:latin typeface="Calibri"/>
                <a:cs typeface="Calibri"/>
              </a:rPr>
              <a:t>react</a:t>
            </a:r>
            <a:r>
              <a:rPr sz="1250" i="1" spc="-2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i="1" dirty="0">
                <a:solidFill>
                  <a:srgbClr val="212846"/>
                </a:solidFill>
                <a:latin typeface="Calibri"/>
                <a:cs typeface="Calibri"/>
              </a:rPr>
              <a:t>to</a:t>
            </a:r>
            <a:r>
              <a:rPr sz="1250" i="1" spc="-1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i="1" dirty="0">
                <a:solidFill>
                  <a:srgbClr val="212846"/>
                </a:solidFill>
                <a:latin typeface="Calibri"/>
                <a:cs typeface="Calibri"/>
              </a:rPr>
              <a:t>an</a:t>
            </a:r>
            <a:r>
              <a:rPr sz="1250" i="1" spc="-3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i="1" dirty="0">
                <a:solidFill>
                  <a:srgbClr val="212846"/>
                </a:solidFill>
                <a:latin typeface="Calibri"/>
                <a:cs typeface="Calibri"/>
              </a:rPr>
              <a:t>unseen</a:t>
            </a:r>
            <a:r>
              <a:rPr sz="1250" i="1" spc="-3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i="1" spc="-10" dirty="0">
                <a:solidFill>
                  <a:srgbClr val="212846"/>
                </a:solidFill>
                <a:latin typeface="Calibri"/>
                <a:cs typeface="Calibri"/>
              </a:rPr>
              <a:t>intermediate </a:t>
            </a:r>
            <a:r>
              <a:rPr sz="1250" i="1" dirty="0">
                <a:solidFill>
                  <a:srgbClr val="212846"/>
                </a:solidFill>
                <a:latin typeface="Calibri"/>
                <a:cs typeface="Calibri"/>
              </a:rPr>
              <a:t>operating</a:t>
            </a:r>
            <a:r>
              <a:rPr sz="1250" i="1" spc="-5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i="1" spc="-10" dirty="0">
                <a:solidFill>
                  <a:srgbClr val="212846"/>
                </a:solidFill>
                <a:latin typeface="Calibri"/>
                <a:cs typeface="Calibri"/>
              </a:rPr>
              <a:t>state</a:t>
            </a:r>
            <a:r>
              <a:rPr sz="1250" i="1" spc="1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i="1" dirty="0">
                <a:solidFill>
                  <a:srgbClr val="212846"/>
                </a:solidFill>
                <a:latin typeface="Calibri"/>
                <a:cs typeface="Calibri"/>
              </a:rPr>
              <a:t>(e.g.</a:t>
            </a:r>
            <a:r>
              <a:rPr sz="1250" i="1" spc="-4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i="1" dirty="0">
                <a:solidFill>
                  <a:srgbClr val="212846"/>
                </a:solidFill>
                <a:latin typeface="Calibri"/>
                <a:cs typeface="Calibri"/>
              </a:rPr>
              <a:t>1500</a:t>
            </a:r>
            <a:r>
              <a:rPr sz="1250" i="1" spc="2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i="1" dirty="0">
                <a:solidFill>
                  <a:srgbClr val="212846"/>
                </a:solidFill>
                <a:latin typeface="Calibri"/>
                <a:cs typeface="Calibri"/>
              </a:rPr>
              <a:t>r/min</a:t>
            </a:r>
            <a:r>
              <a:rPr sz="1250" i="1" spc="-1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i="1" dirty="0">
                <a:solidFill>
                  <a:srgbClr val="212846"/>
                </a:solidFill>
                <a:latin typeface="Calibri"/>
                <a:cs typeface="Calibri"/>
              </a:rPr>
              <a:t>at</a:t>
            </a:r>
            <a:r>
              <a:rPr sz="1250" i="1" spc="-2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i="1" dirty="0">
                <a:solidFill>
                  <a:srgbClr val="212846"/>
                </a:solidFill>
                <a:latin typeface="Calibri"/>
                <a:cs typeface="Calibri"/>
              </a:rPr>
              <a:t>3.0 kN)?</a:t>
            </a:r>
            <a:r>
              <a:rPr sz="1250" i="1" spc="-6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i="1" dirty="0">
                <a:solidFill>
                  <a:srgbClr val="212846"/>
                </a:solidFill>
                <a:latin typeface="Calibri"/>
                <a:cs typeface="Calibri"/>
              </a:rPr>
              <a:t>Does</a:t>
            </a:r>
            <a:r>
              <a:rPr sz="1250" i="1" spc="-2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i="1" dirty="0">
                <a:solidFill>
                  <a:srgbClr val="212846"/>
                </a:solidFill>
                <a:latin typeface="Calibri"/>
                <a:cs typeface="Calibri"/>
              </a:rPr>
              <a:t>it risk</a:t>
            </a:r>
            <a:r>
              <a:rPr sz="1250" i="1" spc="-3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i="1" dirty="0">
                <a:solidFill>
                  <a:srgbClr val="212846"/>
                </a:solidFill>
                <a:latin typeface="Calibri"/>
                <a:cs typeface="Calibri"/>
              </a:rPr>
              <a:t>forcing</a:t>
            </a:r>
            <a:r>
              <a:rPr sz="1250" i="1" spc="-3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i="1" dirty="0">
                <a:solidFill>
                  <a:srgbClr val="212846"/>
                </a:solidFill>
                <a:latin typeface="Calibri"/>
                <a:cs typeface="Calibri"/>
              </a:rPr>
              <a:t>a</a:t>
            </a:r>
            <a:r>
              <a:rPr sz="1250" i="1" spc="-3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i="1" dirty="0">
                <a:solidFill>
                  <a:srgbClr val="212846"/>
                </a:solidFill>
                <a:latin typeface="Calibri"/>
                <a:cs typeface="Calibri"/>
              </a:rPr>
              <a:t>false</a:t>
            </a:r>
            <a:r>
              <a:rPr sz="1250" i="1" spc="1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i="1" dirty="0">
                <a:solidFill>
                  <a:srgbClr val="212846"/>
                </a:solidFill>
                <a:latin typeface="Calibri"/>
                <a:cs typeface="Calibri"/>
              </a:rPr>
              <a:t>positive</a:t>
            </a:r>
            <a:r>
              <a:rPr sz="1250" i="1" spc="-1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i="1" dirty="0">
                <a:solidFill>
                  <a:srgbClr val="212846"/>
                </a:solidFill>
                <a:latin typeface="Calibri"/>
                <a:cs typeface="Calibri"/>
              </a:rPr>
              <a:t>onto</a:t>
            </a:r>
            <a:r>
              <a:rPr sz="1250" i="1" spc="-3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i="1" spc="-25" dirty="0">
                <a:solidFill>
                  <a:srgbClr val="212846"/>
                </a:solidFill>
                <a:latin typeface="Calibri"/>
                <a:cs typeface="Calibri"/>
              </a:rPr>
              <a:t>the</a:t>
            </a:r>
            <a:endParaRPr sz="1250" dirty="0">
              <a:latin typeface="Calibri"/>
              <a:cs typeface="Calibri"/>
            </a:endParaRPr>
          </a:p>
          <a:p>
            <a:pPr marL="320040">
              <a:lnSpc>
                <a:spcPct val="100000"/>
              </a:lnSpc>
              <a:spcBef>
                <a:spcPts val="300"/>
              </a:spcBef>
            </a:pPr>
            <a:r>
              <a:rPr sz="1250" i="1" dirty="0">
                <a:solidFill>
                  <a:srgbClr val="212846"/>
                </a:solidFill>
                <a:latin typeface="Calibri"/>
                <a:cs typeface="Calibri"/>
              </a:rPr>
              <a:t>nearest</a:t>
            </a:r>
            <a:r>
              <a:rPr sz="1250" i="1" spc="-3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i="1" dirty="0">
                <a:solidFill>
                  <a:srgbClr val="212846"/>
                </a:solidFill>
                <a:latin typeface="Calibri"/>
                <a:cs typeface="Calibri"/>
              </a:rPr>
              <a:t>known</a:t>
            </a:r>
            <a:r>
              <a:rPr sz="1250" i="1" spc="-6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i="1" spc="-10" dirty="0">
                <a:solidFill>
                  <a:srgbClr val="212846"/>
                </a:solidFill>
                <a:latin typeface="Calibri"/>
                <a:cs typeface="Calibri"/>
              </a:rPr>
              <a:t>class?</a:t>
            </a:r>
            <a:endParaRPr sz="1250" dirty="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35940" y="6614566"/>
            <a:ext cx="1676400" cy="1473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10"/>
              </a:lnSpc>
            </a:pPr>
            <a:r>
              <a:rPr sz="950" dirty="0">
                <a:solidFill>
                  <a:srgbClr val="525A78"/>
                </a:solidFill>
                <a:latin typeface="Calibri"/>
                <a:cs typeface="Calibri"/>
              </a:rPr>
              <a:t>Part</a:t>
            </a:r>
            <a:r>
              <a:rPr sz="950" spc="-50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525A78"/>
                </a:solidFill>
                <a:latin typeface="Calibri"/>
                <a:cs typeface="Calibri"/>
              </a:rPr>
              <a:t>2</a:t>
            </a:r>
            <a:r>
              <a:rPr sz="950" spc="15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525A78"/>
                </a:solidFill>
                <a:latin typeface="Calibri"/>
                <a:cs typeface="Calibri"/>
              </a:rPr>
              <a:t>—</a:t>
            </a:r>
            <a:r>
              <a:rPr sz="950" spc="-20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525A78"/>
                </a:solidFill>
                <a:latin typeface="Calibri"/>
                <a:cs typeface="Calibri"/>
              </a:rPr>
              <a:t>Doubts</a:t>
            </a:r>
            <a:r>
              <a:rPr sz="950" spc="-15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525A78"/>
                </a:solidFill>
                <a:latin typeface="Calibri"/>
                <a:cs typeface="Calibri"/>
              </a:rPr>
              <a:t>&amp; </a:t>
            </a:r>
            <a:r>
              <a:rPr sz="950" spc="-10" dirty="0">
                <a:solidFill>
                  <a:srgbClr val="525A78"/>
                </a:solidFill>
                <a:latin typeface="Calibri"/>
                <a:cs typeface="Calibri"/>
              </a:rPr>
              <a:t>Vulnerabilities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8425">
              <a:lnSpc>
                <a:spcPts val="1010"/>
              </a:lnSpc>
            </a:pPr>
            <a:r>
              <a:rPr spc="-50" dirty="0"/>
              <a:t>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411556"/>
            <a:ext cx="1358900" cy="2019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50" b="1" spc="65" dirty="0">
                <a:solidFill>
                  <a:srgbClr val="525A78"/>
                </a:solidFill>
                <a:latin typeface="Calibri"/>
                <a:cs typeface="Calibri"/>
              </a:rPr>
              <a:t>OP</a:t>
            </a:r>
            <a:r>
              <a:rPr sz="1150" b="1" spc="-110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1150" b="1" spc="60" dirty="0">
                <a:solidFill>
                  <a:srgbClr val="525A78"/>
                </a:solidFill>
                <a:latin typeface="Calibri"/>
                <a:cs typeface="Calibri"/>
              </a:rPr>
              <a:t>EN</a:t>
            </a:r>
            <a:r>
              <a:rPr sz="1150" b="1" spc="330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1150" b="1" dirty="0">
                <a:solidFill>
                  <a:srgbClr val="525A78"/>
                </a:solidFill>
                <a:latin typeface="Calibri"/>
                <a:cs typeface="Calibri"/>
              </a:rPr>
              <a:t>Q</a:t>
            </a:r>
            <a:r>
              <a:rPr sz="1150" b="1" spc="-114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1150" b="1" spc="90" dirty="0">
                <a:solidFill>
                  <a:srgbClr val="525A78"/>
                </a:solidFill>
                <a:latin typeface="Calibri"/>
                <a:cs typeface="Calibri"/>
              </a:rPr>
              <a:t>UES</a:t>
            </a:r>
            <a:r>
              <a:rPr sz="1150" b="1" spc="-110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1150" b="1" spc="-10" dirty="0">
                <a:solidFill>
                  <a:srgbClr val="525A78"/>
                </a:solidFill>
                <a:latin typeface="Calibri"/>
                <a:cs typeface="Calibri"/>
              </a:rPr>
              <a:t>T</a:t>
            </a:r>
            <a:r>
              <a:rPr sz="1150" b="1" spc="-105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1150" b="1" spc="-10" dirty="0">
                <a:solidFill>
                  <a:srgbClr val="525A78"/>
                </a:solidFill>
                <a:latin typeface="Calibri"/>
                <a:cs typeface="Calibri"/>
              </a:rPr>
              <a:t>I</a:t>
            </a:r>
            <a:r>
              <a:rPr sz="1150" b="1" spc="-114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1150" b="1" spc="60" dirty="0">
                <a:solidFill>
                  <a:srgbClr val="525A78"/>
                </a:solidFill>
                <a:latin typeface="Calibri"/>
                <a:cs typeface="Calibri"/>
              </a:rPr>
              <a:t>ON</a:t>
            </a:r>
            <a:r>
              <a:rPr sz="1150" b="1" spc="-110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1150" b="1" spc="-50" dirty="0">
                <a:solidFill>
                  <a:srgbClr val="525A78"/>
                </a:solidFill>
                <a:latin typeface="Calibri"/>
                <a:cs typeface="Calibri"/>
              </a:rPr>
              <a:t>S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Doubts</a:t>
            </a:r>
            <a:r>
              <a:rPr spc="-70" dirty="0"/>
              <a:t> </a:t>
            </a:r>
            <a:r>
              <a:rPr spc="-10" dirty="0"/>
              <a:t>Regarding</a:t>
            </a:r>
            <a:r>
              <a:rPr spc="-85" dirty="0"/>
              <a:t> </a:t>
            </a:r>
            <a:r>
              <a:rPr dirty="0"/>
              <a:t>Latent</a:t>
            </a:r>
            <a:r>
              <a:rPr spc="-30" dirty="0"/>
              <a:t> </a:t>
            </a:r>
            <a:r>
              <a:rPr dirty="0"/>
              <a:t>Space</a:t>
            </a:r>
            <a:r>
              <a:rPr spc="-45" dirty="0"/>
              <a:t> </a:t>
            </a:r>
            <a:r>
              <a:rPr spc="-10" dirty="0"/>
              <a:t>Entanglement</a:t>
            </a:r>
          </a:p>
        </p:txBody>
      </p:sp>
      <p:sp>
        <p:nvSpPr>
          <p:cNvPr id="4" name="object 4"/>
          <p:cNvSpPr/>
          <p:nvPr/>
        </p:nvSpPr>
        <p:spPr>
          <a:xfrm>
            <a:off x="548640" y="1371600"/>
            <a:ext cx="11094720" cy="0"/>
          </a:xfrm>
          <a:custGeom>
            <a:avLst/>
            <a:gdLst/>
            <a:ahLst/>
            <a:cxnLst/>
            <a:rect l="l" t="t" r="r" b="b"/>
            <a:pathLst>
              <a:path w="11094720">
                <a:moveTo>
                  <a:pt x="0" y="0"/>
                </a:moveTo>
                <a:lnTo>
                  <a:pt x="11094719" y="0"/>
                </a:lnTo>
              </a:path>
            </a:pathLst>
          </a:custGeom>
          <a:ln w="12192">
            <a:solidFill>
              <a:srgbClr val="C4CCE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542544" y="1685544"/>
            <a:ext cx="5331460" cy="2618740"/>
            <a:chOff x="542544" y="1685544"/>
            <a:chExt cx="5331460" cy="2618740"/>
          </a:xfrm>
        </p:grpSpPr>
        <p:sp>
          <p:nvSpPr>
            <p:cNvPr id="6" name="object 6"/>
            <p:cNvSpPr/>
            <p:nvPr/>
          </p:nvSpPr>
          <p:spPr>
            <a:xfrm>
              <a:off x="548640" y="1691640"/>
              <a:ext cx="5318760" cy="2606040"/>
            </a:xfrm>
            <a:custGeom>
              <a:avLst/>
              <a:gdLst/>
              <a:ahLst/>
              <a:cxnLst/>
              <a:rect l="l" t="t" r="r" b="b"/>
              <a:pathLst>
                <a:path w="5318760" h="2606040">
                  <a:moveTo>
                    <a:pt x="5273040" y="0"/>
                  </a:moveTo>
                  <a:lnTo>
                    <a:pt x="45707" y="0"/>
                  </a:lnTo>
                  <a:lnTo>
                    <a:pt x="27914" y="3589"/>
                  </a:lnTo>
                  <a:lnTo>
                    <a:pt x="13385" y="13382"/>
                  </a:lnTo>
                  <a:lnTo>
                    <a:pt x="3591" y="27914"/>
                  </a:lnTo>
                  <a:lnTo>
                    <a:pt x="0" y="45720"/>
                  </a:lnTo>
                  <a:lnTo>
                    <a:pt x="0" y="2560320"/>
                  </a:lnTo>
                  <a:lnTo>
                    <a:pt x="3591" y="2578125"/>
                  </a:lnTo>
                  <a:lnTo>
                    <a:pt x="13385" y="2592657"/>
                  </a:lnTo>
                  <a:lnTo>
                    <a:pt x="27914" y="2602450"/>
                  </a:lnTo>
                  <a:lnTo>
                    <a:pt x="45707" y="2606040"/>
                  </a:lnTo>
                  <a:lnTo>
                    <a:pt x="5273040" y="2606040"/>
                  </a:lnTo>
                  <a:lnTo>
                    <a:pt x="5290845" y="2602450"/>
                  </a:lnTo>
                  <a:lnTo>
                    <a:pt x="5305377" y="2592657"/>
                  </a:lnTo>
                  <a:lnTo>
                    <a:pt x="5315170" y="2578125"/>
                  </a:lnTo>
                  <a:lnTo>
                    <a:pt x="5318760" y="2560320"/>
                  </a:lnTo>
                  <a:lnTo>
                    <a:pt x="5318760" y="45720"/>
                  </a:lnTo>
                  <a:lnTo>
                    <a:pt x="5315170" y="27914"/>
                  </a:lnTo>
                  <a:lnTo>
                    <a:pt x="5305377" y="13382"/>
                  </a:lnTo>
                  <a:lnTo>
                    <a:pt x="5290845" y="3589"/>
                  </a:lnTo>
                  <a:lnTo>
                    <a:pt x="5273040" y="0"/>
                  </a:lnTo>
                  <a:close/>
                </a:path>
              </a:pathLst>
            </a:custGeom>
            <a:solidFill>
              <a:srgbClr val="F4F6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48640" y="1691640"/>
              <a:ext cx="5318760" cy="2606040"/>
            </a:xfrm>
            <a:custGeom>
              <a:avLst/>
              <a:gdLst/>
              <a:ahLst/>
              <a:cxnLst/>
              <a:rect l="l" t="t" r="r" b="b"/>
              <a:pathLst>
                <a:path w="5318760" h="2606040">
                  <a:moveTo>
                    <a:pt x="0" y="45720"/>
                  </a:moveTo>
                  <a:lnTo>
                    <a:pt x="3591" y="27914"/>
                  </a:lnTo>
                  <a:lnTo>
                    <a:pt x="13385" y="13382"/>
                  </a:lnTo>
                  <a:lnTo>
                    <a:pt x="27914" y="3589"/>
                  </a:lnTo>
                  <a:lnTo>
                    <a:pt x="45707" y="0"/>
                  </a:lnTo>
                  <a:lnTo>
                    <a:pt x="5273040" y="0"/>
                  </a:lnTo>
                  <a:lnTo>
                    <a:pt x="5290845" y="3589"/>
                  </a:lnTo>
                  <a:lnTo>
                    <a:pt x="5305377" y="13382"/>
                  </a:lnTo>
                  <a:lnTo>
                    <a:pt x="5315170" y="27914"/>
                  </a:lnTo>
                  <a:lnTo>
                    <a:pt x="5318760" y="45720"/>
                  </a:lnTo>
                  <a:lnTo>
                    <a:pt x="5318760" y="2560320"/>
                  </a:lnTo>
                  <a:lnTo>
                    <a:pt x="5315170" y="2578125"/>
                  </a:lnTo>
                  <a:lnTo>
                    <a:pt x="5305377" y="2592657"/>
                  </a:lnTo>
                  <a:lnTo>
                    <a:pt x="5290845" y="2602450"/>
                  </a:lnTo>
                  <a:lnTo>
                    <a:pt x="5273040" y="2606040"/>
                  </a:lnTo>
                  <a:lnTo>
                    <a:pt x="45707" y="2606040"/>
                  </a:lnTo>
                  <a:lnTo>
                    <a:pt x="27914" y="2602450"/>
                  </a:lnTo>
                  <a:lnTo>
                    <a:pt x="13385" y="2592657"/>
                  </a:lnTo>
                  <a:lnTo>
                    <a:pt x="3591" y="2578125"/>
                  </a:lnTo>
                  <a:lnTo>
                    <a:pt x="0" y="2560320"/>
                  </a:lnTo>
                  <a:lnTo>
                    <a:pt x="0" y="45720"/>
                  </a:lnTo>
                  <a:close/>
                </a:path>
              </a:pathLst>
            </a:custGeom>
            <a:ln w="12192">
              <a:solidFill>
                <a:srgbClr val="D6DE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48640" y="1691639"/>
            <a:ext cx="5318760" cy="2606040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80"/>
              </a:spcBef>
            </a:pPr>
            <a:endParaRPr sz="1650">
              <a:latin typeface="Times New Roman"/>
              <a:cs typeface="Times New Roman"/>
            </a:endParaRPr>
          </a:p>
          <a:p>
            <a:pPr marL="292735">
              <a:lnSpc>
                <a:spcPct val="100000"/>
              </a:lnSpc>
            </a:pPr>
            <a:r>
              <a:rPr sz="1650" b="1" dirty="0">
                <a:solidFill>
                  <a:srgbClr val="1E2760"/>
                </a:solidFill>
                <a:latin typeface="Cambria"/>
                <a:cs typeface="Cambria"/>
              </a:rPr>
              <a:t>Domain</a:t>
            </a:r>
            <a:r>
              <a:rPr sz="1650" b="1" spc="-65" dirty="0">
                <a:solidFill>
                  <a:srgbClr val="1E2760"/>
                </a:solidFill>
                <a:latin typeface="Cambria"/>
                <a:cs typeface="Cambria"/>
              </a:rPr>
              <a:t> </a:t>
            </a:r>
            <a:r>
              <a:rPr sz="1650" b="1" dirty="0">
                <a:solidFill>
                  <a:srgbClr val="1E2760"/>
                </a:solidFill>
                <a:latin typeface="Cambria"/>
                <a:cs typeface="Cambria"/>
              </a:rPr>
              <a:t>Shift</a:t>
            </a:r>
            <a:r>
              <a:rPr sz="1650" b="1" spc="-55" dirty="0">
                <a:solidFill>
                  <a:srgbClr val="1E2760"/>
                </a:solidFill>
                <a:latin typeface="Cambria"/>
                <a:cs typeface="Cambria"/>
              </a:rPr>
              <a:t> </a:t>
            </a:r>
            <a:r>
              <a:rPr sz="1650" b="1" spc="-10" dirty="0">
                <a:solidFill>
                  <a:srgbClr val="1E2760"/>
                </a:solidFill>
                <a:latin typeface="Cambria"/>
                <a:cs typeface="Cambria"/>
              </a:rPr>
              <a:t>Susceptibility</a:t>
            </a:r>
            <a:endParaRPr sz="1650">
              <a:latin typeface="Cambria"/>
              <a:cs typeface="Cambria"/>
            </a:endParaRPr>
          </a:p>
          <a:p>
            <a:pPr>
              <a:lnSpc>
                <a:spcPct val="100000"/>
              </a:lnSpc>
            </a:pPr>
            <a:endParaRPr sz="165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900"/>
              </a:spcBef>
            </a:pPr>
            <a:endParaRPr sz="1650">
              <a:latin typeface="Cambria"/>
              <a:cs typeface="Cambria"/>
            </a:endParaRPr>
          </a:p>
          <a:p>
            <a:pPr marL="292735" marR="318135">
              <a:lnSpc>
                <a:spcPct val="122500"/>
              </a:lnSpc>
            </a:pP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The</a:t>
            </a:r>
            <a:r>
              <a:rPr sz="1250" spc="-2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dual</a:t>
            </a:r>
            <a:r>
              <a:rPr sz="1250" spc="-2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backbones</a:t>
            </a:r>
            <a:r>
              <a:rPr sz="1250" spc="-10" dirty="0">
                <a:solidFill>
                  <a:srgbClr val="212846"/>
                </a:solidFill>
                <a:latin typeface="Calibri"/>
                <a:cs typeface="Calibri"/>
              </a:rPr>
              <a:t> compress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inputs</a:t>
            </a:r>
            <a:r>
              <a:rPr sz="1250" spc="-1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into</a:t>
            </a:r>
            <a:r>
              <a:rPr sz="1250" spc="-1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a</a:t>
            </a:r>
            <a:r>
              <a:rPr sz="1250" spc="-4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fused</a:t>
            </a:r>
            <a:r>
              <a:rPr sz="1250" spc="-3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212846"/>
                </a:solidFill>
                <a:latin typeface="Calibri"/>
                <a:cs typeface="Calibri"/>
              </a:rPr>
              <a:t>128-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D latent</a:t>
            </a:r>
            <a:r>
              <a:rPr sz="1250" spc="-3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212846"/>
                </a:solidFill>
                <a:latin typeface="Calibri"/>
                <a:cs typeface="Calibri"/>
              </a:rPr>
              <a:t>vector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without any</a:t>
            </a:r>
            <a:r>
              <a:rPr sz="1250" spc="-2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explicit</a:t>
            </a:r>
            <a:r>
              <a:rPr sz="1250" spc="-4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212846"/>
                </a:solidFill>
                <a:latin typeface="Calibri"/>
                <a:cs typeface="Calibri"/>
              </a:rPr>
              <a:t>disentanglement</a:t>
            </a:r>
            <a:r>
              <a:rPr sz="1250" spc="2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212846"/>
                </a:solidFill>
                <a:latin typeface="Calibri"/>
                <a:cs typeface="Calibri"/>
              </a:rPr>
              <a:t>constraint</a:t>
            </a:r>
            <a:r>
              <a:rPr sz="1250" spc="2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—</a:t>
            </a:r>
            <a:r>
              <a:rPr sz="1250" spc="-1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such</a:t>
            </a:r>
            <a:r>
              <a:rPr sz="1250" spc="-1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as</a:t>
            </a:r>
            <a:r>
              <a:rPr sz="1250" spc="-3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an</a:t>
            </a:r>
            <a:r>
              <a:rPr sz="1250" spc="-1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212846"/>
                </a:solidFill>
                <a:latin typeface="Calibri"/>
                <a:cs typeface="Calibri"/>
              </a:rPr>
              <a:t>orthogonal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or</a:t>
            </a:r>
            <a:r>
              <a:rPr sz="1250" spc="-2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212846"/>
                </a:solidFill>
                <a:latin typeface="Calibri"/>
                <a:cs typeface="Calibri"/>
              </a:rPr>
              <a:t>adversarial</a:t>
            </a:r>
            <a:r>
              <a:rPr sz="1250" spc="1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loss</a:t>
            </a:r>
            <a:r>
              <a:rPr sz="1250" spc="-1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—</a:t>
            </a:r>
            <a:r>
              <a:rPr sz="1250" spc="-1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to</a:t>
            </a:r>
            <a:r>
              <a:rPr sz="1250" spc="-2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212846"/>
                </a:solidFill>
                <a:latin typeface="Calibri"/>
                <a:cs typeface="Calibri"/>
              </a:rPr>
              <a:t>separate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the</a:t>
            </a:r>
            <a:r>
              <a:rPr sz="1250" spc="-1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sources</a:t>
            </a:r>
            <a:r>
              <a:rPr sz="1250" spc="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of</a:t>
            </a:r>
            <a:r>
              <a:rPr sz="1250" spc="-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212846"/>
                </a:solidFill>
                <a:latin typeface="Calibri"/>
                <a:cs typeface="Calibri"/>
              </a:rPr>
              <a:t>variation.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318503" y="1685544"/>
            <a:ext cx="5331460" cy="2618740"/>
            <a:chOff x="6318503" y="1685544"/>
            <a:chExt cx="5331460" cy="2618740"/>
          </a:xfrm>
        </p:grpSpPr>
        <p:sp>
          <p:nvSpPr>
            <p:cNvPr id="10" name="object 10"/>
            <p:cNvSpPr/>
            <p:nvPr/>
          </p:nvSpPr>
          <p:spPr>
            <a:xfrm>
              <a:off x="6324599" y="1691640"/>
              <a:ext cx="5318760" cy="2606040"/>
            </a:xfrm>
            <a:custGeom>
              <a:avLst/>
              <a:gdLst/>
              <a:ahLst/>
              <a:cxnLst/>
              <a:rect l="l" t="t" r="r" b="b"/>
              <a:pathLst>
                <a:path w="5318759" h="2606040">
                  <a:moveTo>
                    <a:pt x="5273040" y="0"/>
                  </a:moveTo>
                  <a:lnTo>
                    <a:pt x="45720" y="0"/>
                  </a:lnTo>
                  <a:lnTo>
                    <a:pt x="27914" y="3589"/>
                  </a:lnTo>
                  <a:lnTo>
                    <a:pt x="13382" y="13382"/>
                  </a:lnTo>
                  <a:lnTo>
                    <a:pt x="3589" y="27914"/>
                  </a:lnTo>
                  <a:lnTo>
                    <a:pt x="0" y="45720"/>
                  </a:lnTo>
                  <a:lnTo>
                    <a:pt x="0" y="2560320"/>
                  </a:lnTo>
                  <a:lnTo>
                    <a:pt x="3589" y="2578125"/>
                  </a:lnTo>
                  <a:lnTo>
                    <a:pt x="13382" y="2592657"/>
                  </a:lnTo>
                  <a:lnTo>
                    <a:pt x="27914" y="2602450"/>
                  </a:lnTo>
                  <a:lnTo>
                    <a:pt x="45720" y="2606040"/>
                  </a:lnTo>
                  <a:lnTo>
                    <a:pt x="5273040" y="2606040"/>
                  </a:lnTo>
                  <a:lnTo>
                    <a:pt x="5290845" y="2602450"/>
                  </a:lnTo>
                  <a:lnTo>
                    <a:pt x="5305377" y="2592657"/>
                  </a:lnTo>
                  <a:lnTo>
                    <a:pt x="5315170" y="2578125"/>
                  </a:lnTo>
                  <a:lnTo>
                    <a:pt x="5318759" y="2560320"/>
                  </a:lnTo>
                  <a:lnTo>
                    <a:pt x="5318759" y="45720"/>
                  </a:lnTo>
                  <a:lnTo>
                    <a:pt x="5315170" y="27914"/>
                  </a:lnTo>
                  <a:lnTo>
                    <a:pt x="5305377" y="13382"/>
                  </a:lnTo>
                  <a:lnTo>
                    <a:pt x="5290845" y="3589"/>
                  </a:lnTo>
                  <a:lnTo>
                    <a:pt x="5273040" y="0"/>
                  </a:lnTo>
                  <a:close/>
                </a:path>
              </a:pathLst>
            </a:custGeom>
            <a:solidFill>
              <a:srgbClr val="F4F6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324599" y="1691640"/>
              <a:ext cx="5318760" cy="2606040"/>
            </a:xfrm>
            <a:custGeom>
              <a:avLst/>
              <a:gdLst/>
              <a:ahLst/>
              <a:cxnLst/>
              <a:rect l="l" t="t" r="r" b="b"/>
              <a:pathLst>
                <a:path w="5318759" h="2606040">
                  <a:moveTo>
                    <a:pt x="0" y="45720"/>
                  </a:moveTo>
                  <a:lnTo>
                    <a:pt x="3589" y="27914"/>
                  </a:lnTo>
                  <a:lnTo>
                    <a:pt x="13382" y="13382"/>
                  </a:lnTo>
                  <a:lnTo>
                    <a:pt x="27914" y="3589"/>
                  </a:lnTo>
                  <a:lnTo>
                    <a:pt x="45720" y="0"/>
                  </a:lnTo>
                  <a:lnTo>
                    <a:pt x="5273040" y="0"/>
                  </a:lnTo>
                  <a:lnTo>
                    <a:pt x="5290845" y="3589"/>
                  </a:lnTo>
                  <a:lnTo>
                    <a:pt x="5305377" y="13382"/>
                  </a:lnTo>
                  <a:lnTo>
                    <a:pt x="5315170" y="27914"/>
                  </a:lnTo>
                  <a:lnTo>
                    <a:pt x="5318759" y="45720"/>
                  </a:lnTo>
                  <a:lnTo>
                    <a:pt x="5318759" y="2560320"/>
                  </a:lnTo>
                  <a:lnTo>
                    <a:pt x="5315170" y="2578125"/>
                  </a:lnTo>
                  <a:lnTo>
                    <a:pt x="5305377" y="2592657"/>
                  </a:lnTo>
                  <a:lnTo>
                    <a:pt x="5290845" y="2602450"/>
                  </a:lnTo>
                  <a:lnTo>
                    <a:pt x="5273040" y="2606040"/>
                  </a:lnTo>
                  <a:lnTo>
                    <a:pt x="45720" y="2606040"/>
                  </a:lnTo>
                  <a:lnTo>
                    <a:pt x="27914" y="2602450"/>
                  </a:lnTo>
                  <a:lnTo>
                    <a:pt x="13382" y="2592657"/>
                  </a:lnTo>
                  <a:lnTo>
                    <a:pt x="3589" y="2578125"/>
                  </a:lnTo>
                  <a:lnTo>
                    <a:pt x="0" y="2560320"/>
                  </a:lnTo>
                  <a:lnTo>
                    <a:pt x="0" y="45720"/>
                  </a:lnTo>
                  <a:close/>
                </a:path>
              </a:pathLst>
            </a:custGeom>
            <a:ln w="12192">
              <a:solidFill>
                <a:srgbClr val="D6DE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6324600" y="1691639"/>
            <a:ext cx="5318760" cy="2606040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80"/>
              </a:spcBef>
            </a:pPr>
            <a:endParaRPr sz="1650">
              <a:latin typeface="Times New Roman"/>
              <a:cs typeface="Times New Roman"/>
            </a:endParaRPr>
          </a:p>
          <a:p>
            <a:pPr marL="294005">
              <a:lnSpc>
                <a:spcPct val="100000"/>
              </a:lnSpc>
            </a:pPr>
            <a:r>
              <a:rPr sz="1650" b="1" dirty="0">
                <a:solidFill>
                  <a:srgbClr val="1E2760"/>
                </a:solidFill>
                <a:latin typeface="Cambria"/>
                <a:cs typeface="Cambria"/>
              </a:rPr>
              <a:t>Memorizing</a:t>
            </a:r>
            <a:r>
              <a:rPr sz="1650" b="1" spc="-85" dirty="0">
                <a:solidFill>
                  <a:srgbClr val="1E2760"/>
                </a:solidFill>
                <a:latin typeface="Cambria"/>
                <a:cs typeface="Cambria"/>
              </a:rPr>
              <a:t> </a:t>
            </a:r>
            <a:r>
              <a:rPr sz="1650" b="1" dirty="0">
                <a:solidFill>
                  <a:srgbClr val="1E2760"/>
                </a:solidFill>
                <a:latin typeface="Cambria"/>
                <a:cs typeface="Cambria"/>
              </a:rPr>
              <a:t>Nuisance</a:t>
            </a:r>
            <a:r>
              <a:rPr sz="1650" b="1" spc="-85" dirty="0">
                <a:solidFill>
                  <a:srgbClr val="1E2760"/>
                </a:solidFill>
                <a:latin typeface="Cambria"/>
                <a:cs typeface="Cambria"/>
              </a:rPr>
              <a:t> </a:t>
            </a:r>
            <a:r>
              <a:rPr sz="1650" b="1" spc="-20" dirty="0">
                <a:solidFill>
                  <a:srgbClr val="1E2760"/>
                </a:solidFill>
                <a:latin typeface="Cambria"/>
                <a:cs typeface="Cambria"/>
              </a:rPr>
              <a:t>Data</a:t>
            </a:r>
            <a:endParaRPr sz="1650">
              <a:latin typeface="Cambria"/>
              <a:cs typeface="Cambria"/>
            </a:endParaRPr>
          </a:p>
          <a:p>
            <a:pPr>
              <a:lnSpc>
                <a:spcPct val="100000"/>
              </a:lnSpc>
            </a:pPr>
            <a:endParaRPr sz="165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900"/>
              </a:spcBef>
            </a:pPr>
            <a:endParaRPr sz="1650">
              <a:latin typeface="Cambria"/>
              <a:cs typeface="Cambria"/>
            </a:endParaRPr>
          </a:p>
          <a:p>
            <a:pPr marL="294005" marR="321310">
              <a:lnSpc>
                <a:spcPct val="122500"/>
              </a:lnSpc>
            </a:pP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Deep</a:t>
            </a:r>
            <a:r>
              <a:rPr sz="1250" spc="-4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CNNs</a:t>
            </a:r>
            <a:r>
              <a:rPr sz="1250" spc="-5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are</a:t>
            </a:r>
            <a:r>
              <a:rPr sz="1250" spc="-4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highly</a:t>
            </a:r>
            <a:r>
              <a:rPr sz="1250" spc="-2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prone</a:t>
            </a:r>
            <a:r>
              <a:rPr sz="1250" spc="-1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to</a:t>
            </a:r>
            <a:r>
              <a:rPr sz="1250" spc="-2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memorizing</a:t>
            </a:r>
            <a:r>
              <a:rPr sz="1250" spc="-4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the</a:t>
            </a:r>
            <a:r>
              <a:rPr sz="1250" spc="-2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specific</a:t>
            </a:r>
            <a:r>
              <a:rPr sz="1250" spc="-5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acoustic</a:t>
            </a:r>
            <a:r>
              <a:rPr sz="1250" spc="-10" dirty="0">
                <a:solidFill>
                  <a:srgbClr val="212846"/>
                </a:solidFill>
                <a:latin typeface="Calibri"/>
                <a:cs typeface="Calibri"/>
              </a:rPr>
              <a:t> baseline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and</a:t>
            </a:r>
            <a:r>
              <a:rPr sz="1250" spc="-2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212846"/>
                </a:solidFill>
                <a:latin typeface="Calibri"/>
                <a:cs typeface="Calibri"/>
              </a:rPr>
              <a:t>operating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212846"/>
                </a:solidFill>
                <a:latin typeface="Calibri"/>
                <a:cs typeface="Calibri"/>
              </a:rPr>
              <a:t>context</a:t>
            </a:r>
            <a:r>
              <a:rPr sz="1250" spc="-2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of</a:t>
            </a:r>
            <a:r>
              <a:rPr sz="1250" spc="-1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the</a:t>
            </a:r>
            <a:r>
              <a:rPr sz="1250" spc="-1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training </a:t>
            </a:r>
            <a:r>
              <a:rPr sz="1250" spc="-25" dirty="0">
                <a:solidFill>
                  <a:srgbClr val="212846"/>
                </a:solidFill>
                <a:latin typeface="Calibri"/>
                <a:cs typeface="Calibri"/>
              </a:rPr>
              <a:t>test-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rig,</a:t>
            </a:r>
            <a:r>
              <a:rPr sz="1250" spc="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rather</a:t>
            </a:r>
            <a:r>
              <a:rPr sz="1250" spc="-3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than learning</a:t>
            </a:r>
            <a:r>
              <a:rPr sz="1250" spc="-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spc="-20" dirty="0">
                <a:solidFill>
                  <a:srgbClr val="212846"/>
                </a:solidFill>
                <a:latin typeface="Calibri"/>
                <a:cs typeface="Calibri"/>
              </a:rPr>
              <a:t>pure </a:t>
            </a:r>
            <a:r>
              <a:rPr sz="1250" spc="-10" dirty="0">
                <a:solidFill>
                  <a:srgbClr val="212846"/>
                </a:solidFill>
                <a:latin typeface="Calibri"/>
                <a:cs typeface="Calibri"/>
              </a:rPr>
              <a:t>structural</a:t>
            </a:r>
            <a:r>
              <a:rPr sz="1250" spc="1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fault</a:t>
            </a:r>
            <a:r>
              <a:rPr sz="1250" spc="-5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212846"/>
                </a:solidFill>
                <a:latin typeface="Calibri"/>
                <a:cs typeface="Calibri"/>
              </a:rPr>
              <a:t>physics.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542544" y="4611623"/>
            <a:ext cx="11107420" cy="1064260"/>
            <a:chOff x="542544" y="4611623"/>
            <a:chExt cx="11107420" cy="1064260"/>
          </a:xfrm>
        </p:grpSpPr>
        <p:sp>
          <p:nvSpPr>
            <p:cNvPr id="14" name="object 14"/>
            <p:cNvSpPr/>
            <p:nvPr/>
          </p:nvSpPr>
          <p:spPr>
            <a:xfrm>
              <a:off x="548640" y="4617719"/>
              <a:ext cx="11094720" cy="1051560"/>
            </a:xfrm>
            <a:custGeom>
              <a:avLst/>
              <a:gdLst/>
              <a:ahLst/>
              <a:cxnLst/>
              <a:rect l="l" t="t" r="r" b="b"/>
              <a:pathLst>
                <a:path w="11094720" h="1051560">
                  <a:moveTo>
                    <a:pt x="11049000" y="0"/>
                  </a:moveTo>
                  <a:lnTo>
                    <a:pt x="45719" y="0"/>
                  </a:lnTo>
                  <a:lnTo>
                    <a:pt x="27924" y="3589"/>
                  </a:lnTo>
                  <a:lnTo>
                    <a:pt x="13392" y="13382"/>
                  </a:lnTo>
                  <a:lnTo>
                    <a:pt x="3593" y="27914"/>
                  </a:lnTo>
                  <a:lnTo>
                    <a:pt x="0" y="45719"/>
                  </a:lnTo>
                  <a:lnTo>
                    <a:pt x="0" y="1005839"/>
                  </a:lnTo>
                  <a:lnTo>
                    <a:pt x="3593" y="1023635"/>
                  </a:lnTo>
                  <a:lnTo>
                    <a:pt x="13392" y="1038167"/>
                  </a:lnTo>
                  <a:lnTo>
                    <a:pt x="27924" y="1047966"/>
                  </a:lnTo>
                  <a:lnTo>
                    <a:pt x="45719" y="1051559"/>
                  </a:lnTo>
                  <a:lnTo>
                    <a:pt x="11049000" y="1051559"/>
                  </a:lnTo>
                  <a:lnTo>
                    <a:pt x="11066805" y="1047966"/>
                  </a:lnTo>
                  <a:lnTo>
                    <a:pt x="11081337" y="1038167"/>
                  </a:lnTo>
                  <a:lnTo>
                    <a:pt x="11091130" y="1023635"/>
                  </a:lnTo>
                  <a:lnTo>
                    <a:pt x="11094719" y="1005839"/>
                  </a:lnTo>
                  <a:lnTo>
                    <a:pt x="11094719" y="45719"/>
                  </a:lnTo>
                  <a:lnTo>
                    <a:pt x="11091130" y="27914"/>
                  </a:lnTo>
                  <a:lnTo>
                    <a:pt x="11081337" y="13382"/>
                  </a:lnTo>
                  <a:lnTo>
                    <a:pt x="11066805" y="3589"/>
                  </a:lnTo>
                  <a:lnTo>
                    <a:pt x="11049000" y="0"/>
                  </a:lnTo>
                  <a:close/>
                </a:path>
              </a:pathLst>
            </a:custGeom>
            <a:solidFill>
              <a:srgbClr val="1E27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48640" y="4617719"/>
              <a:ext cx="11094720" cy="1051560"/>
            </a:xfrm>
            <a:custGeom>
              <a:avLst/>
              <a:gdLst/>
              <a:ahLst/>
              <a:cxnLst/>
              <a:rect l="l" t="t" r="r" b="b"/>
              <a:pathLst>
                <a:path w="11094720" h="1051560">
                  <a:moveTo>
                    <a:pt x="0" y="45719"/>
                  </a:moveTo>
                  <a:lnTo>
                    <a:pt x="3593" y="27914"/>
                  </a:lnTo>
                  <a:lnTo>
                    <a:pt x="13392" y="13382"/>
                  </a:lnTo>
                  <a:lnTo>
                    <a:pt x="27924" y="3589"/>
                  </a:lnTo>
                  <a:lnTo>
                    <a:pt x="45719" y="0"/>
                  </a:lnTo>
                  <a:lnTo>
                    <a:pt x="11049000" y="0"/>
                  </a:lnTo>
                  <a:lnTo>
                    <a:pt x="11066805" y="3589"/>
                  </a:lnTo>
                  <a:lnTo>
                    <a:pt x="11081337" y="13382"/>
                  </a:lnTo>
                  <a:lnTo>
                    <a:pt x="11091130" y="27914"/>
                  </a:lnTo>
                  <a:lnTo>
                    <a:pt x="11094719" y="45719"/>
                  </a:lnTo>
                  <a:lnTo>
                    <a:pt x="11094719" y="1005839"/>
                  </a:lnTo>
                  <a:lnTo>
                    <a:pt x="11091130" y="1023635"/>
                  </a:lnTo>
                  <a:lnTo>
                    <a:pt x="11081337" y="1038167"/>
                  </a:lnTo>
                  <a:lnTo>
                    <a:pt x="11066805" y="1047966"/>
                  </a:lnTo>
                  <a:lnTo>
                    <a:pt x="11049000" y="1051559"/>
                  </a:lnTo>
                  <a:lnTo>
                    <a:pt x="45719" y="1051559"/>
                  </a:lnTo>
                  <a:lnTo>
                    <a:pt x="27924" y="1047966"/>
                  </a:lnTo>
                  <a:lnTo>
                    <a:pt x="13392" y="1038167"/>
                  </a:lnTo>
                  <a:lnTo>
                    <a:pt x="3593" y="1023635"/>
                  </a:lnTo>
                  <a:lnTo>
                    <a:pt x="0" y="1005839"/>
                  </a:lnTo>
                  <a:lnTo>
                    <a:pt x="0" y="45719"/>
                  </a:lnTo>
                  <a:close/>
                </a:path>
              </a:pathLst>
            </a:custGeom>
            <a:ln w="12192">
              <a:solidFill>
                <a:srgbClr val="1E27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548640" y="4617720"/>
            <a:ext cx="11094720" cy="105156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 vert="horz" wrap="square" lIns="0" tIns="692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45"/>
              </a:spcBef>
            </a:pPr>
            <a:endParaRPr sz="1050" dirty="0">
              <a:latin typeface="Times New Roman"/>
              <a:cs typeface="Times New Roman"/>
            </a:endParaRPr>
          </a:p>
          <a:p>
            <a:pPr marL="320040">
              <a:lnSpc>
                <a:spcPct val="100000"/>
              </a:lnSpc>
            </a:pPr>
            <a:r>
              <a:rPr sz="1050" b="1" spc="75" dirty="0">
                <a:solidFill>
                  <a:srgbClr val="C9DCFB"/>
                </a:solidFill>
                <a:latin typeface="Calibri"/>
                <a:cs typeface="Calibri"/>
              </a:rPr>
              <a:t>THE</a:t>
            </a:r>
            <a:r>
              <a:rPr sz="1050" b="1" spc="229" dirty="0">
                <a:solidFill>
                  <a:srgbClr val="C9DCFB"/>
                </a:solidFill>
                <a:latin typeface="Calibri"/>
                <a:cs typeface="Calibri"/>
              </a:rPr>
              <a:t> </a:t>
            </a:r>
            <a:r>
              <a:rPr sz="1050" b="1" spc="90" dirty="0">
                <a:solidFill>
                  <a:srgbClr val="C9DCFB"/>
                </a:solidFill>
                <a:latin typeface="Calibri"/>
                <a:cs typeface="Calibri"/>
              </a:rPr>
              <a:t>CORE</a:t>
            </a:r>
            <a:r>
              <a:rPr sz="1050" b="1" spc="204" dirty="0">
                <a:solidFill>
                  <a:srgbClr val="C9DCFB"/>
                </a:solidFill>
                <a:latin typeface="Calibri"/>
                <a:cs typeface="Calibri"/>
              </a:rPr>
              <a:t> </a:t>
            </a:r>
            <a:r>
              <a:rPr sz="1050" b="1" spc="85" dirty="0">
                <a:solidFill>
                  <a:srgbClr val="C9DCFB"/>
                </a:solidFill>
                <a:latin typeface="Calibri"/>
                <a:cs typeface="Calibri"/>
              </a:rPr>
              <a:t>DOUBT</a:t>
            </a:r>
            <a:endParaRPr sz="105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15"/>
              </a:spcBef>
            </a:pPr>
            <a:endParaRPr sz="1050" dirty="0">
              <a:latin typeface="Calibri"/>
              <a:cs typeface="Calibri"/>
            </a:endParaRPr>
          </a:p>
          <a:p>
            <a:pPr marL="320040">
              <a:lnSpc>
                <a:spcPct val="100000"/>
              </a:lnSpc>
            </a:pPr>
            <a:r>
              <a:rPr sz="1350" i="1" dirty="0">
                <a:solidFill>
                  <a:srgbClr val="FFFFFF"/>
                </a:solidFill>
                <a:latin typeface="Calibri"/>
                <a:cs typeface="Calibri"/>
              </a:rPr>
              <a:t>Without</a:t>
            </a:r>
            <a:r>
              <a:rPr sz="1350" i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50" i="1" dirty="0">
                <a:solidFill>
                  <a:srgbClr val="FFFFFF"/>
                </a:solidFill>
                <a:latin typeface="Calibri"/>
                <a:cs typeface="Calibri"/>
              </a:rPr>
              <a:t>forcing</a:t>
            </a:r>
            <a:r>
              <a:rPr sz="1350" i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50" i="1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350" i="1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50" i="1" dirty="0">
                <a:solidFill>
                  <a:srgbClr val="FFFFFF"/>
                </a:solidFill>
                <a:latin typeface="Calibri"/>
                <a:cs typeface="Calibri"/>
              </a:rPr>
              <a:t>model</a:t>
            </a:r>
            <a:r>
              <a:rPr sz="1350" i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50" i="1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350" i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50" i="1" spc="-10" dirty="0">
                <a:solidFill>
                  <a:srgbClr val="FFFFFF"/>
                </a:solidFill>
                <a:latin typeface="Calibri"/>
                <a:cs typeface="Calibri"/>
              </a:rPr>
              <a:t>separate</a:t>
            </a:r>
            <a:r>
              <a:rPr sz="1350" i="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50" i="1" spc="-10" dirty="0">
                <a:solidFill>
                  <a:srgbClr val="FFFFFF"/>
                </a:solidFill>
                <a:latin typeface="Calibri"/>
                <a:cs typeface="Calibri"/>
              </a:rPr>
              <a:t>structural</a:t>
            </a:r>
            <a:r>
              <a:rPr sz="1350" i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50" i="1" dirty="0">
                <a:solidFill>
                  <a:srgbClr val="FFFFFF"/>
                </a:solidFill>
                <a:latin typeface="Calibri"/>
                <a:cs typeface="Calibri"/>
              </a:rPr>
              <a:t>health</a:t>
            </a:r>
            <a:r>
              <a:rPr sz="1350" i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50" i="1" dirty="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sz="1350" i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50" i="1" dirty="0">
                <a:solidFill>
                  <a:srgbClr val="FFFFFF"/>
                </a:solidFill>
                <a:latin typeface="Calibri"/>
                <a:cs typeface="Calibri"/>
              </a:rPr>
              <a:t>RPM</a:t>
            </a:r>
            <a:r>
              <a:rPr sz="1350" i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50" i="1" dirty="0">
                <a:solidFill>
                  <a:srgbClr val="FFFFFF"/>
                </a:solidFill>
                <a:latin typeface="Calibri"/>
                <a:cs typeface="Calibri"/>
              </a:rPr>
              <a:t>/</a:t>
            </a:r>
            <a:r>
              <a:rPr sz="1350" i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50" i="1" dirty="0">
                <a:solidFill>
                  <a:srgbClr val="FFFFFF"/>
                </a:solidFill>
                <a:latin typeface="Calibri"/>
                <a:cs typeface="Calibri"/>
              </a:rPr>
              <a:t>load,</a:t>
            </a:r>
            <a:r>
              <a:rPr sz="1350" i="1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50" i="1" dirty="0">
                <a:solidFill>
                  <a:srgbClr val="FFFFFF"/>
                </a:solidFill>
                <a:latin typeface="Calibri"/>
                <a:cs typeface="Calibri"/>
              </a:rPr>
              <a:t>how</a:t>
            </a:r>
            <a:r>
              <a:rPr sz="1350" i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50" i="1" spc="-10" dirty="0">
                <a:solidFill>
                  <a:srgbClr val="FFFFFF"/>
                </a:solidFill>
                <a:latin typeface="Calibri"/>
                <a:cs typeface="Calibri"/>
              </a:rPr>
              <a:t>susceptible</a:t>
            </a:r>
            <a:r>
              <a:rPr sz="1350" i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50" i="1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1350" i="1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50" i="1" dirty="0">
                <a:solidFill>
                  <a:srgbClr val="FFFFFF"/>
                </a:solidFill>
                <a:latin typeface="Calibri"/>
                <a:cs typeface="Calibri"/>
              </a:rPr>
              <a:t>this</a:t>
            </a:r>
            <a:r>
              <a:rPr sz="1350" i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50" i="1" spc="-10" dirty="0">
                <a:solidFill>
                  <a:srgbClr val="FFFFFF"/>
                </a:solidFill>
                <a:latin typeface="Calibri"/>
                <a:cs typeface="Calibri"/>
              </a:rPr>
              <a:t>latent</a:t>
            </a:r>
            <a:r>
              <a:rPr sz="1350" i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50" i="1" spc="-10" dirty="0">
                <a:solidFill>
                  <a:srgbClr val="FFFFFF"/>
                </a:solidFill>
                <a:latin typeface="Calibri"/>
                <a:cs typeface="Calibri"/>
              </a:rPr>
              <a:t>representation</a:t>
            </a:r>
            <a:r>
              <a:rPr sz="1350" i="1" dirty="0">
                <a:solidFill>
                  <a:srgbClr val="FFFFFF"/>
                </a:solidFill>
                <a:latin typeface="Calibri"/>
                <a:cs typeface="Calibri"/>
              </a:rPr>
              <a:t> to</a:t>
            </a:r>
            <a:r>
              <a:rPr sz="1350" i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50" i="1" spc="-10" dirty="0">
                <a:solidFill>
                  <a:srgbClr val="FFFFFF"/>
                </a:solidFill>
                <a:latin typeface="Calibri"/>
                <a:cs typeface="Calibri"/>
              </a:rPr>
              <a:t>loa</a:t>
            </a:r>
            <a:r>
              <a:rPr sz="1350" i="1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50" i="1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1350" i="1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50" i="1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350" i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50" i="1" dirty="0">
                <a:solidFill>
                  <a:srgbClr val="FFFFFF"/>
                </a:solidFill>
                <a:latin typeface="Calibri"/>
                <a:cs typeface="Calibri"/>
              </a:rPr>
              <a:t>RPM</a:t>
            </a:r>
            <a:r>
              <a:rPr sz="1350" i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50" i="1" spc="-10" dirty="0">
                <a:solidFill>
                  <a:srgbClr val="FFFFFF"/>
                </a:solidFill>
                <a:latin typeface="Calibri"/>
                <a:cs typeface="Calibri"/>
              </a:rPr>
              <a:t>shift?</a:t>
            </a:r>
            <a:endParaRPr sz="1350" dirty="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35940" y="6614566"/>
            <a:ext cx="1676400" cy="1473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10"/>
              </a:lnSpc>
            </a:pPr>
            <a:r>
              <a:rPr sz="950" dirty="0">
                <a:solidFill>
                  <a:srgbClr val="525A78"/>
                </a:solidFill>
                <a:latin typeface="Calibri"/>
                <a:cs typeface="Calibri"/>
              </a:rPr>
              <a:t>Part</a:t>
            </a:r>
            <a:r>
              <a:rPr sz="950" spc="-50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525A78"/>
                </a:solidFill>
                <a:latin typeface="Calibri"/>
                <a:cs typeface="Calibri"/>
              </a:rPr>
              <a:t>2</a:t>
            </a:r>
            <a:r>
              <a:rPr sz="950" spc="15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525A78"/>
                </a:solidFill>
                <a:latin typeface="Calibri"/>
                <a:cs typeface="Calibri"/>
              </a:rPr>
              <a:t>—</a:t>
            </a:r>
            <a:r>
              <a:rPr sz="950" spc="-20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525A78"/>
                </a:solidFill>
                <a:latin typeface="Calibri"/>
                <a:cs typeface="Calibri"/>
              </a:rPr>
              <a:t>Doubts</a:t>
            </a:r>
            <a:r>
              <a:rPr sz="950" spc="-15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525A78"/>
                </a:solidFill>
                <a:latin typeface="Calibri"/>
                <a:cs typeface="Calibri"/>
              </a:rPr>
              <a:t>&amp; </a:t>
            </a:r>
            <a:r>
              <a:rPr sz="950" spc="-10" dirty="0">
                <a:solidFill>
                  <a:srgbClr val="525A78"/>
                </a:solidFill>
                <a:latin typeface="Calibri"/>
                <a:cs typeface="Calibri"/>
              </a:rPr>
              <a:t>Vulnerabilities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8425">
              <a:lnSpc>
                <a:spcPts val="1010"/>
              </a:lnSpc>
            </a:pPr>
            <a:r>
              <a:rPr spc="-50" dirty="0"/>
              <a:t>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65000"/>
            <a:lumOff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>
            <a:extLst>
              <a:ext uri="{FF2B5EF4-FFF2-40B4-BE49-F238E27FC236}">
                <a16:creationId xmlns:a16="http://schemas.microsoft.com/office/drawing/2014/main" id="{E86474C5-AE16-131A-14EE-A8428D3E7209}"/>
              </a:ext>
            </a:extLst>
          </p:cNvPr>
          <p:cNvSpPr txBox="1"/>
          <p:nvPr/>
        </p:nvSpPr>
        <p:spPr>
          <a:xfrm>
            <a:off x="535940" y="2829560"/>
            <a:ext cx="111315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solidFill>
                  <a:srgbClr val="C9DCFB"/>
                </a:solidFill>
                <a:latin typeface="Calibri"/>
                <a:cs typeface="Calibri"/>
              </a:rPr>
              <a:t>P</a:t>
            </a:r>
            <a:r>
              <a:rPr sz="1300" b="1" spc="-70" dirty="0">
                <a:solidFill>
                  <a:srgbClr val="C9DCFB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C9DCFB"/>
                </a:solidFill>
                <a:latin typeface="Calibri"/>
                <a:cs typeface="Calibri"/>
              </a:rPr>
              <a:t>A</a:t>
            </a:r>
            <a:r>
              <a:rPr sz="1300" b="1" spc="-70" dirty="0">
                <a:solidFill>
                  <a:srgbClr val="C9DCFB"/>
                </a:solidFill>
                <a:latin typeface="Calibri"/>
                <a:cs typeface="Calibri"/>
              </a:rPr>
              <a:t> </a:t>
            </a:r>
            <a:r>
              <a:rPr sz="1300" b="1" spc="-20" dirty="0">
                <a:solidFill>
                  <a:srgbClr val="C9DCFB"/>
                </a:solidFill>
                <a:latin typeface="Calibri"/>
                <a:cs typeface="Calibri"/>
              </a:rPr>
              <a:t>R</a:t>
            </a:r>
            <a:r>
              <a:rPr sz="1300" b="1" spc="-85" dirty="0">
                <a:solidFill>
                  <a:srgbClr val="C9DCFB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C9DCFB"/>
                </a:solidFill>
                <a:latin typeface="Calibri"/>
                <a:cs typeface="Calibri"/>
              </a:rPr>
              <a:t>T</a:t>
            </a:r>
            <a:r>
              <a:rPr sz="1300" b="1" spc="475" dirty="0">
                <a:solidFill>
                  <a:srgbClr val="C9DCFB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C9DCFB"/>
                </a:solidFill>
                <a:latin typeface="Calibri"/>
                <a:cs typeface="Calibri"/>
              </a:rPr>
              <a:t>T</a:t>
            </a:r>
            <a:r>
              <a:rPr sz="1300" b="1" spc="-70" dirty="0">
                <a:solidFill>
                  <a:srgbClr val="C9DCFB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C9DCFB"/>
                </a:solidFill>
                <a:latin typeface="Calibri"/>
                <a:cs typeface="Calibri"/>
              </a:rPr>
              <a:t>H</a:t>
            </a:r>
            <a:r>
              <a:rPr sz="1300" b="1" spc="-80" dirty="0">
                <a:solidFill>
                  <a:srgbClr val="C9DCFB"/>
                </a:solidFill>
                <a:latin typeface="Calibri"/>
                <a:cs typeface="Calibri"/>
              </a:rPr>
              <a:t> </a:t>
            </a:r>
            <a:r>
              <a:rPr sz="1300" b="1" spc="-20" dirty="0">
                <a:solidFill>
                  <a:srgbClr val="C9DCFB"/>
                </a:solidFill>
                <a:latin typeface="Calibri"/>
                <a:cs typeface="Calibri"/>
              </a:rPr>
              <a:t>R</a:t>
            </a:r>
            <a:r>
              <a:rPr sz="1300" b="1" spc="-85" dirty="0">
                <a:solidFill>
                  <a:srgbClr val="C9DCFB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C9DCFB"/>
                </a:solidFill>
                <a:latin typeface="Calibri"/>
                <a:cs typeface="Calibri"/>
              </a:rPr>
              <a:t>E</a:t>
            </a:r>
            <a:r>
              <a:rPr sz="1300" b="1" spc="-85" dirty="0">
                <a:solidFill>
                  <a:srgbClr val="C9DCFB"/>
                </a:solidFill>
                <a:latin typeface="Calibri"/>
                <a:cs typeface="Calibri"/>
              </a:rPr>
              <a:t> </a:t>
            </a:r>
            <a:r>
              <a:rPr sz="1300" b="1" spc="-50" dirty="0">
                <a:solidFill>
                  <a:srgbClr val="C9DCFB"/>
                </a:solidFill>
                <a:latin typeface="Calibri"/>
                <a:cs typeface="Calibri"/>
              </a:rPr>
              <a:t>E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4712D3DB-2001-9F28-F8C1-7A959796F7CE}"/>
              </a:ext>
            </a:extLst>
          </p:cNvPr>
          <p:cNvSpPr txBox="1"/>
          <p:nvPr/>
        </p:nvSpPr>
        <p:spPr>
          <a:xfrm>
            <a:off x="535940" y="3335782"/>
            <a:ext cx="4516120" cy="5448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400" b="1" dirty="0">
                <a:solidFill>
                  <a:srgbClr val="FFFFFF"/>
                </a:solidFill>
                <a:latin typeface="Cambria"/>
                <a:cs typeface="Cambria"/>
              </a:rPr>
              <a:t>Proposed</a:t>
            </a:r>
            <a:r>
              <a:rPr sz="3400" b="1" spc="-114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400" b="1" spc="-10" dirty="0">
                <a:solidFill>
                  <a:srgbClr val="FFFFFF"/>
                </a:solidFill>
                <a:latin typeface="Cambria"/>
                <a:cs typeface="Cambria"/>
              </a:rPr>
              <a:t>Architecture</a:t>
            </a:r>
            <a:endParaRPr sz="3400">
              <a:latin typeface="Cambria"/>
              <a:cs typeface="Cambria"/>
            </a:endParaRPr>
          </a:p>
        </p:txBody>
      </p:sp>
      <p:sp>
        <p:nvSpPr>
          <p:cNvPr id="9" name="object 4">
            <a:extLst>
              <a:ext uri="{FF2B5EF4-FFF2-40B4-BE49-F238E27FC236}">
                <a16:creationId xmlns:a16="http://schemas.microsoft.com/office/drawing/2014/main" id="{1A18E307-CE92-3530-FFE7-C384322C99BA}"/>
              </a:ext>
            </a:extLst>
          </p:cNvPr>
          <p:cNvSpPr/>
          <p:nvPr/>
        </p:nvSpPr>
        <p:spPr>
          <a:xfrm>
            <a:off x="548640" y="4114800"/>
            <a:ext cx="1463040" cy="0"/>
          </a:xfrm>
          <a:custGeom>
            <a:avLst/>
            <a:gdLst/>
            <a:ahLst/>
            <a:cxnLst/>
            <a:rect l="l" t="t" r="r" b="b"/>
            <a:pathLst>
              <a:path w="1463039">
                <a:moveTo>
                  <a:pt x="0" y="0"/>
                </a:moveTo>
                <a:lnTo>
                  <a:pt x="1463040" y="0"/>
                </a:lnTo>
              </a:path>
            </a:pathLst>
          </a:custGeom>
          <a:ln w="18288">
            <a:solidFill>
              <a:srgbClr val="C9DCF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5">
            <a:extLst>
              <a:ext uri="{FF2B5EF4-FFF2-40B4-BE49-F238E27FC236}">
                <a16:creationId xmlns:a16="http://schemas.microsoft.com/office/drawing/2014/main" id="{A060C47B-7AC1-5034-1A01-B0ED71FD19FE}"/>
              </a:ext>
            </a:extLst>
          </p:cNvPr>
          <p:cNvSpPr txBox="1"/>
          <p:nvPr/>
        </p:nvSpPr>
        <p:spPr>
          <a:xfrm>
            <a:off x="535940" y="4381626"/>
            <a:ext cx="642429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dirty="0">
                <a:solidFill>
                  <a:srgbClr val="ADBAE8"/>
                </a:solidFill>
                <a:latin typeface="Calibri"/>
                <a:cs typeface="Calibri"/>
              </a:rPr>
              <a:t>A</a:t>
            </a:r>
            <a:r>
              <a:rPr sz="1400" spc="-35" dirty="0">
                <a:solidFill>
                  <a:srgbClr val="ADBAE8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ADBAE8"/>
                </a:solidFill>
                <a:latin typeface="Calibri"/>
                <a:cs typeface="Calibri"/>
              </a:rPr>
              <a:t>disentangled,</a:t>
            </a:r>
            <a:r>
              <a:rPr sz="1400" spc="55" dirty="0">
                <a:solidFill>
                  <a:srgbClr val="ADBAE8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ADBAE8"/>
                </a:solidFill>
                <a:latin typeface="Calibri"/>
                <a:cs typeface="Calibri"/>
              </a:rPr>
              <a:t>physics-</a:t>
            </a:r>
            <a:r>
              <a:rPr sz="1400" dirty="0">
                <a:solidFill>
                  <a:srgbClr val="ADBAE8"/>
                </a:solidFill>
                <a:latin typeface="Calibri"/>
                <a:cs typeface="Calibri"/>
              </a:rPr>
              <a:t>guided</a:t>
            </a:r>
            <a:r>
              <a:rPr sz="1400" spc="50" dirty="0">
                <a:solidFill>
                  <a:srgbClr val="ADBAE8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ADBAE8"/>
                </a:solidFill>
                <a:latin typeface="Calibri"/>
                <a:cs typeface="Calibri"/>
              </a:rPr>
              <a:t>approach</a:t>
            </a:r>
            <a:r>
              <a:rPr sz="1400" spc="10" dirty="0">
                <a:solidFill>
                  <a:srgbClr val="ADBAE8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ADBAE8"/>
                </a:solidFill>
                <a:latin typeface="Calibri"/>
                <a:cs typeface="Calibri"/>
              </a:rPr>
              <a:t>to</a:t>
            </a:r>
            <a:r>
              <a:rPr sz="1400" spc="-15" dirty="0">
                <a:solidFill>
                  <a:srgbClr val="ADBAE8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ADBAE8"/>
                </a:solidFill>
                <a:latin typeface="Calibri"/>
                <a:cs typeface="Calibri"/>
              </a:rPr>
              <a:t>operating-</a:t>
            </a:r>
            <a:r>
              <a:rPr sz="1400" spc="-10" dirty="0">
                <a:solidFill>
                  <a:srgbClr val="ADBAE8"/>
                </a:solidFill>
                <a:latin typeface="Calibri"/>
                <a:cs typeface="Calibri"/>
              </a:rPr>
              <a:t>condition-</a:t>
            </a:r>
            <a:r>
              <a:rPr sz="1400" dirty="0">
                <a:solidFill>
                  <a:srgbClr val="ADBAE8"/>
                </a:solidFill>
                <a:latin typeface="Calibri"/>
                <a:cs typeface="Calibri"/>
              </a:rPr>
              <a:t>invariant</a:t>
            </a:r>
            <a:r>
              <a:rPr sz="1400" spc="50" dirty="0">
                <a:solidFill>
                  <a:srgbClr val="ADBAE8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ADBAE8"/>
                </a:solidFill>
                <a:latin typeface="Calibri"/>
                <a:cs typeface="Calibri"/>
              </a:rPr>
              <a:t>fault</a:t>
            </a:r>
            <a:r>
              <a:rPr sz="1400" spc="-35" dirty="0">
                <a:solidFill>
                  <a:srgbClr val="ADBAE8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ADBAE8"/>
                </a:solidFill>
                <a:latin typeface="Calibri"/>
                <a:cs typeface="Calibri"/>
              </a:rPr>
              <a:t>detection</a:t>
            </a:r>
            <a:endParaRPr sz="14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687768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411556"/>
            <a:ext cx="2548890" cy="2019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50" b="1" spc="-10" dirty="0">
                <a:solidFill>
                  <a:srgbClr val="525A78"/>
                </a:solidFill>
                <a:latin typeface="Calibri"/>
                <a:cs typeface="Calibri"/>
              </a:rPr>
              <a:t>T</a:t>
            </a:r>
            <a:r>
              <a:rPr sz="1150" b="1" spc="-110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1150" b="1" spc="65" dirty="0">
                <a:solidFill>
                  <a:srgbClr val="525A78"/>
                </a:solidFill>
                <a:latin typeface="Calibri"/>
                <a:cs typeface="Calibri"/>
              </a:rPr>
              <a:t>HE</a:t>
            </a:r>
            <a:r>
              <a:rPr sz="1150" b="1" spc="330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1150" b="1" spc="85" dirty="0">
                <a:solidFill>
                  <a:srgbClr val="525A78"/>
                </a:solidFill>
                <a:latin typeface="Calibri"/>
                <a:cs typeface="Calibri"/>
              </a:rPr>
              <a:t>CAS</a:t>
            </a:r>
            <a:r>
              <a:rPr sz="1150" b="1" spc="-105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1150" b="1" dirty="0">
                <a:solidFill>
                  <a:srgbClr val="525A78"/>
                </a:solidFill>
                <a:latin typeface="Calibri"/>
                <a:cs typeface="Calibri"/>
              </a:rPr>
              <a:t>E</a:t>
            </a:r>
            <a:r>
              <a:rPr sz="1150" b="1" spc="305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1150" b="1" spc="85" dirty="0">
                <a:solidFill>
                  <a:srgbClr val="525A78"/>
                </a:solidFill>
                <a:latin typeface="Calibri"/>
                <a:cs typeface="Calibri"/>
              </a:rPr>
              <a:t>FOR</a:t>
            </a:r>
            <a:r>
              <a:rPr sz="1150" b="1" spc="320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1150" b="1" dirty="0">
                <a:solidFill>
                  <a:srgbClr val="525A78"/>
                </a:solidFill>
                <a:latin typeface="Calibri"/>
                <a:cs typeface="Calibri"/>
              </a:rPr>
              <a:t>A</a:t>
            </a:r>
            <a:r>
              <a:rPr sz="1150" b="1" spc="320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1150" b="1" spc="-10" dirty="0">
                <a:solidFill>
                  <a:srgbClr val="525A78"/>
                </a:solidFill>
                <a:latin typeface="Calibri"/>
                <a:cs typeface="Calibri"/>
              </a:rPr>
              <a:t>N</a:t>
            </a:r>
            <a:r>
              <a:rPr sz="1150" b="1" spc="-110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1150" b="1" spc="65" dirty="0">
                <a:solidFill>
                  <a:srgbClr val="525A78"/>
                </a:solidFill>
                <a:latin typeface="Calibri"/>
                <a:cs typeface="Calibri"/>
              </a:rPr>
              <a:t>EW</a:t>
            </a:r>
            <a:r>
              <a:rPr sz="1150" b="1" spc="310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1150" b="1" spc="65" dirty="0">
                <a:solidFill>
                  <a:srgbClr val="525A78"/>
                </a:solidFill>
                <a:latin typeface="Calibri"/>
                <a:cs typeface="Calibri"/>
              </a:rPr>
              <a:t>AP</a:t>
            </a:r>
            <a:r>
              <a:rPr sz="1150" b="1" spc="-110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1150" b="1" dirty="0">
                <a:solidFill>
                  <a:srgbClr val="525A78"/>
                </a:solidFill>
                <a:latin typeface="Calibri"/>
                <a:cs typeface="Calibri"/>
              </a:rPr>
              <a:t>P</a:t>
            </a:r>
            <a:r>
              <a:rPr sz="1150" b="1" spc="-110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1150" b="1" spc="80" dirty="0">
                <a:solidFill>
                  <a:srgbClr val="525A78"/>
                </a:solidFill>
                <a:latin typeface="Calibri"/>
                <a:cs typeface="Calibri"/>
              </a:rPr>
              <a:t>ROACH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Defining</a:t>
            </a:r>
            <a:r>
              <a:rPr spc="-130" dirty="0"/>
              <a:t> </a:t>
            </a:r>
            <a:r>
              <a:rPr dirty="0"/>
              <a:t>True</a:t>
            </a:r>
            <a:r>
              <a:rPr spc="-45" dirty="0"/>
              <a:t> </a:t>
            </a:r>
            <a:r>
              <a:rPr dirty="0"/>
              <a:t>Machine</a:t>
            </a:r>
            <a:r>
              <a:rPr spc="-55" dirty="0"/>
              <a:t> </a:t>
            </a:r>
            <a:r>
              <a:rPr spc="-10" dirty="0"/>
              <a:t>Health</a:t>
            </a:r>
          </a:p>
        </p:txBody>
      </p:sp>
      <p:sp>
        <p:nvSpPr>
          <p:cNvPr id="4" name="object 4"/>
          <p:cNvSpPr/>
          <p:nvPr/>
        </p:nvSpPr>
        <p:spPr>
          <a:xfrm>
            <a:off x="548640" y="1371600"/>
            <a:ext cx="11094720" cy="0"/>
          </a:xfrm>
          <a:custGeom>
            <a:avLst/>
            <a:gdLst/>
            <a:ahLst/>
            <a:cxnLst/>
            <a:rect l="l" t="t" r="r" b="b"/>
            <a:pathLst>
              <a:path w="11094720">
                <a:moveTo>
                  <a:pt x="0" y="0"/>
                </a:moveTo>
                <a:lnTo>
                  <a:pt x="11094719" y="0"/>
                </a:lnTo>
              </a:path>
            </a:pathLst>
          </a:custGeom>
          <a:ln w="12192">
            <a:solidFill>
              <a:srgbClr val="C4CCE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48640" y="1627632"/>
            <a:ext cx="55244" cy="969644"/>
          </a:xfrm>
          <a:custGeom>
            <a:avLst/>
            <a:gdLst/>
            <a:ahLst/>
            <a:cxnLst/>
            <a:rect l="l" t="t" r="r" b="b"/>
            <a:pathLst>
              <a:path w="55245" h="969644">
                <a:moveTo>
                  <a:pt x="54864" y="0"/>
                </a:moveTo>
                <a:lnTo>
                  <a:pt x="0" y="0"/>
                </a:lnTo>
                <a:lnTo>
                  <a:pt x="0" y="969263"/>
                </a:lnTo>
                <a:lnTo>
                  <a:pt x="54864" y="969263"/>
                </a:lnTo>
                <a:lnTo>
                  <a:pt x="54864" y="0"/>
                </a:lnTo>
                <a:close/>
              </a:path>
            </a:pathLst>
          </a:custGeom>
          <a:solidFill>
            <a:srgbClr val="C9DCF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810564" y="1597533"/>
            <a:ext cx="3854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5" dirty="0">
                <a:solidFill>
                  <a:srgbClr val="C9DCFB"/>
                </a:solidFill>
                <a:latin typeface="Cambria"/>
                <a:cs typeface="Cambria"/>
              </a:rPr>
              <a:t>01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79194" y="1493619"/>
            <a:ext cx="9567545" cy="661035"/>
          </a:xfrm>
          <a:prstGeom prst="rect">
            <a:avLst/>
          </a:prstGeom>
        </p:spPr>
        <p:txBody>
          <a:bodyPr vert="horz" wrap="square" lIns="0" tIns="12318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69"/>
              </a:spcBef>
            </a:pPr>
            <a:r>
              <a:rPr sz="1650" b="1" dirty="0">
                <a:solidFill>
                  <a:srgbClr val="1E2760"/>
                </a:solidFill>
                <a:latin typeface="Cambria"/>
                <a:cs typeface="Cambria"/>
              </a:rPr>
              <a:t>The</a:t>
            </a:r>
            <a:r>
              <a:rPr sz="1650" b="1" spc="-65" dirty="0">
                <a:solidFill>
                  <a:srgbClr val="1E2760"/>
                </a:solidFill>
                <a:latin typeface="Cambria"/>
                <a:cs typeface="Cambria"/>
              </a:rPr>
              <a:t> </a:t>
            </a:r>
            <a:r>
              <a:rPr sz="1650" b="1" dirty="0">
                <a:solidFill>
                  <a:srgbClr val="1E2760"/>
                </a:solidFill>
                <a:latin typeface="Cambria"/>
                <a:cs typeface="Cambria"/>
              </a:rPr>
              <a:t>Flaw</a:t>
            </a:r>
            <a:r>
              <a:rPr sz="1650" b="1" spc="-25" dirty="0">
                <a:solidFill>
                  <a:srgbClr val="1E2760"/>
                </a:solidFill>
                <a:latin typeface="Cambria"/>
                <a:cs typeface="Cambria"/>
              </a:rPr>
              <a:t> </a:t>
            </a:r>
            <a:r>
              <a:rPr sz="1650" b="1" dirty="0">
                <a:solidFill>
                  <a:srgbClr val="1E2760"/>
                </a:solidFill>
                <a:latin typeface="Cambria"/>
                <a:cs typeface="Cambria"/>
              </a:rPr>
              <a:t>in</a:t>
            </a:r>
            <a:r>
              <a:rPr sz="1650" b="1" spc="-60" dirty="0">
                <a:solidFill>
                  <a:srgbClr val="1E2760"/>
                </a:solidFill>
                <a:latin typeface="Cambria"/>
                <a:cs typeface="Cambria"/>
              </a:rPr>
              <a:t> </a:t>
            </a:r>
            <a:r>
              <a:rPr sz="1650" b="1" dirty="0">
                <a:solidFill>
                  <a:srgbClr val="1E2760"/>
                </a:solidFill>
                <a:latin typeface="Cambria"/>
                <a:cs typeface="Cambria"/>
              </a:rPr>
              <a:t>Current</a:t>
            </a:r>
            <a:r>
              <a:rPr sz="1650" b="1" spc="-70" dirty="0">
                <a:solidFill>
                  <a:srgbClr val="1E2760"/>
                </a:solidFill>
                <a:latin typeface="Cambria"/>
                <a:cs typeface="Cambria"/>
              </a:rPr>
              <a:t> </a:t>
            </a:r>
            <a:r>
              <a:rPr sz="1650" b="1" spc="-10" dirty="0">
                <a:solidFill>
                  <a:srgbClr val="1E2760"/>
                </a:solidFill>
                <a:latin typeface="Cambria"/>
                <a:cs typeface="Cambria"/>
              </a:rPr>
              <a:t>Models</a:t>
            </a:r>
            <a:endParaRPr sz="16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Most</a:t>
            </a:r>
            <a:r>
              <a:rPr sz="1250" spc="-2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papers</a:t>
            </a:r>
            <a:r>
              <a:rPr sz="1250" spc="-1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focus</a:t>
            </a:r>
            <a:r>
              <a:rPr sz="1250" spc="-3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only</a:t>
            </a:r>
            <a:r>
              <a:rPr sz="1250" spc="-2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on</a:t>
            </a:r>
            <a:r>
              <a:rPr sz="1250" spc="-3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classifying</a:t>
            </a:r>
            <a:r>
              <a:rPr sz="1250" spc="-3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known</a:t>
            </a:r>
            <a:r>
              <a:rPr sz="1250" spc="-3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faults</a:t>
            </a:r>
            <a:r>
              <a:rPr sz="1250" spc="-1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—</a:t>
            </a:r>
            <a:r>
              <a:rPr sz="1250" spc="-3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212846"/>
                </a:solidFill>
                <a:latin typeface="Calibri"/>
                <a:cs typeface="Calibri"/>
              </a:rPr>
              <a:t>matching</a:t>
            </a:r>
            <a:r>
              <a:rPr sz="1250" spc="-4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signals</a:t>
            </a:r>
            <a:r>
              <a:rPr sz="1250" spc="-1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to</a:t>
            </a:r>
            <a:r>
              <a:rPr sz="1250" spc="-4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a</a:t>
            </a:r>
            <a:r>
              <a:rPr sz="1250" spc="-4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specific</a:t>
            </a:r>
            <a:r>
              <a:rPr sz="1250" spc="-3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defect</a:t>
            </a:r>
            <a:r>
              <a:rPr sz="1250" spc="-3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—</a:t>
            </a:r>
            <a:r>
              <a:rPr sz="1250" spc="-5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but</a:t>
            </a:r>
            <a:r>
              <a:rPr sz="1250" spc="-1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fail</a:t>
            </a:r>
            <a:r>
              <a:rPr sz="1250" spc="-5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to</a:t>
            </a:r>
            <a:r>
              <a:rPr sz="1250" spc="-3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define</a:t>
            </a:r>
            <a:r>
              <a:rPr sz="1250" spc="-2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general</a:t>
            </a:r>
            <a:r>
              <a:rPr sz="1250" spc="-2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“machine</a:t>
            </a:r>
            <a:r>
              <a:rPr sz="1250" spc="-3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health”</a:t>
            </a:r>
            <a:r>
              <a:rPr sz="1250" spc="-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212846"/>
                </a:solidFill>
                <a:latin typeface="Calibri"/>
                <a:cs typeface="Calibri"/>
              </a:rPr>
              <a:t>robustness.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48640" y="2761488"/>
            <a:ext cx="55244" cy="969644"/>
          </a:xfrm>
          <a:custGeom>
            <a:avLst/>
            <a:gdLst/>
            <a:ahLst/>
            <a:cxnLst/>
            <a:rect l="l" t="t" r="r" b="b"/>
            <a:pathLst>
              <a:path w="55245" h="969645">
                <a:moveTo>
                  <a:pt x="54864" y="0"/>
                </a:moveTo>
                <a:lnTo>
                  <a:pt x="0" y="0"/>
                </a:lnTo>
                <a:lnTo>
                  <a:pt x="0" y="969263"/>
                </a:lnTo>
                <a:lnTo>
                  <a:pt x="54864" y="969263"/>
                </a:lnTo>
                <a:lnTo>
                  <a:pt x="54864" y="0"/>
                </a:lnTo>
                <a:close/>
              </a:path>
            </a:pathLst>
          </a:custGeom>
          <a:solidFill>
            <a:srgbClr val="C9DCF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810564" y="2732023"/>
            <a:ext cx="3854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5" dirty="0">
                <a:solidFill>
                  <a:srgbClr val="C9DCFB"/>
                </a:solidFill>
                <a:latin typeface="Cambria"/>
                <a:cs typeface="Cambria"/>
              </a:rPr>
              <a:t>02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79194" y="2627136"/>
            <a:ext cx="9382125" cy="878840"/>
          </a:xfrm>
          <a:prstGeom prst="rect">
            <a:avLst/>
          </a:prstGeom>
        </p:spPr>
        <p:txBody>
          <a:bodyPr vert="horz" wrap="square" lIns="0" tIns="1238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sz="1650" b="1" dirty="0">
                <a:solidFill>
                  <a:srgbClr val="1E2760"/>
                </a:solidFill>
                <a:latin typeface="Cambria"/>
                <a:cs typeface="Cambria"/>
              </a:rPr>
              <a:t>The</a:t>
            </a:r>
            <a:r>
              <a:rPr sz="1650" b="1" spc="-30" dirty="0">
                <a:solidFill>
                  <a:srgbClr val="1E2760"/>
                </a:solidFill>
                <a:latin typeface="Cambria"/>
                <a:cs typeface="Cambria"/>
              </a:rPr>
              <a:t> </a:t>
            </a:r>
            <a:r>
              <a:rPr sz="1650" b="1" dirty="0">
                <a:solidFill>
                  <a:srgbClr val="1E2760"/>
                </a:solidFill>
                <a:latin typeface="Cambria"/>
                <a:cs typeface="Cambria"/>
              </a:rPr>
              <a:t>CBM</a:t>
            </a:r>
            <a:r>
              <a:rPr sz="1650" b="1" spc="-10" dirty="0">
                <a:solidFill>
                  <a:srgbClr val="1E2760"/>
                </a:solidFill>
                <a:latin typeface="Cambria"/>
                <a:cs typeface="Cambria"/>
              </a:rPr>
              <a:t> Priority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13599"/>
              </a:lnSpc>
              <a:spcBef>
                <a:spcPts val="450"/>
              </a:spcBef>
            </a:pP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In</a:t>
            </a:r>
            <a:r>
              <a:rPr sz="1250" spc="-3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spc="-20" dirty="0">
                <a:solidFill>
                  <a:srgbClr val="212846"/>
                </a:solidFill>
                <a:latin typeface="Calibri"/>
                <a:cs typeface="Calibri"/>
              </a:rPr>
              <a:t>Condition-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Based</a:t>
            </a:r>
            <a:r>
              <a:rPr sz="1250" spc="4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212846"/>
                </a:solidFill>
                <a:latin typeface="Calibri"/>
                <a:cs typeface="Calibri"/>
              </a:rPr>
              <a:t>Monitoring,</a:t>
            </a:r>
            <a:r>
              <a:rPr sz="1250" spc="2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the</a:t>
            </a:r>
            <a:r>
              <a:rPr sz="1250" spc="-1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first</a:t>
            </a:r>
            <a:r>
              <a:rPr sz="1250" spc="-2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step</a:t>
            </a:r>
            <a:r>
              <a:rPr sz="1250" spc="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must</a:t>
            </a:r>
            <a:r>
              <a:rPr sz="1250" spc="-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be</a:t>
            </a:r>
            <a:r>
              <a:rPr sz="1250" spc="-3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212846"/>
                </a:solidFill>
                <a:latin typeface="Calibri"/>
                <a:cs typeface="Calibri"/>
              </a:rPr>
              <a:t>distinguishing</a:t>
            </a:r>
            <a:r>
              <a:rPr sz="1250" spc="6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strictly</a:t>
            </a:r>
            <a:r>
              <a:rPr sz="1250" spc="-1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between</a:t>
            </a:r>
            <a:r>
              <a:rPr sz="1250" spc="-2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“Healthy”</a:t>
            </a:r>
            <a:r>
              <a:rPr sz="1250" spc="-5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and </a:t>
            </a:r>
            <a:r>
              <a:rPr sz="1250" spc="-10" dirty="0">
                <a:solidFill>
                  <a:srgbClr val="212846"/>
                </a:solidFill>
                <a:latin typeface="Calibri"/>
                <a:cs typeface="Calibri"/>
              </a:rPr>
              <a:t>“Degradation”</a:t>
            </a:r>
            <a:r>
              <a:rPr sz="1250" spc="1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212846"/>
                </a:solidFill>
                <a:latin typeface="Calibri"/>
                <a:cs typeface="Calibri"/>
              </a:rPr>
              <a:t>states,</a:t>
            </a:r>
            <a:r>
              <a:rPr sz="1250" spc="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with</a:t>
            </a:r>
            <a:r>
              <a:rPr sz="1250" spc="-4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high </a:t>
            </a:r>
            <a:r>
              <a:rPr sz="1250" spc="-10" dirty="0">
                <a:solidFill>
                  <a:srgbClr val="212846"/>
                </a:solidFill>
                <a:latin typeface="Calibri"/>
                <a:cs typeface="Calibri"/>
              </a:rPr>
              <a:t>precision</a:t>
            </a:r>
            <a:r>
              <a:rPr sz="1250" spc="2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spc="-25" dirty="0">
                <a:solidFill>
                  <a:srgbClr val="212846"/>
                </a:solidFill>
                <a:latin typeface="Calibri"/>
                <a:cs typeface="Calibri"/>
              </a:rPr>
              <a:t>and </a:t>
            </a:r>
            <a:r>
              <a:rPr sz="1250" spc="-10" dirty="0">
                <a:solidFill>
                  <a:srgbClr val="212846"/>
                </a:solidFill>
                <a:latin typeface="Calibri"/>
                <a:cs typeface="Calibri"/>
              </a:rPr>
              <a:t>efficiency.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48640" y="3895344"/>
            <a:ext cx="55244" cy="969644"/>
          </a:xfrm>
          <a:custGeom>
            <a:avLst/>
            <a:gdLst/>
            <a:ahLst/>
            <a:cxnLst/>
            <a:rect l="l" t="t" r="r" b="b"/>
            <a:pathLst>
              <a:path w="55245" h="969645">
                <a:moveTo>
                  <a:pt x="54864" y="0"/>
                </a:moveTo>
                <a:lnTo>
                  <a:pt x="0" y="0"/>
                </a:lnTo>
                <a:lnTo>
                  <a:pt x="0" y="969263"/>
                </a:lnTo>
                <a:lnTo>
                  <a:pt x="54864" y="969263"/>
                </a:lnTo>
                <a:lnTo>
                  <a:pt x="54864" y="0"/>
                </a:lnTo>
                <a:close/>
              </a:path>
            </a:pathLst>
          </a:custGeom>
          <a:solidFill>
            <a:srgbClr val="C9DCF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810564" y="3865829"/>
            <a:ext cx="38544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5" dirty="0">
                <a:solidFill>
                  <a:srgbClr val="C9DCFB"/>
                </a:solidFill>
                <a:latin typeface="Cambria"/>
                <a:cs typeface="Cambria"/>
              </a:rPr>
              <a:t>03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679194" y="3761331"/>
            <a:ext cx="9865360" cy="878840"/>
          </a:xfrm>
          <a:prstGeom prst="rect">
            <a:avLst/>
          </a:prstGeom>
        </p:spPr>
        <p:txBody>
          <a:bodyPr vert="horz" wrap="square" lIns="0" tIns="1244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80"/>
              </a:spcBef>
            </a:pPr>
            <a:r>
              <a:rPr sz="1650" b="1" dirty="0">
                <a:solidFill>
                  <a:srgbClr val="1E2760"/>
                </a:solidFill>
                <a:latin typeface="Cambria"/>
                <a:cs typeface="Cambria"/>
              </a:rPr>
              <a:t>The</a:t>
            </a:r>
            <a:r>
              <a:rPr sz="1650" b="1" spc="-15" dirty="0">
                <a:solidFill>
                  <a:srgbClr val="1E2760"/>
                </a:solidFill>
                <a:latin typeface="Cambria"/>
                <a:cs typeface="Cambria"/>
              </a:rPr>
              <a:t> </a:t>
            </a:r>
            <a:r>
              <a:rPr sz="1650" b="1" spc="-10" dirty="0">
                <a:solidFill>
                  <a:srgbClr val="1E2760"/>
                </a:solidFill>
                <a:latin typeface="Cambria"/>
                <a:cs typeface="Cambria"/>
              </a:rPr>
              <a:t>Environmental</a:t>
            </a:r>
            <a:r>
              <a:rPr sz="1650" b="1" spc="-45" dirty="0">
                <a:solidFill>
                  <a:srgbClr val="1E2760"/>
                </a:solidFill>
                <a:latin typeface="Cambria"/>
                <a:cs typeface="Cambria"/>
              </a:rPr>
              <a:t> </a:t>
            </a:r>
            <a:r>
              <a:rPr sz="1650" b="1" spc="-10" dirty="0">
                <a:solidFill>
                  <a:srgbClr val="1E2760"/>
                </a:solidFill>
                <a:latin typeface="Cambria"/>
                <a:cs typeface="Cambria"/>
              </a:rPr>
              <a:t>Hurdle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13599"/>
              </a:lnSpc>
              <a:spcBef>
                <a:spcPts val="450"/>
              </a:spcBef>
            </a:pPr>
            <a:r>
              <a:rPr sz="1250" spc="-10" dirty="0">
                <a:solidFill>
                  <a:srgbClr val="212846"/>
                </a:solidFill>
                <a:latin typeface="Calibri"/>
                <a:cs typeface="Calibri"/>
              </a:rPr>
              <a:t>Unpredictable</a:t>
            </a:r>
            <a:r>
              <a:rPr sz="1250" spc="3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212846"/>
                </a:solidFill>
                <a:latin typeface="Calibri"/>
                <a:cs typeface="Calibri"/>
              </a:rPr>
              <a:t>environmental</a:t>
            </a:r>
            <a:r>
              <a:rPr sz="1250" spc="2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noise</a:t>
            </a:r>
            <a:r>
              <a:rPr sz="1250" spc="-2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and</a:t>
            </a:r>
            <a:r>
              <a:rPr sz="1250" spc="-1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212846"/>
                </a:solidFill>
                <a:latin typeface="Calibri"/>
                <a:cs typeface="Calibri"/>
              </a:rPr>
              <a:t>variable</a:t>
            </a:r>
            <a:r>
              <a:rPr sz="1250" spc="-2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212846"/>
                </a:solidFill>
                <a:latin typeface="Calibri"/>
                <a:cs typeface="Calibri"/>
              </a:rPr>
              <a:t>operating</a:t>
            </a:r>
            <a:r>
              <a:rPr sz="1250" spc="-1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212846"/>
                </a:solidFill>
                <a:latin typeface="Calibri"/>
                <a:cs typeface="Calibri"/>
              </a:rPr>
              <a:t>conditions</a:t>
            </a:r>
            <a:r>
              <a:rPr sz="1250" spc="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(load</a:t>
            </a:r>
            <a:r>
              <a:rPr sz="1250" spc="-3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/</a:t>
            </a:r>
            <a:r>
              <a:rPr sz="1250" spc="-4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RPM)</a:t>
            </a:r>
            <a:r>
              <a:rPr sz="1250" spc="-4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make</a:t>
            </a:r>
            <a:r>
              <a:rPr sz="1250" spc="-4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212846"/>
                </a:solidFill>
                <a:latin typeface="Calibri"/>
                <a:cs typeface="Calibri"/>
              </a:rPr>
              <a:t>generalization</a:t>
            </a:r>
            <a:r>
              <a:rPr sz="1250" spc="-3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nearly</a:t>
            </a:r>
            <a:r>
              <a:rPr sz="1250" spc="-2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impossible;</a:t>
            </a:r>
            <a:r>
              <a:rPr sz="1250" spc="-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standard</a:t>
            </a:r>
            <a:r>
              <a:rPr sz="1250" spc="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filters</a:t>
            </a:r>
            <a:r>
              <a:rPr sz="1250" spc="-1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cannot</a:t>
            </a:r>
            <a:r>
              <a:rPr sz="1250" spc="-4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212846"/>
                </a:solidFill>
                <a:latin typeface="Calibri"/>
                <a:cs typeface="Calibri"/>
              </a:rPr>
              <a:t>handle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random</a:t>
            </a:r>
            <a:r>
              <a:rPr sz="1250" spc="-4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noise</a:t>
            </a:r>
            <a:r>
              <a:rPr sz="1250" spc="-6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212846"/>
                </a:solidFill>
                <a:latin typeface="Calibri"/>
                <a:cs typeface="Calibri"/>
              </a:rPr>
              <a:t>variation.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48640" y="5029200"/>
            <a:ext cx="55244" cy="969644"/>
          </a:xfrm>
          <a:custGeom>
            <a:avLst/>
            <a:gdLst/>
            <a:ahLst/>
            <a:cxnLst/>
            <a:rect l="l" t="t" r="r" b="b"/>
            <a:pathLst>
              <a:path w="55245" h="969645">
                <a:moveTo>
                  <a:pt x="54864" y="0"/>
                </a:moveTo>
                <a:lnTo>
                  <a:pt x="0" y="0"/>
                </a:lnTo>
                <a:lnTo>
                  <a:pt x="0" y="969263"/>
                </a:lnTo>
                <a:lnTo>
                  <a:pt x="54864" y="969263"/>
                </a:lnTo>
                <a:lnTo>
                  <a:pt x="54864" y="0"/>
                </a:lnTo>
                <a:close/>
              </a:path>
            </a:pathLst>
          </a:custGeom>
          <a:solidFill>
            <a:srgbClr val="C9DCF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810564" y="5000625"/>
            <a:ext cx="3854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5" dirty="0">
                <a:solidFill>
                  <a:srgbClr val="C9DCFB"/>
                </a:solidFill>
                <a:latin typeface="Cambria"/>
                <a:cs typeface="Cambria"/>
              </a:rPr>
              <a:t>04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35940" y="6614566"/>
            <a:ext cx="1585595" cy="1473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10"/>
              </a:lnSpc>
            </a:pPr>
            <a:r>
              <a:rPr sz="950" dirty="0">
                <a:solidFill>
                  <a:srgbClr val="525A78"/>
                </a:solidFill>
                <a:latin typeface="Calibri"/>
                <a:cs typeface="Calibri"/>
              </a:rPr>
              <a:t>Part</a:t>
            </a:r>
            <a:r>
              <a:rPr sz="950" spc="-50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525A78"/>
                </a:solidFill>
                <a:latin typeface="Calibri"/>
                <a:cs typeface="Calibri"/>
              </a:rPr>
              <a:t>3</a:t>
            </a:r>
            <a:r>
              <a:rPr sz="950" spc="20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525A78"/>
                </a:solidFill>
                <a:latin typeface="Calibri"/>
                <a:cs typeface="Calibri"/>
              </a:rPr>
              <a:t>—</a:t>
            </a:r>
            <a:r>
              <a:rPr sz="950" spc="-20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525A78"/>
                </a:solidFill>
                <a:latin typeface="Calibri"/>
                <a:cs typeface="Calibri"/>
              </a:rPr>
              <a:t>Proposed</a:t>
            </a:r>
            <a:r>
              <a:rPr sz="950" spc="-45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525A78"/>
                </a:solidFill>
                <a:latin typeface="Calibri"/>
                <a:cs typeface="Calibri"/>
              </a:rPr>
              <a:t>Architecture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10"/>
              </a:lnSpc>
            </a:pPr>
            <a:r>
              <a:rPr spc="-25" dirty="0"/>
              <a:t>10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679194" y="4897326"/>
            <a:ext cx="8097520" cy="660400"/>
          </a:xfrm>
          <a:prstGeom prst="rect">
            <a:avLst/>
          </a:prstGeom>
        </p:spPr>
        <p:txBody>
          <a:bodyPr vert="horz" wrap="square" lIns="0" tIns="1225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65"/>
              </a:spcBef>
            </a:pPr>
            <a:r>
              <a:rPr sz="1650" b="1" dirty="0">
                <a:solidFill>
                  <a:srgbClr val="1E2760"/>
                </a:solidFill>
                <a:latin typeface="Cambria"/>
                <a:cs typeface="Cambria"/>
              </a:rPr>
              <a:t>Our</a:t>
            </a:r>
            <a:r>
              <a:rPr sz="1650" b="1" spc="-5" dirty="0">
                <a:solidFill>
                  <a:srgbClr val="1E2760"/>
                </a:solidFill>
                <a:latin typeface="Cambria"/>
                <a:cs typeface="Cambria"/>
              </a:rPr>
              <a:t> </a:t>
            </a:r>
            <a:r>
              <a:rPr sz="1650" b="1" spc="-10" dirty="0">
                <a:solidFill>
                  <a:srgbClr val="1E2760"/>
                </a:solidFill>
                <a:latin typeface="Cambria"/>
                <a:cs typeface="Cambria"/>
              </a:rPr>
              <a:t>Objective</a:t>
            </a:r>
            <a:endParaRPr sz="16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Focus</a:t>
            </a:r>
            <a:r>
              <a:rPr sz="1250" spc="-1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on</a:t>
            </a:r>
            <a:r>
              <a:rPr sz="1250" spc="-2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212846"/>
                </a:solidFill>
                <a:latin typeface="Calibri"/>
                <a:cs typeface="Calibri"/>
              </a:rPr>
              <a:t>controlling</a:t>
            </a:r>
            <a:r>
              <a:rPr sz="1250" spc="-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the</a:t>
            </a:r>
            <a:r>
              <a:rPr sz="1250" spc="-1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spc="-20" dirty="0">
                <a:solidFill>
                  <a:srgbClr val="212846"/>
                </a:solidFill>
                <a:latin typeface="Calibri"/>
                <a:cs typeface="Calibri"/>
              </a:rPr>
              <a:t>operating-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condition</a:t>
            </a:r>
            <a:r>
              <a:rPr sz="1250" spc="5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variable</a:t>
            </a:r>
            <a:r>
              <a:rPr sz="1250" spc="-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—</a:t>
            </a:r>
            <a:r>
              <a:rPr sz="1250" spc="-2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making</a:t>
            </a:r>
            <a:r>
              <a:rPr sz="1250" spc="-4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the</a:t>
            </a:r>
            <a:r>
              <a:rPr sz="1250" spc="-1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model's</a:t>
            </a:r>
            <a:r>
              <a:rPr sz="1250" spc="-3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212846"/>
                </a:solidFill>
                <a:latin typeface="Calibri"/>
                <a:cs typeface="Calibri"/>
              </a:rPr>
              <a:t>prediction</a:t>
            </a:r>
            <a:r>
              <a:rPr sz="1250" spc="2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212846"/>
                </a:solidFill>
                <a:latin typeface="Calibri"/>
                <a:cs typeface="Calibri"/>
              </a:rPr>
              <a:t>invariant</a:t>
            </a:r>
            <a:r>
              <a:rPr sz="1250" spc="-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to</a:t>
            </a:r>
            <a:r>
              <a:rPr sz="1250" spc="-1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changes</a:t>
            </a:r>
            <a:r>
              <a:rPr sz="1250" spc="-2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in</a:t>
            </a:r>
            <a:r>
              <a:rPr sz="1250" spc="-2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load</a:t>
            </a:r>
            <a:r>
              <a:rPr sz="1250" spc="-2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and</a:t>
            </a:r>
            <a:r>
              <a:rPr sz="1250" spc="-3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spc="-20" dirty="0">
                <a:solidFill>
                  <a:srgbClr val="212846"/>
                </a:solidFill>
                <a:latin typeface="Calibri"/>
                <a:cs typeface="Calibri"/>
              </a:rPr>
              <a:t>RPM.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35940" y="6288125"/>
            <a:ext cx="8943975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i="1" dirty="0">
                <a:solidFill>
                  <a:srgbClr val="525A78"/>
                </a:solidFill>
                <a:latin typeface="Calibri"/>
                <a:cs typeface="Calibri"/>
              </a:rPr>
              <a:t>Scope</a:t>
            </a:r>
            <a:r>
              <a:rPr sz="1100" i="1" spc="-20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525A78"/>
                </a:solidFill>
                <a:latin typeface="Calibri"/>
                <a:cs typeface="Calibri"/>
              </a:rPr>
              <a:t>note:</a:t>
            </a:r>
            <a:r>
              <a:rPr sz="1100" i="1" spc="260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525A78"/>
                </a:solidFill>
                <a:latin typeface="Calibri"/>
                <a:cs typeface="Calibri"/>
              </a:rPr>
              <a:t>full</a:t>
            </a:r>
            <a:r>
              <a:rPr sz="1100" i="1" spc="-10" dirty="0">
                <a:solidFill>
                  <a:srgbClr val="525A78"/>
                </a:solidFill>
                <a:latin typeface="Calibri"/>
                <a:cs typeface="Calibri"/>
              </a:rPr>
              <a:t> environmental-</a:t>
            </a:r>
            <a:r>
              <a:rPr sz="1100" i="1" dirty="0">
                <a:solidFill>
                  <a:srgbClr val="525A78"/>
                </a:solidFill>
                <a:latin typeface="Calibri"/>
                <a:cs typeface="Calibri"/>
              </a:rPr>
              <a:t>noise</a:t>
            </a:r>
            <a:r>
              <a:rPr sz="1100" i="1" spc="-15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525A78"/>
                </a:solidFill>
                <a:latin typeface="Calibri"/>
                <a:cs typeface="Calibri"/>
              </a:rPr>
              <a:t>robustness</a:t>
            </a:r>
            <a:r>
              <a:rPr sz="1100" i="1" spc="-20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525A78"/>
                </a:solidFill>
                <a:latin typeface="Calibri"/>
                <a:cs typeface="Calibri"/>
              </a:rPr>
              <a:t>is</a:t>
            </a:r>
            <a:r>
              <a:rPr sz="1100" i="1" spc="-65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525A78"/>
                </a:solidFill>
                <a:latin typeface="Calibri"/>
                <a:cs typeface="Calibri"/>
              </a:rPr>
              <a:t>treated</a:t>
            </a:r>
            <a:r>
              <a:rPr sz="1100" i="1" spc="-15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525A78"/>
                </a:solidFill>
                <a:latin typeface="Calibri"/>
                <a:cs typeface="Calibri"/>
              </a:rPr>
              <a:t>as</a:t>
            </a:r>
            <a:r>
              <a:rPr sz="1100" i="1" spc="10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525A78"/>
                </a:solidFill>
                <a:latin typeface="Calibri"/>
                <a:cs typeface="Calibri"/>
              </a:rPr>
              <a:t>out</a:t>
            </a:r>
            <a:r>
              <a:rPr sz="1100" i="1" spc="-30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525A78"/>
                </a:solidFill>
                <a:latin typeface="Calibri"/>
                <a:cs typeface="Calibri"/>
              </a:rPr>
              <a:t>of</a:t>
            </a:r>
            <a:r>
              <a:rPr sz="1100" i="1" spc="5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525A78"/>
                </a:solidFill>
                <a:latin typeface="Calibri"/>
                <a:cs typeface="Calibri"/>
              </a:rPr>
              <a:t>scope</a:t>
            </a:r>
            <a:r>
              <a:rPr sz="1100" i="1" spc="-15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525A78"/>
                </a:solidFill>
                <a:latin typeface="Calibri"/>
                <a:cs typeface="Calibri"/>
              </a:rPr>
              <a:t>for</a:t>
            </a:r>
            <a:r>
              <a:rPr sz="1100" i="1" spc="10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525A78"/>
                </a:solidFill>
                <a:latin typeface="Calibri"/>
                <a:cs typeface="Calibri"/>
              </a:rPr>
              <a:t>now</a:t>
            </a:r>
            <a:r>
              <a:rPr sz="1100" i="1" spc="10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525A78"/>
                </a:solidFill>
                <a:latin typeface="Calibri"/>
                <a:cs typeface="Calibri"/>
              </a:rPr>
              <a:t>—</a:t>
            </a:r>
            <a:r>
              <a:rPr sz="1100" i="1" spc="15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525A78"/>
                </a:solidFill>
                <a:latin typeface="Calibri"/>
                <a:cs typeface="Calibri"/>
              </a:rPr>
              <a:t>this</a:t>
            </a:r>
            <a:r>
              <a:rPr sz="1100" i="1" spc="-20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525A78"/>
                </a:solidFill>
                <a:latin typeface="Calibri"/>
                <a:cs typeface="Calibri"/>
              </a:rPr>
              <a:t>proposal</a:t>
            </a:r>
            <a:r>
              <a:rPr sz="1100" i="1" spc="-80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525A78"/>
                </a:solidFill>
                <a:latin typeface="Calibri"/>
                <a:cs typeface="Calibri"/>
              </a:rPr>
              <a:t>targets</a:t>
            </a:r>
            <a:r>
              <a:rPr sz="1100" i="1" spc="-20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525A78"/>
                </a:solidFill>
                <a:latin typeface="Calibri"/>
                <a:cs typeface="Calibri"/>
              </a:rPr>
              <a:t>the</a:t>
            </a:r>
            <a:r>
              <a:rPr sz="1100" i="1" spc="5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525A78"/>
                </a:solidFill>
                <a:latin typeface="Calibri"/>
                <a:cs typeface="Calibri"/>
              </a:rPr>
              <a:t>load</a:t>
            </a:r>
            <a:r>
              <a:rPr sz="1100" i="1" spc="-30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525A78"/>
                </a:solidFill>
                <a:latin typeface="Calibri"/>
                <a:cs typeface="Calibri"/>
              </a:rPr>
              <a:t>/</a:t>
            </a:r>
            <a:r>
              <a:rPr sz="1100" i="1" spc="5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525A78"/>
                </a:solidFill>
                <a:latin typeface="Calibri"/>
                <a:cs typeface="Calibri"/>
              </a:rPr>
              <a:t>RPM</a:t>
            </a:r>
            <a:r>
              <a:rPr sz="1100" i="1" spc="5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525A78"/>
                </a:solidFill>
                <a:latin typeface="Calibri"/>
                <a:cs typeface="Calibri"/>
              </a:rPr>
              <a:t>invariance</a:t>
            </a:r>
            <a:r>
              <a:rPr sz="1100" i="1" spc="-75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525A78"/>
                </a:solidFill>
                <a:latin typeface="Calibri"/>
                <a:cs typeface="Calibri"/>
              </a:rPr>
              <a:t>sub-problem</a:t>
            </a:r>
            <a:r>
              <a:rPr sz="1100" i="1" spc="-55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1100" i="1" spc="-10" dirty="0">
                <a:solidFill>
                  <a:srgbClr val="525A78"/>
                </a:solidFill>
                <a:latin typeface="Calibri"/>
                <a:cs typeface="Calibri"/>
              </a:rPr>
              <a:t>specifically.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411556"/>
            <a:ext cx="1649095" cy="2019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50" b="1" dirty="0">
                <a:solidFill>
                  <a:srgbClr val="525A78"/>
                </a:solidFill>
                <a:latin typeface="Calibri"/>
                <a:cs typeface="Calibri"/>
              </a:rPr>
              <a:t>P</a:t>
            </a:r>
            <a:r>
              <a:rPr sz="1150" b="1" spc="-110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1150" b="1" spc="85" dirty="0">
                <a:solidFill>
                  <a:srgbClr val="525A78"/>
                </a:solidFill>
                <a:latin typeface="Calibri"/>
                <a:cs typeface="Calibri"/>
              </a:rPr>
              <a:t>ROB</a:t>
            </a:r>
            <a:r>
              <a:rPr sz="1150" b="1" spc="-110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1150" b="1" spc="85" dirty="0">
                <a:solidFill>
                  <a:srgbClr val="525A78"/>
                </a:solidFill>
                <a:latin typeface="Calibri"/>
                <a:cs typeface="Calibri"/>
              </a:rPr>
              <a:t>LEM</a:t>
            </a:r>
            <a:r>
              <a:rPr sz="1150" b="1" spc="355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1150" b="1" spc="60" dirty="0">
                <a:solidFill>
                  <a:srgbClr val="525A78"/>
                </a:solidFill>
                <a:latin typeface="Calibri"/>
                <a:cs typeface="Calibri"/>
              </a:rPr>
              <a:t>DI</a:t>
            </a:r>
            <a:r>
              <a:rPr sz="1150" b="1" spc="-114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1150" b="1" spc="60" dirty="0">
                <a:solidFill>
                  <a:srgbClr val="525A78"/>
                </a:solidFill>
                <a:latin typeface="Calibri"/>
                <a:cs typeface="Calibri"/>
              </a:rPr>
              <a:t>AG</a:t>
            </a:r>
            <a:r>
              <a:rPr sz="1150" b="1" spc="-105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1150" b="1" spc="-10" dirty="0">
                <a:solidFill>
                  <a:srgbClr val="525A78"/>
                </a:solidFill>
                <a:latin typeface="Calibri"/>
                <a:cs typeface="Calibri"/>
              </a:rPr>
              <a:t>N</a:t>
            </a:r>
            <a:r>
              <a:rPr sz="1150" b="1" spc="-105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1150" b="1" spc="65" dirty="0">
                <a:solidFill>
                  <a:srgbClr val="525A78"/>
                </a:solidFill>
                <a:latin typeface="Calibri"/>
                <a:cs typeface="Calibri"/>
              </a:rPr>
              <a:t>OS</a:t>
            </a:r>
            <a:r>
              <a:rPr sz="1150" b="1" spc="-110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1150" b="1" spc="-10" dirty="0">
                <a:solidFill>
                  <a:srgbClr val="525A78"/>
                </a:solidFill>
                <a:latin typeface="Calibri"/>
                <a:cs typeface="Calibri"/>
              </a:rPr>
              <a:t>I</a:t>
            </a:r>
            <a:r>
              <a:rPr sz="1150" b="1" spc="-110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1150" b="1" spc="-50" dirty="0">
                <a:solidFill>
                  <a:srgbClr val="525A78"/>
                </a:solidFill>
                <a:latin typeface="Calibri"/>
                <a:cs typeface="Calibri"/>
              </a:rPr>
              <a:t>S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The</a:t>
            </a:r>
            <a:r>
              <a:rPr spc="-40" dirty="0"/>
              <a:t> </a:t>
            </a:r>
            <a:r>
              <a:rPr dirty="0"/>
              <a:t>Embedding</a:t>
            </a:r>
            <a:r>
              <a:rPr spc="-90" dirty="0"/>
              <a:t> </a:t>
            </a:r>
            <a:r>
              <a:rPr dirty="0"/>
              <a:t>Problem</a:t>
            </a:r>
            <a:r>
              <a:rPr spc="-15" dirty="0"/>
              <a:t> </a:t>
            </a:r>
            <a:r>
              <a:rPr dirty="0"/>
              <a:t>&amp;</a:t>
            </a:r>
            <a:r>
              <a:rPr spc="-35" dirty="0"/>
              <a:t> </a:t>
            </a:r>
            <a:r>
              <a:rPr dirty="0"/>
              <a:t>Spectrum</a:t>
            </a:r>
            <a:r>
              <a:rPr spc="-35" dirty="0"/>
              <a:t> </a:t>
            </a:r>
            <a:r>
              <a:rPr spc="-10" dirty="0"/>
              <a:t>Smearing</a:t>
            </a:r>
          </a:p>
        </p:txBody>
      </p:sp>
      <p:sp>
        <p:nvSpPr>
          <p:cNvPr id="4" name="object 4"/>
          <p:cNvSpPr/>
          <p:nvPr/>
        </p:nvSpPr>
        <p:spPr>
          <a:xfrm>
            <a:off x="548640" y="1371600"/>
            <a:ext cx="11094720" cy="0"/>
          </a:xfrm>
          <a:custGeom>
            <a:avLst/>
            <a:gdLst/>
            <a:ahLst/>
            <a:cxnLst/>
            <a:rect l="l" t="t" r="r" b="b"/>
            <a:pathLst>
              <a:path w="11094720">
                <a:moveTo>
                  <a:pt x="0" y="0"/>
                </a:moveTo>
                <a:lnTo>
                  <a:pt x="11094719" y="0"/>
                </a:lnTo>
              </a:path>
            </a:pathLst>
          </a:custGeom>
          <a:ln w="12192">
            <a:solidFill>
              <a:srgbClr val="C4CCE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542544" y="1639823"/>
            <a:ext cx="11107420" cy="1567180"/>
            <a:chOff x="542544" y="1639823"/>
            <a:chExt cx="11107420" cy="1567180"/>
          </a:xfrm>
        </p:grpSpPr>
        <p:sp>
          <p:nvSpPr>
            <p:cNvPr id="6" name="object 6"/>
            <p:cNvSpPr/>
            <p:nvPr/>
          </p:nvSpPr>
          <p:spPr>
            <a:xfrm>
              <a:off x="548640" y="1645919"/>
              <a:ext cx="11094720" cy="1554480"/>
            </a:xfrm>
            <a:custGeom>
              <a:avLst/>
              <a:gdLst/>
              <a:ahLst/>
              <a:cxnLst/>
              <a:rect l="l" t="t" r="r" b="b"/>
              <a:pathLst>
                <a:path w="11094720" h="1554480">
                  <a:moveTo>
                    <a:pt x="11049000" y="0"/>
                  </a:moveTo>
                  <a:lnTo>
                    <a:pt x="45719" y="0"/>
                  </a:lnTo>
                  <a:lnTo>
                    <a:pt x="27924" y="3589"/>
                  </a:lnTo>
                  <a:lnTo>
                    <a:pt x="13392" y="13382"/>
                  </a:lnTo>
                  <a:lnTo>
                    <a:pt x="3593" y="27914"/>
                  </a:lnTo>
                  <a:lnTo>
                    <a:pt x="0" y="45719"/>
                  </a:lnTo>
                  <a:lnTo>
                    <a:pt x="0" y="1508759"/>
                  </a:lnTo>
                  <a:lnTo>
                    <a:pt x="3593" y="1526565"/>
                  </a:lnTo>
                  <a:lnTo>
                    <a:pt x="13392" y="1541097"/>
                  </a:lnTo>
                  <a:lnTo>
                    <a:pt x="27924" y="1550890"/>
                  </a:lnTo>
                  <a:lnTo>
                    <a:pt x="45719" y="1554479"/>
                  </a:lnTo>
                  <a:lnTo>
                    <a:pt x="11049000" y="1554479"/>
                  </a:lnTo>
                  <a:lnTo>
                    <a:pt x="11066805" y="1550890"/>
                  </a:lnTo>
                  <a:lnTo>
                    <a:pt x="11081337" y="1541097"/>
                  </a:lnTo>
                  <a:lnTo>
                    <a:pt x="11091130" y="1526565"/>
                  </a:lnTo>
                  <a:lnTo>
                    <a:pt x="11094719" y="1508759"/>
                  </a:lnTo>
                  <a:lnTo>
                    <a:pt x="11094719" y="45719"/>
                  </a:lnTo>
                  <a:lnTo>
                    <a:pt x="11091130" y="27914"/>
                  </a:lnTo>
                  <a:lnTo>
                    <a:pt x="11081337" y="13382"/>
                  </a:lnTo>
                  <a:lnTo>
                    <a:pt x="11066805" y="3589"/>
                  </a:lnTo>
                  <a:lnTo>
                    <a:pt x="11049000" y="0"/>
                  </a:lnTo>
                  <a:close/>
                </a:path>
              </a:pathLst>
            </a:custGeom>
            <a:solidFill>
              <a:srgbClr val="F4F6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48640" y="1645919"/>
              <a:ext cx="11094720" cy="1554480"/>
            </a:xfrm>
            <a:custGeom>
              <a:avLst/>
              <a:gdLst/>
              <a:ahLst/>
              <a:cxnLst/>
              <a:rect l="l" t="t" r="r" b="b"/>
              <a:pathLst>
                <a:path w="11094720" h="1554480">
                  <a:moveTo>
                    <a:pt x="0" y="45719"/>
                  </a:moveTo>
                  <a:lnTo>
                    <a:pt x="3593" y="27914"/>
                  </a:lnTo>
                  <a:lnTo>
                    <a:pt x="13392" y="13382"/>
                  </a:lnTo>
                  <a:lnTo>
                    <a:pt x="27924" y="3589"/>
                  </a:lnTo>
                  <a:lnTo>
                    <a:pt x="45719" y="0"/>
                  </a:lnTo>
                  <a:lnTo>
                    <a:pt x="11049000" y="0"/>
                  </a:lnTo>
                  <a:lnTo>
                    <a:pt x="11066805" y="3589"/>
                  </a:lnTo>
                  <a:lnTo>
                    <a:pt x="11081337" y="13382"/>
                  </a:lnTo>
                  <a:lnTo>
                    <a:pt x="11091130" y="27914"/>
                  </a:lnTo>
                  <a:lnTo>
                    <a:pt x="11094719" y="45719"/>
                  </a:lnTo>
                  <a:lnTo>
                    <a:pt x="11094719" y="1508759"/>
                  </a:lnTo>
                  <a:lnTo>
                    <a:pt x="11091130" y="1526565"/>
                  </a:lnTo>
                  <a:lnTo>
                    <a:pt x="11081337" y="1541097"/>
                  </a:lnTo>
                  <a:lnTo>
                    <a:pt x="11066805" y="1550890"/>
                  </a:lnTo>
                  <a:lnTo>
                    <a:pt x="11049000" y="1554479"/>
                  </a:lnTo>
                  <a:lnTo>
                    <a:pt x="45719" y="1554479"/>
                  </a:lnTo>
                  <a:lnTo>
                    <a:pt x="27924" y="1550890"/>
                  </a:lnTo>
                  <a:lnTo>
                    <a:pt x="13392" y="1541097"/>
                  </a:lnTo>
                  <a:lnTo>
                    <a:pt x="3593" y="1526565"/>
                  </a:lnTo>
                  <a:lnTo>
                    <a:pt x="0" y="1508759"/>
                  </a:lnTo>
                  <a:lnTo>
                    <a:pt x="0" y="45719"/>
                  </a:lnTo>
                  <a:close/>
                </a:path>
              </a:pathLst>
            </a:custGeom>
            <a:ln w="12192">
              <a:solidFill>
                <a:srgbClr val="D6DE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endParaRPr/>
          </a:p>
          <a:p>
            <a:pPr marL="320040">
              <a:lnSpc>
                <a:spcPct val="100000"/>
              </a:lnSpc>
            </a:pPr>
            <a:r>
              <a:rPr dirty="0"/>
              <a:t>The</a:t>
            </a:r>
            <a:r>
              <a:rPr spc="-50" dirty="0"/>
              <a:t> </a:t>
            </a:r>
            <a:r>
              <a:rPr dirty="0"/>
              <a:t>“Black</a:t>
            </a:r>
            <a:r>
              <a:rPr spc="-50" dirty="0"/>
              <a:t> </a:t>
            </a:r>
            <a:r>
              <a:rPr dirty="0"/>
              <a:t>Box”</a:t>
            </a:r>
            <a:r>
              <a:rPr spc="-20" dirty="0"/>
              <a:t> </a:t>
            </a:r>
            <a:r>
              <a:rPr spc="-10" dirty="0"/>
              <a:t>Approach</a:t>
            </a: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pc="-10" dirty="0"/>
          </a:p>
          <a:p>
            <a:pPr marL="320040" marR="415290">
              <a:lnSpc>
                <a:spcPct val="120000"/>
              </a:lnSpc>
              <a:spcBef>
                <a:spcPts val="5"/>
              </a:spcBef>
            </a:pPr>
            <a:r>
              <a:rPr sz="1250" b="0" spc="-10" dirty="0">
                <a:solidFill>
                  <a:srgbClr val="212846"/>
                </a:solidFill>
                <a:latin typeface="Calibri"/>
                <a:cs typeface="Calibri"/>
              </a:rPr>
              <a:t>Current</a:t>
            </a:r>
            <a:r>
              <a:rPr sz="1250" b="0" spc="-3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b="0" dirty="0">
                <a:solidFill>
                  <a:srgbClr val="212846"/>
                </a:solidFill>
                <a:latin typeface="Calibri"/>
                <a:cs typeface="Calibri"/>
              </a:rPr>
              <a:t>deep</a:t>
            </a:r>
            <a:r>
              <a:rPr sz="1250" b="0" spc="-1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b="0" dirty="0">
                <a:solidFill>
                  <a:srgbClr val="212846"/>
                </a:solidFill>
                <a:latin typeface="Calibri"/>
                <a:cs typeface="Calibri"/>
              </a:rPr>
              <a:t>learning</a:t>
            </a:r>
            <a:r>
              <a:rPr sz="1250" b="0" spc="-3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b="0" dirty="0">
                <a:solidFill>
                  <a:srgbClr val="212846"/>
                </a:solidFill>
                <a:latin typeface="Calibri"/>
                <a:cs typeface="Calibri"/>
              </a:rPr>
              <a:t>models</a:t>
            </a:r>
            <a:r>
              <a:rPr sz="1250" b="0" spc="-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b="0" dirty="0">
                <a:solidFill>
                  <a:srgbClr val="212846"/>
                </a:solidFill>
                <a:latin typeface="Calibri"/>
                <a:cs typeface="Calibri"/>
              </a:rPr>
              <a:t>treat</a:t>
            </a:r>
            <a:r>
              <a:rPr sz="1250" b="0" spc="-5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b="0" dirty="0">
                <a:solidFill>
                  <a:srgbClr val="212846"/>
                </a:solidFill>
                <a:latin typeface="Calibri"/>
                <a:cs typeface="Calibri"/>
              </a:rPr>
              <a:t>embedding</a:t>
            </a:r>
            <a:r>
              <a:rPr sz="1250" b="0" spc="1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b="0" dirty="0">
                <a:solidFill>
                  <a:srgbClr val="212846"/>
                </a:solidFill>
                <a:latin typeface="Calibri"/>
                <a:cs typeface="Calibri"/>
              </a:rPr>
              <a:t>creation</a:t>
            </a:r>
            <a:r>
              <a:rPr sz="1250" b="0" spc="-2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b="0" dirty="0">
                <a:solidFill>
                  <a:srgbClr val="212846"/>
                </a:solidFill>
                <a:latin typeface="Calibri"/>
                <a:cs typeface="Calibri"/>
              </a:rPr>
              <a:t>as</a:t>
            </a:r>
            <a:r>
              <a:rPr sz="1250" b="0" spc="-4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b="0" dirty="0">
                <a:solidFill>
                  <a:srgbClr val="212846"/>
                </a:solidFill>
                <a:latin typeface="Calibri"/>
                <a:cs typeface="Calibri"/>
              </a:rPr>
              <a:t>a</a:t>
            </a:r>
            <a:r>
              <a:rPr sz="1250" b="0" spc="-4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b="0" dirty="0">
                <a:solidFill>
                  <a:srgbClr val="212846"/>
                </a:solidFill>
                <a:latin typeface="Calibri"/>
                <a:cs typeface="Calibri"/>
              </a:rPr>
              <a:t>black</a:t>
            </a:r>
            <a:r>
              <a:rPr sz="1250" b="0" spc="-3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b="0" dirty="0">
                <a:solidFill>
                  <a:srgbClr val="212846"/>
                </a:solidFill>
                <a:latin typeface="Calibri"/>
                <a:cs typeface="Calibri"/>
              </a:rPr>
              <a:t>box</a:t>
            </a:r>
            <a:r>
              <a:rPr sz="1250" b="0" spc="3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b="0" dirty="0">
                <a:solidFill>
                  <a:srgbClr val="212846"/>
                </a:solidFill>
                <a:latin typeface="Calibri"/>
                <a:cs typeface="Calibri"/>
              </a:rPr>
              <a:t>—</a:t>
            </a:r>
            <a:r>
              <a:rPr sz="1250" b="0" spc="-4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b="0" dirty="0">
                <a:solidFill>
                  <a:srgbClr val="212846"/>
                </a:solidFill>
                <a:latin typeface="Calibri"/>
                <a:cs typeface="Calibri"/>
              </a:rPr>
              <a:t>letting</a:t>
            </a:r>
            <a:r>
              <a:rPr sz="1250" b="0" spc="-1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b="0" dirty="0">
                <a:solidFill>
                  <a:srgbClr val="212846"/>
                </a:solidFill>
                <a:latin typeface="Calibri"/>
                <a:cs typeface="Calibri"/>
              </a:rPr>
              <a:t>the</a:t>
            </a:r>
            <a:r>
              <a:rPr sz="1250" b="0" spc="-3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b="0" dirty="0">
                <a:solidFill>
                  <a:srgbClr val="212846"/>
                </a:solidFill>
                <a:latin typeface="Calibri"/>
                <a:cs typeface="Calibri"/>
              </a:rPr>
              <a:t>network</a:t>
            </a:r>
            <a:r>
              <a:rPr sz="1250" b="0" spc="-1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b="0" spc="-10" dirty="0">
                <a:solidFill>
                  <a:srgbClr val="212846"/>
                </a:solidFill>
                <a:latin typeface="Calibri"/>
                <a:cs typeface="Calibri"/>
              </a:rPr>
              <a:t>arbitrarily</a:t>
            </a:r>
            <a:r>
              <a:rPr sz="1250" b="0" spc="-3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b="0" spc="-10" dirty="0">
                <a:solidFill>
                  <a:srgbClr val="212846"/>
                </a:solidFill>
                <a:latin typeface="Calibri"/>
                <a:cs typeface="Calibri"/>
              </a:rPr>
              <a:t>redistribute</a:t>
            </a:r>
            <a:r>
              <a:rPr sz="1250" b="0" spc="6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b="0" dirty="0">
                <a:solidFill>
                  <a:srgbClr val="212846"/>
                </a:solidFill>
                <a:latin typeface="Calibri"/>
                <a:cs typeface="Calibri"/>
              </a:rPr>
              <a:t>weights</a:t>
            </a:r>
            <a:r>
              <a:rPr sz="1250" b="0" spc="-5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b="0" dirty="0">
                <a:solidFill>
                  <a:srgbClr val="212846"/>
                </a:solidFill>
                <a:latin typeface="Calibri"/>
                <a:cs typeface="Calibri"/>
              </a:rPr>
              <a:t>to</a:t>
            </a:r>
            <a:r>
              <a:rPr sz="1250" b="0" spc="-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b="0" dirty="0">
                <a:solidFill>
                  <a:srgbClr val="212846"/>
                </a:solidFill>
                <a:latin typeface="Calibri"/>
                <a:cs typeface="Calibri"/>
              </a:rPr>
              <a:t>extract</a:t>
            </a:r>
            <a:r>
              <a:rPr sz="1250" b="0" spc="-5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b="0" spc="-10" dirty="0">
                <a:solidFill>
                  <a:srgbClr val="212846"/>
                </a:solidFill>
                <a:latin typeface="Calibri"/>
                <a:cs typeface="Calibri"/>
              </a:rPr>
              <a:t>features</a:t>
            </a:r>
            <a:r>
              <a:rPr sz="1250" b="0" spc="-2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b="0" dirty="0">
                <a:solidFill>
                  <a:srgbClr val="212846"/>
                </a:solidFill>
                <a:latin typeface="Calibri"/>
                <a:cs typeface="Calibri"/>
              </a:rPr>
              <a:t>from</a:t>
            </a:r>
            <a:r>
              <a:rPr sz="1250" b="0" spc="-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b="0" dirty="0">
                <a:solidFill>
                  <a:srgbClr val="212846"/>
                </a:solidFill>
                <a:latin typeface="Calibri"/>
                <a:cs typeface="Calibri"/>
              </a:rPr>
              <a:t>STFT</a:t>
            </a:r>
            <a:r>
              <a:rPr sz="1250" b="0" spc="-5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b="0" dirty="0">
                <a:solidFill>
                  <a:srgbClr val="212846"/>
                </a:solidFill>
                <a:latin typeface="Calibri"/>
                <a:cs typeface="Calibri"/>
              </a:rPr>
              <a:t>/</a:t>
            </a:r>
            <a:r>
              <a:rPr sz="1250" b="0" spc="-4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b="0" spc="-25" dirty="0">
                <a:solidFill>
                  <a:srgbClr val="212846"/>
                </a:solidFill>
                <a:latin typeface="Calibri"/>
                <a:cs typeface="Calibri"/>
              </a:rPr>
              <a:t>CWT </a:t>
            </a:r>
            <a:r>
              <a:rPr sz="1250" b="0" dirty="0">
                <a:solidFill>
                  <a:srgbClr val="212846"/>
                </a:solidFill>
                <a:latin typeface="Calibri"/>
                <a:cs typeface="Calibri"/>
              </a:rPr>
              <a:t>and</a:t>
            </a:r>
            <a:r>
              <a:rPr sz="1250" b="0" spc="-3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b="0" spc="-10" dirty="0">
                <a:solidFill>
                  <a:srgbClr val="212846"/>
                </a:solidFill>
                <a:latin typeface="Calibri"/>
                <a:cs typeface="Calibri"/>
              </a:rPr>
              <a:t>forcing</a:t>
            </a:r>
            <a:r>
              <a:rPr sz="1250" b="0" spc="-1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b="0" spc="-10" dirty="0">
                <a:solidFill>
                  <a:srgbClr val="212846"/>
                </a:solidFill>
                <a:latin typeface="Calibri"/>
                <a:cs typeface="Calibri"/>
              </a:rPr>
              <a:t>predictions</a:t>
            </a:r>
            <a:r>
              <a:rPr sz="1250" b="0" spc="2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b="0" dirty="0">
                <a:solidFill>
                  <a:srgbClr val="212846"/>
                </a:solidFill>
                <a:latin typeface="Calibri"/>
                <a:cs typeface="Calibri"/>
              </a:rPr>
              <a:t>into</a:t>
            </a:r>
            <a:r>
              <a:rPr sz="1250" b="0" spc="-4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b="0" dirty="0">
                <a:solidFill>
                  <a:srgbClr val="212846"/>
                </a:solidFill>
                <a:latin typeface="Calibri"/>
                <a:cs typeface="Calibri"/>
              </a:rPr>
              <a:t>24</a:t>
            </a:r>
            <a:r>
              <a:rPr sz="1250" b="0" spc="-3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b="0" dirty="0">
                <a:solidFill>
                  <a:srgbClr val="212846"/>
                </a:solidFill>
                <a:latin typeface="Calibri"/>
                <a:cs typeface="Calibri"/>
              </a:rPr>
              <a:t>discrete</a:t>
            </a:r>
            <a:r>
              <a:rPr sz="1250" b="0" spc="-10" dirty="0">
                <a:solidFill>
                  <a:srgbClr val="212846"/>
                </a:solidFill>
                <a:latin typeface="Calibri"/>
                <a:cs typeface="Calibri"/>
              </a:rPr>
              <a:t> classes.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42544" y="3422903"/>
            <a:ext cx="11107420" cy="1567180"/>
            <a:chOff x="542544" y="3422903"/>
            <a:chExt cx="11107420" cy="1567180"/>
          </a:xfrm>
        </p:grpSpPr>
        <p:sp>
          <p:nvSpPr>
            <p:cNvPr id="10" name="object 10"/>
            <p:cNvSpPr/>
            <p:nvPr/>
          </p:nvSpPr>
          <p:spPr>
            <a:xfrm>
              <a:off x="548640" y="3428999"/>
              <a:ext cx="11094720" cy="1554480"/>
            </a:xfrm>
            <a:custGeom>
              <a:avLst/>
              <a:gdLst/>
              <a:ahLst/>
              <a:cxnLst/>
              <a:rect l="l" t="t" r="r" b="b"/>
              <a:pathLst>
                <a:path w="11094720" h="1554479">
                  <a:moveTo>
                    <a:pt x="11049000" y="0"/>
                  </a:moveTo>
                  <a:lnTo>
                    <a:pt x="45719" y="0"/>
                  </a:lnTo>
                  <a:lnTo>
                    <a:pt x="27924" y="3589"/>
                  </a:lnTo>
                  <a:lnTo>
                    <a:pt x="13392" y="13382"/>
                  </a:lnTo>
                  <a:lnTo>
                    <a:pt x="3593" y="27914"/>
                  </a:lnTo>
                  <a:lnTo>
                    <a:pt x="0" y="45720"/>
                  </a:lnTo>
                  <a:lnTo>
                    <a:pt x="0" y="1508760"/>
                  </a:lnTo>
                  <a:lnTo>
                    <a:pt x="3593" y="1526565"/>
                  </a:lnTo>
                  <a:lnTo>
                    <a:pt x="13392" y="1541097"/>
                  </a:lnTo>
                  <a:lnTo>
                    <a:pt x="27924" y="1550890"/>
                  </a:lnTo>
                  <a:lnTo>
                    <a:pt x="45719" y="1554480"/>
                  </a:lnTo>
                  <a:lnTo>
                    <a:pt x="11049000" y="1554480"/>
                  </a:lnTo>
                  <a:lnTo>
                    <a:pt x="11066805" y="1550890"/>
                  </a:lnTo>
                  <a:lnTo>
                    <a:pt x="11081337" y="1541097"/>
                  </a:lnTo>
                  <a:lnTo>
                    <a:pt x="11091130" y="1526565"/>
                  </a:lnTo>
                  <a:lnTo>
                    <a:pt x="11094719" y="1508760"/>
                  </a:lnTo>
                  <a:lnTo>
                    <a:pt x="11094719" y="45720"/>
                  </a:lnTo>
                  <a:lnTo>
                    <a:pt x="11091130" y="27914"/>
                  </a:lnTo>
                  <a:lnTo>
                    <a:pt x="11081337" y="13382"/>
                  </a:lnTo>
                  <a:lnTo>
                    <a:pt x="11066805" y="3589"/>
                  </a:lnTo>
                  <a:lnTo>
                    <a:pt x="11049000" y="0"/>
                  </a:lnTo>
                  <a:close/>
                </a:path>
              </a:pathLst>
            </a:custGeom>
            <a:solidFill>
              <a:srgbClr val="F4F6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48640" y="3428999"/>
              <a:ext cx="11094720" cy="1554480"/>
            </a:xfrm>
            <a:custGeom>
              <a:avLst/>
              <a:gdLst/>
              <a:ahLst/>
              <a:cxnLst/>
              <a:rect l="l" t="t" r="r" b="b"/>
              <a:pathLst>
                <a:path w="11094720" h="1554479">
                  <a:moveTo>
                    <a:pt x="0" y="45720"/>
                  </a:moveTo>
                  <a:lnTo>
                    <a:pt x="3593" y="27914"/>
                  </a:lnTo>
                  <a:lnTo>
                    <a:pt x="13392" y="13382"/>
                  </a:lnTo>
                  <a:lnTo>
                    <a:pt x="27924" y="3589"/>
                  </a:lnTo>
                  <a:lnTo>
                    <a:pt x="45719" y="0"/>
                  </a:lnTo>
                  <a:lnTo>
                    <a:pt x="11049000" y="0"/>
                  </a:lnTo>
                  <a:lnTo>
                    <a:pt x="11066805" y="3589"/>
                  </a:lnTo>
                  <a:lnTo>
                    <a:pt x="11081337" y="13382"/>
                  </a:lnTo>
                  <a:lnTo>
                    <a:pt x="11091130" y="27914"/>
                  </a:lnTo>
                  <a:lnTo>
                    <a:pt x="11094719" y="45720"/>
                  </a:lnTo>
                  <a:lnTo>
                    <a:pt x="11094719" y="1508760"/>
                  </a:lnTo>
                  <a:lnTo>
                    <a:pt x="11091130" y="1526565"/>
                  </a:lnTo>
                  <a:lnTo>
                    <a:pt x="11081337" y="1541097"/>
                  </a:lnTo>
                  <a:lnTo>
                    <a:pt x="11066805" y="1550890"/>
                  </a:lnTo>
                  <a:lnTo>
                    <a:pt x="11049000" y="1554480"/>
                  </a:lnTo>
                  <a:lnTo>
                    <a:pt x="45719" y="1554480"/>
                  </a:lnTo>
                  <a:lnTo>
                    <a:pt x="27924" y="1550890"/>
                  </a:lnTo>
                  <a:lnTo>
                    <a:pt x="13392" y="1541097"/>
                  </a:lnTo>
                  <a:lnTo>
                    <a:pt x="3593" y="1526565"/>
                  </a:lnTo>
                  <a:lnTo>
                    <a:pt x="0" y="1508760"/>
                  </a:lnTo>
                  <a:lnTo>
                    <a:pt x="0" y="45720"/>
                  </a:lnTo>
                  <a:close/>
                </a:path>
              </a:pathLst>
            </a:custGeom>
            <a:ln w="12192">
              <a:solidFill>
                <a:srgbClr val="D6DE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48640" y="3429000"/>
            <a:ext cx="11094720" cy="155448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5"/>
              </a:spcBef>
            </a:pPr>
            <a:endParaRPr sz="1550">
              <a:latin typeface="Times New Roman"/>
              <a:cs typeface="Times New Roman"/>
            </a:endParaRPr>
          </a:p>
          <a:p>
            <a:pPr marL="320040">
              <a:lnSpc>
                <a:spcPct val="100000"/>
              </a:lnSpc>
            </a:pPr>
            <a:r>
              <a:rPr sz="1550" b="1" dirty="0">
                <a:solidFill>
                  <a:srgbClr val="1E2760"/>
                </a:solidFill>
                <a:latin typeface="Cambria"/>
                <a:cs typeface="Cambria"/>
              </a:rPr>
              <a:t>The</a:t>
            </a:r>
            <a:r>
              <a:rPr sz="1550" b="1" spc="-35" dirty="0">
                <a:solidFill>
                  <a:srgbClr val="1E2760"/>
                </a:solidFill>
                <a:latin typeface="Cambria"/>
                <a:cs typeface="Cambria"/>
              </a:rPr>
              <a:t> </a:t>
            </a:r>
            <a:r>
              <a:rPr sz="1550" b="1" spc="-10" dirty="0">
                <a:solidFill>
                  <a:srgbClr val="1E2760"/>
                </a:solidFill>
                <a:latin typeface="Cambria"/>
                <a:cs typeface="Cambria"/>
              </a:rPr>
              <a:t>Flaw</a:t>
            </a:r>
            <a:r>
              <a:rPr sz="1550" b="1" spc="-50" dirty="0">
                <a:solidFill>
                  <a:srgbClr val="1E2760"/>
                </a:solidFill>
                <a:latin typeface="Cambria"/>
                <a:cs typeface="Cambria"/>
              </a:rPr>
              <a:t> </a:t>
            </a:r>
            <a:r>
              <a:rPr sz="1550" b="1" dirty="0">
                <a:solidFill>
                  <a:srgbClr val="1E2760"/>
                </a:solidFill>
                <a:latin typeface="Cambria"/>
                <a:cs typeface="Cambria"/>
              </a:rPr>
              <a:t>of</a:t>
            </a:r>
            <a:r>
              <a:rPr sz="1550" b="1" spc="-10" dirty="0">
                <a:solidFill>
                  <a:srgbClr val="1E2760"/>
                </a:solidFill>
                <a:latin typeface="Cambria"/>
                <a:cs typeface="Cambria"/>
              </a:rPr>
              <a:t> </a:t>
            </a:r>
            <a:r>
              <a:rPr sz="1550" b="1" spc="-20" dirty="0">
                <a:solidFill>
                  <a:srgbClr val="1E2760"/>
                </a:solidFill>
                <a:latin typeface="Cambria"/>
                <a:cs typeface="Cambria"/>
              </a:rPr>
              <a:t>STFT</a:t>
            </a:r>
            <a:endParaRPr sz="155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550">
              <a:latin typeface="Cambria"/>
              <a:cs typeface="Cambria"/>
            </a:endParaRPr>
          </a:p>
          <a:p>
            <a:pPr marL="320040" marR="553085">
              <a:lnSpc>
                <a:spcPct val="120000"/>
              </a:lnSpc>
            </a:pP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Changing</a:t>
            </a:r>
            <a:r>
              <a:rPr sz="1250" spc="-1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RPM</a:t>
            </a:r>
            <a:r>
              <a:rPr sz="1250" spc="-3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or</a:t>
            </a:r>
            <a:r>
              <a:rPr sz="1250" spc="-2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load</a:t>
            </a:r>
            <a:r>
              <a:rPr sz="1250" spc="-3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212846"/>
                </a:solidFill>
                <a:latin typeface="Calibri"/>
                <a:cs typeface="Calibri"/>
              </a:rPr>
              <a:t>completely</a:t>
            </a:r>
            <a:r>
              <a:rPr sz="1250" spc="-3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212846"/>
                </a:solidFill>
                <a:latin typeface="Calibri"/>
                <a:cs typeface="Calibri"/>
              </a:rPr>
              <a:t>redistributes</a:t>
            </a:r>
            <a:r>
              <a:rPr sz="1250" spc="3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STFT</a:t>
            </a:r>
            <a:r>
              <a:rPr sz="1250" spc="-3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frequency</a:t>
            </a:r>
            <a:r>
              <a:rPr sz="1250" spc="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bins</a:t>
            </a:r>
            <a:r>
              <a:rPr sz="1250" spc="-2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and</a:t>
            </a:r>
            <a:r>
              <a:rPr sz="1250" spc="-3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shifts</a:t>
            </a:r>
            <a:r>
              <a:rPr sz="1250" spc="-1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the</a:t>
            </a:r>
            <a:r>
              <a:rPr sz="1250" spc="-2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entire</a:t>
            </a:r>
            <a:r>
              <a:rPr sz="1250" spc="-2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spectrum</a:t>
            </a:r>
            <a:r>
              <a:rPr sz="1250" spc="3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—</a:t>
            </a:r>
            <a:r>
              <a:rPr sz="1250" spc="-2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proof that</a:t>
            </a:r>
            <a:r>
              <a:rPr sz="1250" spc="-5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simple</a:t>
            </a:r>
            <a:r>
              <a:rPr sz="1250" spc="-20" dirty="0">
                <a:solidFill>
                  <a:srgbClr val="212846"/>
                </a:solidFill>
                <a:latin typeface="Calibri"/>
                <a:cs typeface="Calibri"/>
              </a:rPr>
              <a:t> data-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driven</a:t>
            </a:r>
            <a:r>
              <a:rPr sz="1250" spc="2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212846"/>
                </a:solidFill>
                <a:latin typeface="Calibri"/>
                <a:cs typeface="Calibri"/>
              </a:rPr>
              <a:t>feature</a:t>
            </a:r>
            <a:r>
              <a:rPr sz="1250" spc="-2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212846"/>
                </a:solidFill>
                <a:latin typeface="Calibri"/>
                <a:cs typeface="Calibri"/>
              </a:rPr>
              <a:t>extraction</a:t>
            </a:r>
            <a:r>
              <a:rPr sz="1250" spc="-3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is</a:t>
            </a:r>
            <a:r>
              <a:rPr sz="1250" spc="-3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212846"/>
                </a:solidFill>
                <a:latin typeface="Calibri"/>
                <a:cs typeface="Calibri"/>
              </a:rPr>
              <a:t>highly unstable.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542544" y="5205984"/>
            <a:ext cx="11107420" cy="1064260"/>
            <a:chOff x="542544" y="5205984"/>
            <a:chExt cx="11107420" cy="1064260"/>
          </a:xfrm>
        </p:grpSpPr>
        <p:sp>
          <p:nvSpPr>
            <p:cNvPr id="14" name="object 14"/>
            <p:cNvSpPr/>
            <p:nvPr/>
          </p:nvSpPr>
          <p:spPr>
            <a:xfrm>
              <a:off x="548640" y="5212080"/>
              <a:ext cx="11094720" cy="1051560"/>
            </a:xfrm>
            <a:custGeom>
              <a:avLst/>
              <a:gdLst/>
              <a:ahLst/>
              <a:cxnLst/>
              <a:rect l="l" t="t" r="r" b="b"/>
              <a:pathLst>
                <a:path w="11094720" h="1051560">
                  <a:moveTo>
                    <a:pt x="11049000" y="0"/>
                  </a:moveTo>
                  <a:lnTo>
                    <a:pt x="45719" y="0"/>
                  </a:lnTo>
                  <a:lnTo>
                    <a:pt x="27924" y="3589"/>
                  </a:lnTo>
                  <a:lnTo>
                    <a:pt x="13392" y="13382"/>
                  </a:lnTo>
                  <a:lnTo>
                    <a:pt x="3593" y="27914"/>
                  </a:lnTo>
                  <a:lnTo>
                    <a:pt x="0" y="45720"/>
                  </a:lnTo>
                  <a:lnTo>
                    <a:pt x="0" y="1005840"/>
                  </a:lnTo>
                  <a:lnTo>
                    <a:pt x="3593" y="1023635"/>
                  </a:lnTo>
                  <a:lnTo>
                    <a:pt x="13392" y="1038167"/>
                  </a:lnTo>
                  <a:lnTo>
                    <a:pt x="27924" y="1047966"/>
                  </a:lnTo>
                  <a:lnTo>
                    <a:pt x="45719" y="1051560"/>
                  </a:lnTo>
                  <a:lnTo>
                    <a:pt x="11049000" y="1051560"/>
                  </a:lnTo>
                  <a:lnTo>
                    <a:pt x="11066805" y="1047966"/>
                  </a:lnTo>
                  <a:lnTo>
                    <a:pt x="11081337" y="1038167"/>
                  </a:lnTo>
                  <a:lnTo>
                    <a:pt x="11091130" y="1023635"/>
                  </a:lnTo>
                  <a:lnTo>
                    <a:pt x="11094719" y="1005840"/>
                  </a:lnTo>
                  <a:lnTo>
                    <a:pt x="11094719" y="45720"/>
                  </a:lnTo>
                  <a:lnTo>
                    <a:pt x="11091130" y="27914"/>
                  </a:lnTo>
                  <a:lnTo>
                    <a:pt x="11081337" y="13382"/>
                  </a:lnTo>
                  <a:lnTo>
                    <a:pt x="11066805" y="3589"/>
                  </a:lnTo>
                  <a:lnTo>
                    <a:pt x="11049000" y="0"/>
                  </a:lnTo>
                  <a:close/>
                </a:path>
              </a:pathLst>
            </a:custGeom>
            <a:solidFill>
              <a:srgbClr val="1E27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48640" y="5212080"/>
              <a:ext cx="11094720" cy="1051560"/>
            </a:xfrm>
            <a:custGeom>
              <a:avLst/>
              <a:gdLst/>
              <a:ahLst/>
              <a:cxnLst/>
              <a:rect l="l" t="t" r="r" b="b"/>
              <a:pathLst>
                <a:path w="11094720" h="1051560">
                  <a:moveTo>
                    <a:pt x="0" y="45720"/>
                  </a:moveTo>
                  <a:lnTo>
                    <a:pt x="3593" y="27914"/>
                  </a:lnTo>
                  <a:lnTo>
                    <a:pt x="13392" y="13382"/>
                  </a:lnTo>
                  <a:lnTo>
                    <a:pt x="27924" y="3589"/>
                  </a:lnTo>
                  <a:lnTo>
                    <a:pt x="45719" y="0"/>
                  </a:lnTo>
                  <a:lnTo>
                    <a:pt x="11049000" y="0"/>
                  </a:lnTo>
                  <a:lnTo>
                    <a:pt x="11066805" y="3589"/>
                  </a:lnTo>
                  <a:lnTo>
                    <a:pt x="11081337" y="13382"/>
                  </a:lnTo>
                  <a:lnTo>
                    <a:pt x="11091130" y="27914"/>
                  </a:lnTo>
                  <a:lnTo>
                    <a:pt x="11094719" y="45720"/>
                  </a:lnTo>
                  <a:lnTo>
                    <a:pt x="11094719" y="1005840"/>
                  </a:lnTo>
                  <a:lnTo>
                    <a:pt x="11091130" y="1023635"/>
                  </a:lnTo>
                  <a:lnTo>
                    <a:pt x="11081337" y="1038167"/>
                  </a:lnTo>
                  <a:lnTo>
                    <a:pt x="11066805" y="1047966"/>
                  </a:lnTo>
                  <a:lnTo>
                    <a:pt x="11049000" y="1051560"/>
                  </a:lnTo>
                  <a:lnTo>
                    <a:pt x="45719" y="1051560"/>
                  </a:lnTo>
                  <a:lnTo>
                    <a:pt x="27924" y="1047966"/>
                  </a:lnTo>
                  <a:lnTo>
                    <a:pt x="13392" y="1038167"/>
                  </a:lnTo>
                  <a:lnTo>
                    <a:pt x="3593" y="1023635"/>
                  </a:lnTo>
                  <a:lnTo>
                    <a:pt x="0" y="1005840"/>
                  </a:lnTo>
                  <a:lnTo>
                    <a:pt x="0" y="45720"/>
                  </a:lnTo>
                  <a:close/>
                </a:path>
              </a:pathLst>
            </a:custGeom>
            <a:ln w="12192">
              <a:solidFill>
                <a:srgbClr val="1E27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548640" y="5212079"/>
            <a:ext cx="11094720" cy="105156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 vert="horz" wrap="square" lIns="0" tIns="112395" rIns="0" bIns="0" rtlCol="0">
            <a:spAutoFit/>
          </a:bodyPr>
          <a:lstStyle/>
          <a:p>
            <a:pPr marL="320040">
              <a:lnSpc>
                <a:spcPct val="100000"/>
              </a:lnSpc>
              <a:spcBef>
                <a:spcPts val="885"/>
              </a:spcBef>
            </a:pPr>
            <a:r>
              <a:rPr sz="1050" b="1" spc="75" dirty="0">
                <a:solidFill>
                  <a:srgbClr val="C9DCFB"/>
                </a:solidFill>
                <a:latin typeface="Calibri"/>
                <a:cs typeface="Calibri"/>
              </a:rPr>
              <a:t>THE</a:t>
            </a:r>
            <a:r>
              <a:rPr sz="1050" b="1" spc="229" dirty="0">
                <a:solidFill>
                  <a:srgbClr val="C9DCFB"/>
                </a:solidFill>
                <a:latin typeface="Calibri"/>
                <a:cs typeface="Calibri"/>
              </a:rPr>
              <a:t> </a:t>
            </a:r>
            <a:r>
              <a:rPr sz="1050" b="1" spc="65" dirty="0">
                <a:solidFill>
                  <a:srgbClr val="C9DCFB"/>
                </a:solidFill>
                <a:latin typeface="Calibri"/>
                <a:cs typeface="Calibri"/>
              </a:rPr>
              <a:t>GOAL</a:t>
            </a:r>
            <a:endParaRPr sz="105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1050" dirty="0">
              <a:latin typeface="Calibri"/>
              <a:cs typeface="Calibri"/>
            </a:endParaRPr>
          </a:p>
          <a:p>
            <a:pPr marL="320040" marR="796925">
              <a:lnSpc>
                <a:spcPct val="118600"/>
              </a:lnSpc>
              <a:spcBef>
                <a:spcPts val="5"/>
              </a:spcBef>
            </a:pPr>
            <a:r>
              <a:rPr sz="1300" i="1" dirty="0">
                <a:solidFill>
                  <a:srgbClr val="FFFFFF"/>
                </a:solidFill>
                <a:latin typeface="Calibri"/>
                <a:cs typeface="Calibri"/>
              </a:rPr>
              <a:t>Design</a:t>
            </a:r>
            <a:r>
              <a:rPr sz="1300" i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i="1" dirty="0">
                <a:solidFill>
                  <a:srgbClr val="FFFFFF"/>
                </a:solidFill>
                <a:latin typeface="Calibri"/>
                <a:cs typeface="Calibri"/>
              </a:rPr>
              <a:t>an</a:t>
            </a:r>
            <a:r>
              <a:rPr sz="1300" i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i="1" dirty="0">
                <a:solidFill>
                  <a:srgbClr val="FFFFFF"/>
                </a:solidFill>
                <a:latin typeface="Calibri"/>
                <a:cs typeface="Calibri"/>
              </a:rPr>
              <a:t>architecture</a:t>
            </a:r>
            <a:r>
              <a:rPr sz="1300" i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i="1" dirty="0">
                <a:solidFill>
                  <a:srgbClr val="FFFFFF"/>
                </a:solidFill>
                <a:latin typeface="Calibri"/>
                <a:cs typeface="Calibri"/>
              </a:rPr>
              <a:t>that</a:t>
            </a:r>
            <a:r>
              <a:rPr sz="1300" i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i="1" dirty="0">
                <a:solidFill>
                  <a:srgbClr val="FFFFFF"/>
                </a:solidFill>
                <a:latin typeface="Calibri"/>
                <a:cs typeface="Calibri"/>
              </a:rPr>
              <a:t>dictates</a:t>
            </a:r>
            <a:r>
              <a:rPr sz="1300" i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i="1" spc="-10" dirty="0">
                <a:solidFill>
                  <a:srgbClr val="FFFFFF"/>
                </a:solidFill>
                <a:latin typeface="Calibri"/>
                <a:cs typeface="Calibri"/>
              </a:rPr>
              <a:t>exactly</a:t>
            </a:r>
            <a:r>
              <a:rPr sz="1300" i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i="1" dirty="0">
                <a:solidFill>
                  <a:srgbClr val="FFFFFF"/>
                </a:solidFill>
                <a:latin typeface="Calibri"/>
                <a:cs typeface="Calibri"/>
              </a:rPr>
              <a:t>what</a:t>
            </a:r>
            <a:r>
              <a:rPr sz="1300" i="1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i="1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300" i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i="1" dirty="0">
                <a:solidFill>
                  <a:srgbClr val="FFFFFF"/>
                </a:solidFill>
                <a:latin typeface="Calibri"/>
                <a:cs typeface="Calibri"/>
              </a:rPr>
              <a:t>model</a:t>
            </a:r>
            <a:r>
              <a:rPr sz="1300" i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i="1" dirty="0">
                <a:solidFill>
                  <a:srgbClr val="FFFFFF"/>
                </a:solidFill>
                <a:latin typeface="Calibri"/>
                <a:cs typeface="Calibri"/>
              </a:rPr>
              <a:t>extracts</a:t>
            </a:r>
            <a:r>
              <a:rPr sz="1300" i="1" spc="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i="1" dirty="0">
                <a:solidFill>
                  <a:srgbClr val="FFFFFF"/>
                </a:solidFill>
                <a:latin typeface="Calibri"/>
                <a:cs typeface="Calibri"/>
              </a:rPr>
              <a:t>—</a:t>
            </a:r>
            <a:r>
              <a:rPr sz="1300" i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i="1" dirty="0">
                <a:solidFill>
                  <a:srgbClr val="FFFFFF"/>
                </a:solidFill>
                <a:latin typeface="Calibri"/>
                <a:cs typeface="Calibri"/>
              </a:rPr>
              <a:t>creating</a:t>
            </a:r>
            <a:r>
              <a:rPr sz="1300" i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i="1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300" i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i="1" dirty="0">
                <a:solidFill>
                  <a:srgbClr val="FFFFFF"/>
                </a:solidFill>
                <a:latin typeface="Calibri"/>
                <a:cs typeface="Calibri"/>
              </a:rPr>
              <a:t>latent</a:t>
            </a:r>
            <a:r>
              <a:rPr sz="1300" i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i="1" dirty="0">
                <a:solidFill>
                  <a:srgbClr val="FFFFFF"/>
                </a:solidFill>
                <a:latin typeface="Calibri"/>
                <a:cs typeface="Calibri"/>
              </a:rPr>
              <a:t>space</a:t>
            </a:r>
            <a:r>
              <a:rPr sz="1300" i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i="1" dirty="0">
                <a:solidFill>
                  <a:srgbClr val="FFFFFF"/>
                </a:solidFill>
                <a:latin typeface="Calibri"/>
                <a:cs typeface="Calibri"/>
              </a:rPr>
              <a:t>where</a:t>
            </a:r>
            <a:r>
              <a:rPr sz="1300" i="1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i="1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300" i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i="1" dirty="0">
                <a:solidFill>
                  <a:srgbClr val="FFFFFF"/>
                </a:solidFill>
                <a:latin typeface="Calibri"/>
                <a:cs typeface="Calibri"/>
              </a:rPr>
              <a:t>Health</a:t>
            </a:r>
            <a:r>
              <a:rPr sz="1300" i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i="1" spc="-10" dirty="0">
                <a:solidFill>
                  <a:srgbClr val="FFFFFF"/>
                </a:solidFill>
                <a:latin typeface="Calibri"/>
                <a:cs typeface="Calibri"/>
              </a:rPr>
              <a:t>Vector</a:t>
            </a:r>
            <a:r>
              <a:rPr sz="1300" i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i="1" dirty="0">
                <a:solidFill>
                  <a:srgbClr val="FFFFFF"/>
                </a:solidFill>
                <a:latin typeface="Calibri"/>
                <a:cs typeface="Calibri"/>
              </a:rPr>
              <a:t>(Zh)</a:t>
            </a:r>
            <a:r>
              <a:rPr sz="1300" i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i="1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1300" i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i="1" dirty="0">
                <a:solidFill>
                  <a:srgbClr val="FFFFFF"/>
                </a:solidFill>
                <a:latin typeface="Calibri"/>
                <a:cs typeface="Calibri"/>
              </a:rPr>
              <a:t>isolated</a:t>
            </a:r>
            <a:r>
              <a:rPr sz="1300" i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i="1" dirty="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sz="1300" i="1" spc="-10" dirty="0">
                <a:solidFill>
                  <a:srgbClr val="FFFFFF"/>
                </a:solidFill>
                <a:latin typeface="Calibri"/>
                <a:cs typeface="Calibri"/>
              </a:rPr>
              <a:t> Nuisance Information.</a:t>
            </a:r>
            <a:endParaRPr sz="1300" dirty="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35940" y="6614566"/>
            <a:ext cx="1585595" cy="1473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10"/>
              </a:lnSpc>
            </a:pPr>
            <a:r>
              <a:rPr sz="950" dirty="0">
                <a:solidFill>
                  <a:srgbClr val="525A78"/>
                </a:solidFill>
                <a:latin typeface="Calibri"/>
                <a:cs typeface="Calibri"/>
              </a:rPr>
              <a:t>Part</a:t>
            </a:r>
            <a:r>
              <a:rPr sz="950" spc="-50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525A78"/>
                </a:solidFill>
                <a:latin typeface="Calibri"/>
                <a:cs typeface="Calibri"/>
              </a:rPr>
              <a:t>3</a:t>
            </a:r>
            <a:r>
              <a:rPr sz="950" spc="20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525A78"/>
                </a:solidFill>
                <a:latin typeface="Calibri"/>
                <a:cs typeface="Calibri"/>
              </a:rPr>
              <a:t>—</a:t>
            </a:r>
            <a:r>
              <a:rPr sz="950" spc="-20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525A78"/>
                </a:solidFill>
                <a:latin typeface="Calibri"/>
                <a:cs typeface="Calibri"/>
              </a:rPr>
              <a:t>Proposed</a:t>
            </a:r>
            <a:r>
              <a:rPr sz="950" spc="-45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525A78"/>
                </a:solidFill>
                <a:latin typeface="Calibri"/>
                <a:cs typeface="Calibri"/>
              </a:rPr>
              <a:t>Architecture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10"/>
              </a:lnSpc>
            </a:pPr>
            <a:r>
              <a:rPr spc="-25" dirty="0"/>
              <a:t>11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411556"/>
            <a:ext cx="2023745" cy="2019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50" b="1" dirty="0">
                <a:solidFill>
                  <a:srgbClr val="525A78"/>
                </a:solidFill>
                <a:latin typeface="Calibri"/>
                <a:cs typeface="Calibri"/>
              </a:rPr>
              <a:t>P</a:t>
            </a:r>
            <a:r>
              <a:rPr sz="1150" b="1" spc="-110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1150" b="1" spc="85" dirty="0">
                <a:solidFill>
                  <a:srgbClr val="525A78"/>
                </a:solidFill>
                <a:latin typeface="Calibri"/>
                <a:cs typeface="Calibri"/>
              </a:rPr>
              <a:t>ROP</a:t>
            </a:r>
            <a:r>
              <a:rPr sz="1150" b="1" spc="-105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1150" b="1" spc="65" dirty="0">
                <a:solidFill>
                  <a:srgbClr val="525A78"/>
                </a:solidFill>
                <a:latin typeface="Calibri"/>
                <a:cs typeface="Calibri"/>
              </a:rPr>
              <a:t>OS</a:t>
            </a:r>
            <a:r>
              <a:rPr sz="1150" b="1" spc="-105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1150" b="1" spc="65" dirty="0">
                <a:solidFill>
                  <a:srgbClr val="525A78"/>
                </a:solidFill>
                <a:latin typeface="Calibri"/>
                <a:cs typeface="Calibri"/>
              </a:rPr>
              <a:t>ED</a:t>
            </a:r>
            <a:r>
              <a:rPr sz="1150" b="1" spc="355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1150" b="1" spc="100" dirty="0">
                <a:solidFill>
                  <a:srgbClr val="525A78"/>
                </a:solidFill>
                <a:latin typeface="Calibri"/>
                <a:cs typeface="Calibri"/>
              </a:rPr>
              <a:t>ARCHI</a:t>
            </a:r>
            <a:r>
              <a:rPr sz="1150" b="1" spc="-110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1150" b="1" spc="-10" dirty="0">
                <a:solidFill>
                  <a:srgbClr val="525A78"/>
                </a:solidFill>
                <a:latin typeface="Calibri"/>
                <a:cs typeface="Calibri"/>
              </a:rPr>
              <a:t>T</a:t>
            </a:r>
            <a:r>
              <a:rPr sz="1150" b="1" spc="-105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1150" b="1" spc="80" dirty="0">
                <a:solidFill>
                  <a:srgbClr val="525A78"/>
                </a:solidFill>
                <a:latin typeface="Calibri"/>
                <a:cs typeface="Calibri"/>
              </a:rPr>
              <a:t>ECT</a:t>
            </a:r>
            <a:r>
              <a:rPr sz="1150" b="1" spc="-105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1150" b="1" spc="60" dirty="0">
                <a:solidFill>
                  <a:srgbClr val="525A78"/>
                </a:solidFill>
                <a:latin typeface="Calibri"/>
                <a:cs typeface="Calibri"/>
              </a:rPr>
              <a:t>UR</a:t>
            </a:r>
            <a:r>
              <a:rPr sz="1150" b="1" spc="-90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1150" b="1" spc="-50" dirty="0">
                <a:solidFill>
                  <a:srgbClr val="525A78"/>
                </a:solidFill>
                <a:latin typeface="Calibri"/>
                <a:cs typeface="Calibri"/>
              </a:rPr>
              <a:t>E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Dual-</a:t>
            </a:r>
            <a:r>
              <a:rPr dirty="0"/>
              <a:t>Latent</a:t>
            </a:r>
            <a:r>
              <a:rPr spc="-25" dirty="0"/>
              <a:t> </a:t>
            </a:r>
            <a:r>
              <a:rPr dirty="0"/>
              <a:t>Space:</a:t>
            </a:r>
            <a:r>
              <a:rPr spc="-10" dirty="0"/>
              <a:t> Disentangling</a:t>
            </a:r>
            <a:r>
              <a:rPr spc="-110" dirty="0"/>
              <a:t> </a:t>
            </a:r>
            <a:r>
              <a:rPr dirty="0"/>
              <a:t>Zh</a:t>
            </a:r>
            <a:r>
              <a:rPr spc="-20" dirty="0"/>
              <a:t> </a:t>
            </a:r>
            <a:r>
              <a:rPr dirty="0"/>
              <a:t>and</a:t>
            </a:r>
            <a:r>
              <a:rPr spc="-25" dirty="0"/>
              <a:t> Zc</a:t>
            </a:r>
          </a:p>
        </p:txBody>
      </p:sp>
      <p:sp>
        <p:nvSpPr>
          <p:cNvPr id="4" name="object 4"/>
          <p:cNvSpPr/>
          <p:nvPr/>
        </p:nvSpPr>
        <p:spPr>
          <a:xfrm>
            <a:off x="548640" y="1371600"/>
            <a:ext cx="11094720" cy="0"/>
          </a:xfrm>
          <a:custGeom>
            <a:avLst/>
            <a:gdLst/>
            <a:ahLst/>
            <a:cxnLst/>
            <a:rect l="l" t="t" r="r" b="b"/>
            <a:pathLst>
              <a:path w="11094720">
                <a:moveTo>
                  <a:pt x="0" y="0"/>
                </a:moveTo>
                <a:lnTo>
                  <a:pt x="11094719" y="0"/>
                </a:lnTo>
              </a:path>
            </a:pathLst>
          </a:custGeom>
          <a:ln w="12192">
            <a:solidFill>
              <a:srgbClr val="C4CCE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35940" y="1612772"/>
            <a:ext cx="2569845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00" b="1" dirty="0">
                <a:solidFill>
                  <a:srgbClr val="1E2760"/>
                </a:solidFill>
                <a:latin typeface="Cambria"/>
                <a:cs typeface="Cambria"/>
              </a:rPr>
              <a:t>Orthogonal</a:t>
            </a:r>
            <a:r>
              <a:rPr sz="1500" b="1" spc="-45" dirty="0">
                <a:solidFill>
                  <a:srgbClr val="1E2760"/>
                </a:solidFill>
                <a:latin typeface="Cambria"/>
                <a:cs typeface="Cambria"/>
              </a:rPr>
              <a:t> </a:t>
            </a:r>
            <a:r>
              <a:rPr sz="1500" b="1" spc="-10" dirty="0">
                <a:solidFill>
                  <a:srgbClr val="1E2760"/>
                </a:solidFill>
                <a:latin typeface="Cambria"/>
                <a:cs typeface="Cambria"/>
              </a:rPr>
              <a:t>Disentanglement</a:t>
            </a:r>
            <a:endParaRPr sz="15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920109" y="1589608"/>
            <a:ext cx="758126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100"/>
              </a:spcBef>
            </a:pP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The</a:t>
            </a:r>
            <a:r>
              <a:rPr sz="1250" spc="-1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encoder outputs</a:t>
            </a:r>
            <a:r>
              <a:rPr sz="1250" spc="2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two</a:t>
            </a:r>
            <a:r>
              <a:rPr sz="1250" spc="-5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explicit</a:t>
            </a:r>
            <a:r>
              <a:rPr sz="1250" spc="-4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212846"/>
                </a:solidFill>
                <a:latin typeface="Calibri"/>
                <a:cs typeface="Calibri"/>
              </a:rPr>
              <a:t>vectors</a:t>
            </a:r>
            <a:r>
              <a:rPr sz="1250" spc="3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—</a:t>
            </a:r>
            <a:r>
              <a:rPr sz="1250" spc="-3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a</a:t>
            </a:r>
            <a:r>
              <a:rPr sz="1250" spc="-3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Health</a:t>
            </a:r>
            <a:r>
              <a:rPr sz="1250" spc="-2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212846"/>
                </a:solidFill>
                <a:latin typeface="Calibri"/>
                <a:cs typeface="Calibri"/>
              </a:rPr>
              <a:t>Vector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 (Zh)</a:t>
            </a:r>
            <a:r>
              <a:rPr sz="1250" spc="-3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and</a:t>
            </a:r>
            <a:r>
              <a:rPr sz="1250" spc="-2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an</a:t>
            </a:r>
            <a:r>
              <a:rPr sz="1250" spc="-2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spc="-20" dirty="0">
                <a:solidFill>
                  <a:srgbClr val="212846"/>
                </a:solidFill>
                <a:latin typeface="Calibri"/>
                <a:cs typeface="Calibri"/>
              </a:rPr>
              <a:t>Operating-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Condition</a:t>
            </a:r>
            <a:r>
              <a:rPr sz="1250" spc="6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212846"/>
                </a:solidFill>
                <a:latin typeface="Calibri"/>
                <a:cs typeface="Calibri"/>
              </a:rPr>
              <a:t>Vector</a:t>
            </a:r>
            <a:r>
              <a:rPr sz="1250" spc="-2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(Zc)</a:t>
            </a:r>
            <a:r>
              <a:rPr sz="1250" spc="-2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—</a:t>
            </a:r>
            <a:r>
              <a:rPr sz="1250" spc="-4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212846"/>
                </a:solidFill>
                <a:latin typeface="Calibri"/>
                <a:cs typeface="Calibri"/>
              </a:rPr>
              <a:t>separated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by</a:t>
            </a:r>
            <a:r>
              <a:rPr sz="1250" spc="-2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an</a:t>
            </a:r>
            <a:r>
              <a:rPr sz="1250" spc="-3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212846"/>
                </a:solidFill>
                <a:latin typeface="Calibri"/>
                <a:cs typeface="Calibri"/>
              </a:rPr>
              <a:t>orthogonal</a:t>
            </a:r>
            <a:r>
              <a:rPr sz="1250" spc="6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212846"/>
                </a:solidFill>
                <a:latin typeface="Calibri"/>
                <a:cs typeface="Calibri"/>
              </a:rPr>
              <a:t>constraint,</a:t>
            </a:r>
            <a:r>
              <a:rPr sz="1250" spc="1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Zh</a:t>
            </a:r>
            <a:r>
              <a:rPr sz="1250" spc="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mbria Math"/>
                <a:cs typeface="Cambria Math"/>
              </a:rPr>
              <a:t>⊥</a:t>
            </a:r>
            <a:r>
              <a:rPr sz="1250" spc="-30" dirty="0">
                <a:solidFill>
                  <a:srgbClr val="212846"/>
                </a:solidFill>
                <a:latin typeface="Cambria Math"/>
                <a:cs typeface="Cambria Math"/>
              </a:rPr>
              <a:t> </a:t>
            </a:r>
            <a:r>
              <a:rPr sz="1250" spc="-25" dirty="0">
                <a:solidFill>
                  <a:srgbClr val="212846"/>
                </a:solidFill>
                <a:latin typeface="Calibri"/>
                <a:cs typeface="Calibri"/>
              </a:rPr>
              <a:t>Zc.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50163" y="2388107"/>
            <a:ext cx="11094720" cy="0"/>
          </a:xfrm>
          <a:custGeom>
            <a:avLst/>
            <a:gdLst/>
            <a:ahLst/>
            <a:cxnLst/>
            <a:rect l="l" t="t" r="r" b="b"/>
            <a:pathLst>
              <a:path w="11094720">
                <a:moveTo>
                  <a:pt x="0" y="0"/>
                </a:moveTo>
                <a:lnTo>
                  <a:pt x="11094719" y="0"/>
                </a:lnTo>
              </a:path>
            </a:pathLst>
          </a:custGeom>
          <a:ln w="9144">
            <a:solidFill>
              <a:srgbClr val="C4CCE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35940" y="2481834"/>
            <a:ext cx="2540000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00" b="1" dirty="0">
                <a:solidFill>
                  <a:srgbClr val="1E2760"/>
                </a:solidFill>
                <a:latin typeface="Cambria"/>
                <a:cs typeface="Cambria"/>
              </a:rPr>
              <a:t>The</a:t>
            </a:r>
            <a:r>
              <a:rPr sz="1500" b="1" spc="-20" dirty="0">
                <a:solidFill>
                  <a:srgbClr val="1E2760"/>
                </a:solidFill>
                <a:latin typeface="Cambria"/>
                <a:cs typeface="Cambria"/>
              </a:rPr>
              <a:t> </a:t>
            </a:r>
            <a:r>
              <a:rPr sz="1500" b="1" dirty="0">
                <a:solidFill>
                  <a:srgbClr val="1E2760"/>
                </a:solidFill>
                <a:latin typeface="Cambria"/>
                <a:cs typeface="Cambria"/>
              </a:rPr>
              <a:t>RPM</a:t>
            </a:r>
            <a:r>
              <a:rPr sz="1500" b="1" spc="-15" dirty="0">
                <a:solidFill>
                  <a:srgbClr val="1E2760"/>
                </a:solidFill>
                <a:latin typeface="Cambria"/>
                <a:cs typeface="Cambria"/>
              </a:rPr>
              <a:t> </a:t>
            </a:r>
            <a:r>
              <a:rPr sz="1500" b="1" dirty="0">
                <a:solidFill>
                  <a:srgbClr val="1E2760"/>
                </a:solidFill>
                <a:latin typeface="Cambria"/>
                <a:cs typeface="Cambria"/>
              </a:rPr>
              <a:t>/</a:t>
            </a:r>
            <a:r>
              <a:rPr sz="1500" b="1" spc="-5" dirty="0">
                <a:solidFill>
                  <a:srgbClr val="1E2760"/>
                </a:solidFill>
                <a:latin typeface="Cambria"/>
                <a:cs typeface="Cambria"/>
              </a:rPr>
              <a:t> </a:t>
            </a:r>
            <a:r>
              <a:rPr sz="1500" b="1" dirty="0">
                <a:solidFill>
                  <a:srgbClr val="1E2760"/>
                </a:solidFill>
                <a:latin typeface="Cambria"/>
                <a:cs typeface="Cambria"/>
              </a:rPr>
              <a:t>Amplitude</a:t>
            </a:r>
            <a:r>
              <a:rPr sz="1500" b="1" spc="-50" dirty="0">
                <a:solidFill>
                  <a:srgbClr val="1E2760"/>
                </a:solidFill>
                <a:latin typeface="Cambria"/>
                <a:cs typeface="Cambria"/>
              </a:rPr>
              <a:t> </a:t>
            </a:r>
            <a:r>
              <a:rPr sz="1500" b="1" spc="-10" dirty="0">
                <a:solidFill>
                  <a:srgbClr val="1E2760"/>
                </a:solidFill>
                <a:latin typeface="Cambria"/>
                <a:cs typeface="Cambria"/>
              </a:rPr>
              <a:t>Caveat</a:t>
            </a:r>
            <a:endParaRPr sz="150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920109" y="2459047"/>
            <a:ext cx="7732395" cy="48260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1250" spc="-10" dirty="0">
                <a:solidFill>
                  <a:srgbClr val="212846"/>
                </a:solidFill>
                <a:latin typeface="Calibri"/>
                <a:cs typeface="Calibri"/>
              </a:rPr>
              <a:t>Operating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data</a:t>
            </a:r>
            <a:r>
              <a:rPr sz="1250" spc="-2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cannot</a:t>
            </a:r>
            <a:r>
              <a:rPr sz="1250" spc="-3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simply</a:t>
            </a:r>
            <a:r>
              <a:rPr sz="1250" spc="-3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be</a:t>
            </a:r>
            <a:r>
              <a:rPr sz="1250" spc="-1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deleted.</a:t>
            </a:r>
            <a:r>
              <a:rPr sz="1250" spc="-2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RMS</a:t>
            </a:r>
            <a:r>
              <a:rPr sz="1250" spc="-20" dirty="0">
                <a:solidFill>
                  <a:srgbClr val="212846"/>
                </a:solidFill>
                <a:latin typeface="Calibri"/>
                <a:cs typeface="Calibri"/>
              </a:rPr>
              <a:t> energy,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harmonics, and</a:t>
            </a:r>
            <a:r>
              <a:rPr sz="1250" spc="-3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212846"/>
                </a:solidFill>
                <a:latin typeface="Calibri"/>
                <a:cs typeface="Calibri"/>
              </a:rPr>
              <a:t>resonance</a:t>
            </a:r>
            <a:r>
              <a:rPr sz="1250" spc="2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are</a:t>
            </a:r>
            <a:r>
              <a:rPr sz="1250" spc="-4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heavily</a:t>
            </a:r>
            <a:r>
              <a:rPr sz="1250" spc="-1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212846"/>
                </a:solidFill>
                <a:latin typeface="Calibri"/>
                <a:cs typeface="Calibri"/>
              </a:rPr>
              <a:t>dependent</a:t>
            </a:r>
            <a:r>
              <a:rPr sz="1250" spc="1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on</a:t>
            </a:r>
            <a:r>
              <a:rPr sz="1250" spc="-2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RPM</a:t>
            </a:r>
            <a:r>
              <a:rPr sz="1250" spc="-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—</a:t>
            </a:r>
            <a:r>
              <a:rPr sz="1250" spc="-2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spc="-25" dirty="0">
                <a:solidFill>
                  <a:srgbClr val="212846"/>
                </a:solidFill>
                <a:latin typeface="Calibri"/>
                <a:cs typeface="Calibri"/>
              </a:rPr>
              <a:t>the</a:t>
            </a:r>
            <a:endParaRPr sz="12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model</a:t>
            </a:r>
            <a:r>
              <a:rPr sz="1250" spc="-2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must</a:t>
            </a:r>
            <a:r>
              <a:rPr sz="1250" spc="-3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212846"/>
                </a:solidFill>
                <a:latin typeface="Calibri"/>
                <a:cs typeface="Calibri"/>
              </a:rPr>
              <a:t>preserve</a:t>
            </a:r>
            <a:r>
              <a:rPr sz="1250" spc="2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this</a:t>
            </a:r>
            <a:r>
              <a:rPr sz="1250" spc="-3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physical</a:t>
            </a:r>
            <a:r>
              <a:rPr sz="1250" spc="-4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212846"/>
                </a:solidFill>
                <a:latin typeface="Calibri"/>
                <a:cs typeface="Calibri"/>
              </a:rPr>
              <a:t>relationship,</a:t>
            </a:r>
            <a:r>
              <a:rPr sz="1250" spc="2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not</a:t>
            </a:r>
            <a:r>
              <a:rPr sz="1250" spc="-1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discard</a:t>
            </a:r>
            <a:r>
              <a:rPr sz="1250" spc="-3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spc="-25" dirty="0">
                <a:solidFill>
                  <a:srgbClr val="212846"/>
                </a:solidFill>
                <a:latin typeface="Calibri"/>
                <a:cs typeface="Calibri"/>
              </a:rPr>
              <a:t>it.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50163" y="3256788"/>
            <a:ext cx="11094720" cy="0"/>
          </a:xfrm>
          <a:custGeom>
            <a:avLst/>
            <a:gdLst/>
            <a:ahLst/>
            <a:cxnLst/>
            <a:rect l="l" t="t" r="r" b="b"/>
            <a:pathLst>
              <a:path w="11094720">
                <a:moveTo>
                  <a:pt x="0" y="0"/>
                </a:moveTo>
                <a:lnTo>
                  <a:pt x="11094719" y="0"/>
                </a:lnTo>
              </a:path>
            </a:pathLst>
          </a:custGeom>
          <a:ln w="9144">
            <a:solidFill>
              <a:srgbClr val="C4CCE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535940" y="3350462"/>
            <a:ext cx="1578610" cy="25654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500" b="1" dirty="0">
                <a:solidFill>
                  <a:srgbClr val="1E2760"/>
                </a:solidFill>
                <a:latin typeface="Cambria"/>
                <a:cs typeface="Cambria"/>
              </a:rPr>
              <a:t>Intelligent</a:t>
            </a:r>
            <a:r>
              <a:rPr sz="1500" b="1" spc="-50" dirty="0">
                <a:solidFill>
                  <a:srgbClr val="1E2760"/>
                </a:solidFill>
                <a:latin typeface="Cambria"/>
                <a:cs typeface="Cambria"/>
              </a:rPr>
              <a:t> </a:t>
            </a:r>
            <a:r>
              <a:rPr sz="1500" b="1" spc="-10" dirty="0">
                <a:solidFill>
                  <a:srgbClr val="1E2760"/>
                </a:solidFill>
                <a:latin typeface="Cambria"/>
                <a:cs typeface="Cambria"/>
              </a:rPr>
              <a:t>Fusion</a:t>
            </a:r>
            <a:endParaRPr sz="150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920109" y="3327031"/>
            <a:ext cx="7612380" cy="483870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1250" spc="-10" dirty="0">
                <a:solidFill>
                  <a:srgbClr val="212846"/>
                </a:solidFill>
                <a:latin typeface="Calibri"/>
                <a:cs typeface="Calibri"/>
              </a:rPr>
              <a:t>Classification</a:t>
            </a:r>
            <a:r>
              <a:rPr sz="1250" spc="-2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relies</a:t>
            </a:r>
            <a:r>
              <a:rPr sz="1250" spc="-2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on</a:t>
            </a:r>
            <a:r>
              <a:rPr sz="1250" spc="-2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a</a:t>
            </a:r>
            <a:r>
              <a:rPr sz="1250" spc="-3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fusion function that</a:t>
            </a:r>
            <a:r>
              <a:rPr sz="1250" spc="-2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uses</a:t>
            </a:r>
            <a:r>
              <a:rPr sz="1250" spc="-1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the</a:t>
            </a:r>
            <a:r>
              <a:rPr sz="1250" spc="-1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isolated </a:t>
            </a:r>
            <a:r>
              <a:rPr sz="1250" spc="-10" dirty="0">
                <a:solidFill>
                  <a:srgbClr val="212846"/>
                </a:solidFill>
                <a:latin typeface="Calibri"/>
                <a:cs typeface="Calibri"/>
              </a:rPr>
              <a:t>operating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 data</a:t>
            </a:r>
            <a:r>
              <a:rPr sz="1250" spc="-3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(Zc)</a:t>
            </a:r>
            <a:r>
              <a:rPr sz="1250" spc="-3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to</a:t>
            </a:r>
            <a:r>
              <a:rPr sz="1250" spc="-2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212846"/>
                </a:solidFill>
                <a:latin typeface="Calibri"/>
                <a:cs typeface="Calibri"/>
              </a:rPr>
              <a:t>accurately</a:t>
            </a:r>
            <a:r>
              <a:rPr sz="1250" spc="-2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scale</a:t>
            </a:r>
            <a:r>
              <a:rPr sz="1250" spc="-3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and</a:t>
            </a:r>
            <a:r>
              <a:rPr sz="1250" spc="-2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212846"/>
                </a:solidFill>
                <a:latin typeface="Calibri"/>
                <a:cs typeface="Calibri"/>
              </a:rPr>
              <a:t>interpret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spc="-25" dirty="0">
                <a:solidFill>
                  <a:srgbClr val="212846"/>
                </a:solidFill>
                <a:latin typeface="Calibri"/>
                <a:cs typeface="Calibri"/>
              </a:rPr>
              <a:t>the</a:t>
            </a:r>
            <a:endParaRPr sz="125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1250" spc="-10" dirty="0">
                <a:solidFill>
                  <a:srgbClr val="212846"/>
                </a:solidFill>
                <a:latin typeface="Calibri"/>
                <a:cs typeface="Calibri"/>
              </a:rPr>
              <a:t>structural</a:t>
            </a:r>
            <a:r>
              <a:rPr sz="1250" spc="1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health</a:t>
            </a:r>
            <a:r>
              <a:rPr sz="1250" spc="-3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data</a:t>
            </a:r>
            <a:r>
              <a:rPr sz="1250" spc="-3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(Zh),</a:t>
            </a:r>
            <a:r>
              <a:rPr sz="1250" spc="-4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shown</a:t>
            </a:r>
            <a:r>
              <a:rPr sz="1250" spc="-2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212846"/>
                </a:solidFill>
                <a:latin typeface="Calibri"/>
                <a:cs typeface="Calibri"/>
              </a:rPr>
              <a:t>below.</a:t>
            </a:r>
            <a:r>
              <a:rPr lang="en-IN" sz="1250" spc="-10" dirty="0">
                <a:solidFill>
                  <a:srgbClr val="212846"/>
                </a:solidFill>
                <a:latin typeface="Calibri"/>
                <a:cs typeface="Calibri"/>
              </a:rPr>
              <a:t>  (   THIS I USED FROM DISCNET FUSION AS JUST AN EXMPLE ,)</a:t>
            </a:r>
            <a:endParaRPr sz="1250" dirty="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542544" y="4337303"/>
            <a:ext cx="11107420" cy="972819"/>
            <a:chOff x="542544" y="4337303"/>
            <a:chExt cx="11107420" cy="972819"/>
          </a:xfrm>
          <a:solidFill>
            <a:schemeClr val="tx1">
              <a:lumMod val="50000"/>
              <a:lumOff val="50000"/>
            </a:schemeClr>
          </a:solidFill>
        </p:grpSpPr>
        <p:sp>
          <p:nvSpPr>
            <p:cNvPr id="14" name="object 14"/>
            <p:cNvSpPr/>
            <p:nvPr/>
          </p:nvSpPr>
          <p:spPr>
            <a:xfrm>
              <a:off x="548640" y="4343399"/>
              <a:ext cx="11094720" cy="960119"/>
            </a:xfrm>
            <a:custGeom>
              <a:avLst/>
              <a:gdLst/>
              <a:ahLst/>
              <a:cxnLst/>
              <a:rect l="l" t="t" r="r" b="b"/>
              <a:pathLst>
                <a:path w="11094720" h="960120">
                  <a:moveTo>
                    <a:pt x="11049000" y="0"/>
                  </a:moveTo>
                  <a:lnTo>
                    <a:pt x="45719" y="0"/>
                  </a:lnTo>
                  <a:lnTo>
                    <a:pt x="27924" y="3589"/>
                  </a:lnTo>
                  <a:lnTo>
                    <a:pt x="13392" y="13382"/>
                  </a:lnTo>
                  <a:lnTo>
                    <a:pt x="3593" y="27914"/>
                  </a:lnTo>
                  <a:lnTo>
                    <a:pt x="0" y="45719"/>
                  </a:lnTo>
                  <a:lnTo>
                    <a:pt x="0" y="914400"/>
                  </a:lnTo>
                  <a:lnTo>
                    <a:pt x="3593" y="932205"/>
                  </a:lnTo>
                  <a:lnTo>
                    <a:pt x="13392" y="946737"/>
                  </a:lnTo>
                  <a:lnTo>
                    <a:pt x="27924" y="956530"/>
                  </a:lnTo>
                  <a:lnTo>
                    <a:pt x="45719" y="960119"/>
                  </a:lnTo>
                  <a:lnTo>
                    <a:pt x="11049000" y="960119"/>
                  </a:lnTo>
                  <a:lnTo>
                    <a:pt x="11066805" y="956530"/>
                  </a:lnTo>
                  <a:lnTo>
                    <a:pt x="11081337" y="946737"/>
                  </a:lnTo>
                  <a:lnTo>
                    <a:pt x="11091130" y="932205"/>
                  </a:lnTo>
                  <a:lnTo>
                    <a:pt x="11094719" y="914400"/>
                  </a:lnTo>
                  <a:lnTo>
                    <a:pt x="11094719" y="45719"/>
                  </a:lnTo>
                  <a:lnTo>
                    <a:pt x="11091130" y="27914"/>
                  </a:lnTo>
                  <a:lnTo>
                    <a:pt x="11081337" y="13382"/>
                  </a:lnTo>
                  <a:lnTo>
                    <a:pt x="11066805" y="3589"/>
                  </a:lnTo>
                  <a:lnTo>
                    <a:pt x="11049000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48640" y="4343399"/>
              <a:ext cx="11094720" cy="960119"/>
            </a:xfrm>
            <a:custGeom>
              <a:avLst/>
              <a:gdLst/>
              <a:ahLst/>
              <a:cxnLst/>
              <a:rect l="l" t="t" r="r" b="b"/>
              <a:pathLst>
                <a:path w="11094720" h="960120">
                  <a:moveTo>
                    <a:pt x="0" y="45719"/>
                  </a:moveTo>
                  <a:lnTo>
                    <a:pt x="3593" y="27914"/>
                  </a:lnTo>
                  <a:lnTo>
                    <a:pt x="13392" y="13382"/>
                  </a:lnTo>
                  <a:lnTo>
                    <a:pt x="27924" y="3589"/>
                  </a:lnTo>
                  <a:lnTo>
                    <a:pt x="45719" y="0"/>
                  </a:lnTo>
                  <a:lnTo>
                    <a:pt x="11049000" y="0"/>
                  </a:lnTo>
                  <a:lnTo>
                    <a:pt x="11066805" y="3589"/>
                  </a:lnTo>
                  <a:lnTo>
                    <a:pt x="11081337" y="13382"/>
                  </a:lnTo>
                  <a:lnTo>
                    <a:pt x="11091130" y="27914"/>
                  </a:lnTo>
                  <a:lnTo>
                    <a:pt x="11094719" y="45719"/>
                  </a:lnTo>
                  <a:lnTo>
                    <a:pt x="11094719" y="914400"/>
                  </a:lnTo>
                  <a:lnTo>
                    <a:pt x="11091130" y="932205"/>
                  </a:lnTo>
                  <a:lnTo>
                    <a:pt x="11081337" y="946737"/>
                  </a:lnTo>
                  <a:lnTo>
                    <a:pt x="11066805" y="956530"/>
                  </a:lnTo>
                  <a:lnTo>
                    <a:pt x="11049000" y="960119"/>
                  </a:lnTo>
                  <a:lnTo>
                    <a:pt x="45719" y="960119"/>
                  </a:lnTo>
                  <a:lnTo>
                    <a:pt x="27924" y="956530"/>
                  </a:lnTo>
                  <a:lnTo>
                    <a:pt x="13392" y="946737"/>
                  </a:lnTo>
                  <a:lnTo>
                    <a:pt x="3593" y="932205"/>
                  </a:lnTo>
                  <a:lnTo>
                    <a:pt x="0" y="914400"/>
                  </a:lnTo>
                  <a:lnTo>
                    <a:pt x="0" y="45719"/>
                  </a:lnTo>
                  <a:close/>
                </a:path>
              </a:pathLst>
            </a:custGeom>
            <a:grpFill/>
            <a:ln w="12192">
              <a:solidFill>
                <a:srgbClr val="1E27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548640" y="4343400"/>
            <a:ext cx="11094720" cy="960119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70"/>
              </a:spcBef>
            </a:pPr>
            <a:endParaRPr sz="1450">
              <a:latin typeface="Times New Roman"/>
              <a:cs typeface="Times New Roman"/>
            </a:endParaRPr>
          </a:p>
          <a:p>
            <a:pPr marL="365760">
              <a:lnSpc>
                <a:spcPct val="100000"/>
              </a:lnSpc>
              <a:tabLst>
                <a:tab pos="2859405" algn="l"/>
              </a:tabLst>
            </a:pPr>
            <a:r>
              <a:rPr sz="2100" i="1" dirty="0">
                <a:solidFill>
                  <a:srgbClr val="FFFFFF"/>
                </a:solidFill>
                <a:latin typeface="Cambria"/>
                <a:cs typeface="Cambria"/>
              </a:rPr>
              <a:t>Z</a:t>
            </a:r>
            <a:r>
              <a:rPr sz="1250" i="1" dirty="0">
                <a:solidFill>
                  <a:srgbClr val="FFFFFF"/>
                </a:solidFill>
                <a:latin typeface="Cambria"/>
                <a:cs typeface="Cambria"/>
              </a:rPr>
              <a:t>fused</a:t>
            </a:r>
            <a:r>
              <a:rPr sz="1250" i="1" spc="125" dirty="0">
                <a:solidFill>
                  <a:srgbClr val="FFFFFF"/>
                </a:solidFill>
                <a:latin typeface="Cambria"/>
                <a:cs typeface="Cambria"/>
              </a:rPr>
              <a:t>  </a:t>
            </a:r>
            <a:r>
              <a:rPr sz="2100" dirty="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r>
              <a:rPr sz="2100" spc="365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100" dirty="0">
                <a:solidFill>
                  <a:srgbClr val="FFFFFF"/>
                </a:solidFill>
                <a:latin typeface="Cambria Math"/>
                <a:cs typeface="Cambria Math"/>
              </a:rPr>
              <a:t>α</a:t>
            </a:r>
            <a:r>
              <a:rPr sz="1250" i="1" dirty="0">
                <a:solidFill>
                  <a:srgbClr val="FFFFFF"/>
                </a:solidFill>
                <a:latin typeface="Cambria"/>
                <a:cs typeface="Cambria"/>
              </a:rPr>
              <a:t>h</a:t>
            </a:r>
            <a:r>
              <a:rPr sz="1250" i="1" spc="1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100" i="1" dirty="0">
                <a:solidFill>
                  <a:srgbClr val="FFFFFF"/>
                </a:solidFill>
                <a:latin typeface="Cambria"/>
                <a:cs typeface="Cambria"/>
              </a:rPr>
              <a:t>Z</a:t>
            </a:r>
            <a:r>
              <a:rPr sz="1250" i="1" dirty="0">
                <a:solidFill>
                  <a:srgbClr val="FFFFFF"/>
                </a:solidFill>
                <a:latin typeface="Cambria"/>
                <a:cs typeface="Cambria"/>
              </a:rPr>
              <a:t>h</a:t>
            </a:r>
            <a:r>
              <a:rPr sz="1250" i="1" spc="130" dirty="0">
                <a:solidFill>
                  <a:srgbClr val="FFFFFF"/>
                </a:solidFill>
                <a:latin typeface="Cambria"/>
                <a:cs typeface="Cambria"/>
              </a:rPr>
              <a:t>  </a:t>
            </a:r>
            <a:r>
              <a:rPr sz="2100" dirty="0">
                <a:solidFill>
                  <a:srgbClr val="FFFFFF"/>
                </a:solidFill>
                <a:latin typeface="Cambria Math"/>
                <a:cs typeface="Cambria Math"/>
              </a:rPr>
              <a:t>+</a:t>
            </a:r>
            <a:r>
              <a:rPr sz="2100" spc="36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100" dirty="0">
                <a:solidFill>
                  <a:srgbClr val="FFFFFF"/>
                </a:solidFill>
                <a:latin typeface="Cambria Math"/>
                <a:cs typeface="Cambria Math"/>
              </a:rPr>
              <a:t>α</a:t>
            </a:r>
            <a:r>
              <a:rPr sz="1250" i="1" dirty="0">
                <a:solidFill>
                  <a:srgbClr val="FFFFFF"/>
                </a:solidFill>
                <a:latin typeface="Cambria"/>
                <a:cs typeface="Cambria"/>
              </a:rPr>
              <a:t>c</a:t>
            </a:r>
            <a:r>
              <a:rPr sz="1250" i="1" spc="1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100" i="1" spc="-25" dirty="0">
                <a:solidFill>
                  <a:srgbClr val="FFFFFF"/>
                </a:solidFill>
                <a:latin typeface="Cambria"/>
                <a:cs typeface="Cambria"/>
              </a:rPr>
              <a:t>Z</a:t>
            </a:r>
            <a:r>
              <a:rPr sz="1250" i="1" spc="-25" dirty="0">
                <a:solidFill>
                  <a:srgbClr val="FFFFFF"/>
                </a:solidFill>
                <a:latin typeface="Cambria"/>
                <a:cs typeface="Cambria"/>
              </a:rPr>
              <a:t>c</a:t>
            </a:r>
            <a:r>
              <a:rPr sz="1250" i="1" dirty="0">
                <a:solidFill>
                  <a:srgbClr val="FFFFFF"/>
                </a:solidFill>
                <a:latin typeface="Cambria"/>
                <a:cs typeface="Cambria"/>
              </a:rPr>
              <a:t>	</a:t>
            </a:r>
            <a:r>
              <a:rPr sz="1450" i="1" dirty="0">
                <a:solidFill>
                  <a:srgbClr val="FFFFFF"/>
                </a:solidFill>
                <a:latin typeface="Cambria"/>
                <a:cs typeface="Cambria"/>
              </a:rPr>
              <a:t>(subject</a:t>
            </a:r>
            <a:r>
              <a:rPr sz="1450" i="1" spc="-2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50" i="1" dirty="0">
                <a:solidFill>
                  <a:srgbClr val="FFFFFF"/>
                </a:solidFill>
                <a:latin typeface="Cambria"/>
                <a:cs typeface="Cambria"/>
              </a:rPr>
              <a:t>to</a:t>
            </a:r>
            <a:r>
              <a:rPr sz="1450" i="1" spc="2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50" i="1" dirty="0">
                <a:solidFill>
                  <a:srgbClr val="FFFFFF"/>
                </a:solidFill>
                <a:latin typeface="Cambria"/>
                <a:cs typeface="Cambria"/>
              </a:rPr>
              <a:t>Z</a:t>
            </a:r>
            <a:r>
              <a:rPr sz="1150" i="1" dirty="0">
                <a:solidFill>
                  <a:srgbClr val="FFFFFF"/>
                </a:solidFill>
                <a:latin typeface="Cambria"/>
                <a:cs typeface="Cambria"/>
              </a:rPr>
              <a:t>h</a:t>
            </a:r>
            <a:r>
              <a:rPr sz="1150" i="1" spc="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50" dirty="0">
                <a:solidFill>
                  <a:srgbClr val="FFFFFF"/>
                </a:solidFill>
                <a:latin typeface="Cambria Math"/>
                <a:cs typeface="Cambria Math"/>
              </a:rPr>
              <a:t>⊥</a:t>
            </a:r>
            <a:r>
              <a:rPr sz="1450" spc="-20" dirty="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1450" spc="-25" dirty="0">
                <a:solidFill>
                  <a:srgbClr val="FFFFFF"/>
                </a:solidFill>
                <a:latin typeface="Cambria Math"/>
                <a:cs typeface="Cambria Math"/>
              </a:rPr>
              <a:t>Z</a:t>
            </a:r>
            <a:r>
              <a:rPr sz="1150" i="1" spc="-25" dirty="0">
                <a:solidFill>
                  <a:srgbClr val="FFFFFF"/>
                </a:solidFill>
                <a:latin typeface="Cambria"/>
                <a:cs typeface="Cambria"/>
              </a:rPr>
              <a:t>c</a:t>
            </a:r>
            <a:r>
              <a:rPr sz="1450" i="1" spc="-25" dirty="0">
                <a:solidFill>
                  <a:srgbClr val="FFFFFF"/>
                </a:solidFill>
                <a:latin typeface="Cambria"/>
                <a:cs typeface="Cambria"/>
              </a:rPr>
              <a:t>)</a:t>
            </a:r>
            <a:endParaRPr sz="1450">
              <a:latin typeface="Cambria"/>
              <a:cs typeface="Cambr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35940" y="6614566"/>
            <a:ext cx="1585595" cy="1473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10"/>
              </a:lnSpc>
            </a:pPr>
            <a:r>
              <a:rPr sz="950" dirty="0">
                <a:solidFill>
                  <a:srgbClr val="525A78"/>
                </a:solidFill>
                <a:latin typeface="Calibri"/>
                <a:cs typeface="Calibri"/>
              </a:rPr>
              <a:t>Part</a:t>
            </a:r>
            <a:r>
              <a:rPr sz="950" spc="-50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525A78"/>
                </a:solidFill>
                <a:latin typeface="Calibri"/>
                <a:cs typeface="Calibri"/>
              </a:rPr>
              <a:t>3</a:t>
            </a:r>
            <a:r>
              <a:rPr sz="950" spc="20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525A78"/>
                </a:solidFill>
                <a:latin typeface="Calibri"/>
                <a:cs typeface="Calibri"/>
              </a:rPr>
              <a:t>—</a:t>
            </a:r>
            <a:r>
              <a:rPr sz="950" spc="-20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525A78"/>
                </a:solidFill>
                <a:latin typeface="Calibri"/>
                <a:cs typeface="Calibri"/>
              </a:rPr>
              <a:t>Proposed</a:t>
            </a:r>
            <a:r>
              <a:rPr sz="950" spc="-45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525A78"/>
                </a:solidFill>
                <a:latin typeface="Calibri"/>
                <a:cs typeface="Calibri"/>
              </a:rPr>
              <a:t>Architecture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10"/>
              </a:lnSpc>
            </a:pPr>
            <a:r>
              <a:rPr spc="-25" dirty="0"/>
              <a:t>12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411556"/>
            <a:ext cx="1584325" cy="2019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50" b="1" dirty="0">
                <a:solidFill>
                  <a:srgbClr val="525A78"/>
                </a:solidFill>
                <a:latin typeface="Calibri"/>
                <a:cs typeface="Calibri"/>
              </a:rPr>
              <a:t>S</a:t>
            </a:r>
            <a:r>
              <a:rPr sz="1150" b="1" spc="-110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1150" b="1" spc="-10" dirty="0">
                <a:solidFill>
                  <a:srgbClr val="525A78"/>
                </a:solidFill>
                <a:latin typeface="Calibri"/>
                <a:cs typeface="Calibri"/>
              </a:rPr>
              <a:t>I</a:t>
            </a:r>
            <a:r>
              <a:rPr sz="1150" b="1" spc="-110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1150" b="1" spc="-10" dirty="0">
                <a:solidFill>
                  <a:srgbClr val="525A78"/>
                </a:solidFill>
                <a:latin typeface="Calibri"/>
                <a:cs typeface="Calibri"/>
              </a:rPr>
              <a:t>G</a:t>
            </a:r>
            <a:r>
              <a:rPr sz="1150" b="1" spc="-105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1150" b="1" spc="-10" dirty="0">
                <a:solidFill>
                  <a:srgbClr val="525A78"/>
                </a:solidFill>
                <a:latin typeface="Calibri"/>
                <a:cs typeface="Calibri"/>
              </a:rPr>
              <a:t>N</a:t>
            </a:r>
            <a:r>
              <a:rPr sz="1150" b="1" spc="-105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1150" b="1" spc="65" dirty="0">
                <a:solidFill>
                  <a:srgbClr val="525A78"/>
                </a:solidFill>
                <a:latin typeface="Calibri"/>
                <a:cs typeface="Calibri"/>
              </a:rPr>
              <a:t>AL</a:t>
            </a:r>
            <a:r>
              <a:rPr sz="1150" b="1" spc="325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1150" b="1" dirty="0">
                <a:solidFill>
                  <a:srgbClr val="525A78"/>
                </a:solidFill>
                <a:latin typeface="Calibri"/>
                <a:cs typeface="Calibri"/>
              </a:rPr>
              <a:t>P</a:t>
            </a:r>
            <a:r>
              <a:rPr sz="1150" b="1" spc="-105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1150" b="1" spc="100" dirty="0">
                <a:solidFill>
                  <a:srgbClr val="525A78"/>
                </a:solidFill>
                <a:latin typeface="Calibri"/>
                <a:cs typeface="Calibri"/>
              </a:rPr>
              <a:t>ROCES</a:t>
            </a:r>
            <a:r>
              <a:rPr sz="1150" b="1" spc="-110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1150" b="1" dirty="0">
                <a:solidFill>
                  <a:srgbClr val="525A78"/>
                </a:solidFill>
                <a:latin typeface="Calibri"/>
                <a:cs typeface="Calibri"/>
              </a:rPr>
              <a:t>S</a:t>
            </a:r>
            <a:r>
              <a:rPr sz="1150" b="1" spc="-105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1150" b="1" spc="-10" dirty="0">
                <a:solidFill>
                  <a:srgbClr val="525A78"/>
                </a:solidFill>
                <a:latin typeface="Calibri"/>
                <a:cs typeface="Calibri"/>
              </a:rPr>
              <a:t>I</a:t>
            </a:r>
            <a:r>
              <a:rPr sz="1150" b="1" spc="-110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1150" b="1" spc="-10" dirty="0">
                <a:solidFill>
                  <a:srgbClr val="525A78"/>
                </a:solidFill>
                <a:latin typeface="Calibri"/>
                <a:cs typeface="Calibri"/>
              </a:rPr>
              <a:t>N</a:t>
            </a:r>
            <a:r>
              <a:rPr sz="1150" b="1" spc="-105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1150" b="1" spc="-50" dirty="0">
                <a:solidFill>
                  <a:srgbClr val="525A78"/>
                </a:solidFill>
                <a:latin typeface="Calibri"/>
                <a:cs typeface="Calibri"/>
              </a:rPr>
              <a:t>G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Physical</a:t>
            </a:r>
            <a:r>
              <a:rPr spc="-70" dirty="0"/>
              <a:t> </a:t>
            </a:r>
            <a:r>
              <a:rPr spc="-10" dirty="0"/>
              <a:t>Preprocessing:</a:t>
            </a:r>
            <a:r>
              <a:rPr spc="-85" dirty="0"/>
              <a:t> </a:t>
            </a:r>
            <a:r>
              <a:rPr dirty="0"/>
              <a:t>Order</a:t>
            </a:r>
            <a:r>
              <a:rPr spc="-50" dirty="0"/>
              <a:t> </a:t>
            </a:r>
            <a:r>
              <a:rPr spc="-10" dirty="0"/>
              <a:t>Tracking</a:t>
            </a:r>
            <a:r>
              <a:rPr spc="-95" dirty="0"/>
              <a:t> </a:t>
            </a:r>
            <a:r>
              <a:rPr dirty="0"/>
              <a:t>&amp;</a:t>
            </a:r>
            <a:r>
              <a:rPr spc="-65" dirty="0"/>
              <a:t> </a:t>
            </a:r>
            <a:r>
              <a:rPr spc="-10" dirty="0"/>
              <a:t>Envelope</a:t>
            </a:r>
            <a:r>
              <a:rPr spc="-55" dirty="0"/>
              <a:t> </a:t>
            </a:r>
            <a:r>
              <a:rPr spc="-10" dirty="0"/>
              <a:t>Analysis</a:t>
            </a:r>
          </a:p>
        </p:txBody>
      </p:sp>
      <p:sp>
        <p:nvSpPr>
          <p:cNvPr id="4" name="object 4"/>
          <p:cNvSpPr/>
          <p:nvPr/>
        </p:nvSpPr>
        <p:spPr>
          <a:xfrm>
            <a:off x="548640" y="1371600"/>
            <a:ext cx="11094720" cy="0"/>
          </a:xfrm>
          <a:custGeom>
            <a:avLst/>
            <a:gdLst/>
            <a:ahLst/>
            <a:cxnLst/>
            <a:rect l="l" t="t" r="r" b="b"/>
            <a:pathLst>
              <a:path w="11094720">
                <a:moveTo>
                  <a:pt x="0" y="0"/>
                </a:moveTo>
                <a:lnTo>
                  <a:pt x="11094719" y="0"/>
                </a:lnTo>
              </a:path>
            </a:pathLst>
          </a:custGeom>
          <a:ln w="12192">
            <a:solidFill>
              <a:srgbClr val="C4CCE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542544" y="1868423"/>
            <a:ext cx="3404870" cy="2618740"/>
            <a:chOff x="542544" y="1868423"/>
            <a:chExt cx="3404870" cy="2618740"/>
          </a:xfrm>
        </p:grpSpPr>
        <p:sp>
          <p:nvSpPr>
            <p:cNvPr id="6" name="object 6"/>
            <p:cNvSpPr/>
            <p:nvPr/>
          </p:nvSpPr>
          <p:spPr>
            <a:xfrm>
              <a:off x="548640" y="1874519"/>
              <a:ext cx="3392804" cy="2606040"/>
            </a:xfrm>
            <a:custGeom>
              <a:avLst/>
              <a:gdLst/>
              <a:ahLst/>
              <a:cxnLst/>
              <a:rect l="l" t="t" r="r" b="b"/>
              <a:pathLst>
                <a:path w="3392804" h="2606040">
                  <a:moveTo>
                    <a:pt x="3346704" y="0"/>
                  </a:moveTo>
                  <a:lnTo>
                    <a:pt x="45707" y="0"/>
                  </a:lnTo>
                  <a:lnTo>
                    <a:pt x="27914" y="3589"/>
                  </a:lnTo>
                  <a:lnTo>
                    <a:pt x="13385" y="13382"/>
                  </a:lnTo>
                  <a:lnTo>
                    <a:pt x="3591" y="27914"/>
                  </a:lnTo>
                  <a:lnTo>
                    <a:pt x="0" y="45719"/>
                  </a:lnTo>
                  <a:lnTo>
                    <a:pt x="0" y="2560319"/>
                  </a:lnTo>
                  <a:lnTo>
                    <a:pt x="3591" y="2578125"/>
                  </a:lnTo>
                  <a:lnTo>
                    <a:pt x="13385" y="2592657"/>
                  </a:lnTo>
                  <a:lnTo>
                    <a:pt x="27914" y="2602450"/>
                  </a:lnTo>
                  <a:lnTo>
                    <a:pt x="45707" y="2606040"/>
                  </a:lnTo>
                  <a:lnTo>
                    <a:pt x="3346704" y="2606040"/>
                  </a:lnTo>
                  <a:lnTo>
                    <a:pt x="3364509" y="2602450"/>
                  </a:lnTo>
                  <a:lnTo>
                    <a:pt x="3379041" y="2592657"/>
                  </a:lnTo>
                  <a:lnTo>
                    <a:pt x="3388834" y="2578125"/>
                  </a:lnTo>
                  <a:lnTo>
                    <a:pt x="3392424" y="2560319"/>
                  </a:lnTo>
                  <a:lnTo>
                    <a:pt x="3392424" y="45719"/>
                  </a:lnTo>
                  <a:lnTo>
                    <a:pt x="3388834" y="27914"/>
                  </a:lnTo>
                  <a:lnTo>
                    <a:pt x="3379041" y="13382"/>
                  </a:lnTo>
                  <a:lnTo>
                    <a:pt x="3364509" y="3589"/>
                  </a:lnTo>
                  <a:lnTo>
                    <a:pt x="3346704" y="0"/>
                  </a:lnTo>
                  <a:close/>
                </a:path>
              </a:pathLst>
            </a:custGeom>
            <a:solidFill>
              <a:srgbClr val="F4F6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48640" y="1874519"/>
              <a:ext cx="3392804" cy="2606040"/>
            </a:xfrm>
            <a:custGeom>
              <a:avLst/>
              <a:gdLst/>
              <a:ahLst/>
              <a:cxnLst/>
              <a:rect l="l" t="t" r="r" b="b"/>
              <a:pathLst>
                <a:path w="3392804" h="2606040">
                  <a:moveTo>
                    <a:pt x="0" y="45719"/>
                  </a:moveTo>
                  <a:lnTo>
                    <a:pt x="3591" y="27914"/>
                  </a:lnTo>
                  <a:lnTo>
                    <a:pt x="13385" y="13382"/>
                  </a:lnTo>
                  <a:lnTo>
                    <a:pt x="27914" y="3589"/>
                  </a:lnTo>
                  <a:lnTo>
                    <a:pt x="45707" y="0"/>
                  </a:lnTo>
                  <a:lnTo>
                    <a:pt x="3346704" y="0"/>
                  </a:lnTo>
                  <a:lnTo>
                    <a:pt x="3364509" y="3589"/>
                  </a:lnTo>
                  <a:lnTo>
                    <a:pt x="3379041" y="13382"/>
                  </a:lnTo>
                  <a:lnTo>
                    <a:pt x="3388834" y="27914"/>
                  </a:lnTo>
                  <a:lnTo>
                    <a:pt x="3392424" y="45719"/>
                  </a:lnTo>
                  <a:lnTo>
                    <a:pt x="3392424" y="2560319"/>
                  </a:lnTo>
                  <a:lnTo>
                    <a:pt x="3388834" y="2578125"/>
                  </a:lnTo>
                  <a:lnTo>
                    <a:pt x="3379041" y="2592657"/>
                  </a:lnTo>
                  <a:lnTo>
                    <a:pt x="3364509" y="2602450"/>
                  </a:lnTo>
                  <a:lnTo>
                    <a:pt x="3346704" y="2606040"/>
                  </a:lnTo>
                  <a:lnTo>
                    <a:pt x="45707" y="2606040"/>
                  </a:lnTo>
                  <a:lnTo>
                    <a:pt x="27914" y="2602450"/>
                  </a:lnTo>
                  <a:lnTo>
                    <a:pt x="13385" y="2592657"/>
                  </a:lnTo>
                  <a:lnTo>
                    <a:pt x="3591" y="2578125"/>
                  </a:lnTo>
                  <a:lnTo>
                    <a:pt x="0" y="2560319"/>
                  </a:lnTo>
                  <a:lnTo>
                    <a:pt x="0" y="45719"/>
                  </a:lnTo>
                  <a:close/>
                </a:path>
              </a:pathLst>
            </a:custGeom>
            <a:ln w="12192">
              <a:solidFill>
                <a:srgbClr val="D6DE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48640" y="1874520"/>
            <a:ext cx="3392804" cy="2606040"/>
          </a:xfrm>
          <a:prstGeom prst="rect">
            <a:avLst/>
          </a:prstGeom>
        </p:spPr>
        <p:txBody>
          <a:bodyPr vert="horz" wrap="square" lIns="0" tIns="13589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70"/>
              </a:spcBef>
            </a:pPr>
            <a:endParaRPr sz="1000">
              <a:latin typeface="Times New Roman"/>
              <a:cs typeface="Times New Roman"/>
            </a:endParaRPr>
          </a:p>
          <a:p>
            <a:pPr marL="255904">
              <a:lnSpc>
                <a:spcPct val="100000"/>
              </a:lnSpc>
            </a:pPr>
            <a:r>
              <a:rPr sz="1000" b="1" spc="85" dirty="0">
                <a:solidFill>
                  <a:srgbClr val="525A78"/>
                </a:solidFill>
                <a:latin typeface="Calibri"/>
                <a:cs typeface="Calibri"/>
              </a:rPr>
              <a:t>STEP</a:t>
            </a:r>
            <a:r>
              <a:rPr sz="1000" b="1" spc="245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1000" b="1" spc="-50" dirty="0">
                <a:solidFill>
                  <a:srgbClr val="525A78"/>
                </a:solidFill>
                <a:latin typeface="Calibri"/>
                <a:cs typeface="Calibri"/>
              </a:rPr>
              <a:t>1</a:t>
            </a: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05"/>
              </a:spcBef>
            </a:pPr>
            <a:endParaRPr sz="1000">
              <a:latin typeface="Calibri"/>
              <a:cs typeface="Calibri"/>
            </a:endParaRPr>
          </a:p>
          <a:p>
            <a:pPr marL="255904">
              <a:lnSpc>
                <a:spcPct val="100000"/>
              </a:lnSpc>
            </a:pPr>
            <a:r>
              <a:rPr sz="1550" b="1" spc="-10" dirty="0">
                <a:solidFill>
                  <a:srgbClr val="1E2760"/>
                </a:solidFill>
                <a:latin typeface="Cambria"/>
                <a:cs typeface="Cambria"/>
              </a:rPr>
              <a:t>Computed</a:t>
            </a:r>
            <a:r>
              <a:rPr sz="1550" b="1" spc="-75" dirty="0">
                <a:solidFill>
                  <a:srgbClr val="1E2760"/>
                </a:solidFill>
                <a:latin typeface="Cambria"/>
                <a:cs typeface="Cambria"/>
              </a:rPr>
              <a:t> </a:t>
            </a:r>
            <a:r>
              <a:rPr sz="1550" b="1" dirty="0">
                <a:solidFill>
                  <a:srgbClr val="1E2760"/>
                </a:solidFill>
                <a:latin typeface="Cambria"/>
                <a:cs typeface="Cambria"/>
              </a:rPr>
              <a:t>Order</a:t>
            </a:r>
            <a:r>
              <a:rPr sz="1550" b="1" spc="-15" dirty="0">
                <a:solidFill>
                  <a:srgbClr val="1E2760"/>
                </a:solidFill>
                <a:latin typeface="Cambria"/>
                <a:cs typeface="Cambria"/>
              </a:rPr>
              <a:t> </a:t>
            </a:r>
            <a:r>
              <a:rPr sz="1550" b="1" spc="-10" dirty="0">
                <a:solidFill>
                  <a:srgbClr val="1E2760"/>
                </a:solidFill>
                <a:latin typeface="Cambria"/>
                <a:cs typeface="Cambria"/>
              </a:rPr>
              <a:t>Tracking</a:t>
            </a:r>
            <a:endParaRPr sz="155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705"/>
              </a:spcBef>
            </a:pPr>
            <a:endParaRPr sz="1550">
              <a:latin typeface="Cambria"/>
              <a:cs typeface="Cambria"/>
            </a:endParaRPr>
          </a:p>
          <a:p>
            <a:pPr marL="255904" marR="351790">
              <a:lnSpc>
                <a:spcPct val="117900"/>
              </a:lnSpc>
            </a:pPr>
            <a:r>
              <a:rPr sz="1150" dirty="0">
                <a:solidFill>
                  <a:srgbClr val="212846"/>
                </a:solidFill>
                <a:latin typeface="Calibri"/>
                <a:cs typeface="Calibri"/>
              </a:rPr>
              <a:t>Tachometer data</a:t>
            </a:r>
            <a:r>
              <a:rPr sz="1150" spc="-2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212846"/>
                </a:solidFill>
                <a:latin typeface="Calibri"/>
                <a:cs typeface="Calibri"/>
              </a:rPr>
              <a:t>samples</a:t>
            </a:r>
            <a:r>
              <a:rPr sz="1150" spc="-4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212846"/>
                </a:solidFill>
                <a:latin typeface="Calibri"/>
                <a:cs typeface="Calibri"/>
              </a:rPr>
              <a:t>the</a:t>
            </a:r>
            <a:r>
              <a:rPr sz="1150" spc="-2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212846"/>
                </a:solidFill>
                <a:latin typeface="Calibri"/>
                <a:cs typeface="Calibri"/>
              </a:rPr>
              <a:t>signal</a:t>
            </a:r>
            <a:r>
              <a:rPr sz="1150" spc="-4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212846"/>
                </a:solidFill>
                <a:latin typeface="Calibri"/>
                <a:cs typeface="Calibri"/>
              </a:rPr>
              <a:t>relative</a:t>
            </a:r>
            <a:r>
              <a:rPr sz="1150" spc="-4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150" spc="-25" dirty="0">
                <a:solidFill>
                  <a:srgbClr val="212846"/>
                </a:solidFill>
                <a:latin typeface="Calibri"/>
                <a:cs typeface="Calibri"/>
              </a:rPr>
              <a:t>to </a:t>
            </a:r>
            <a:r>
              <a:rPr sz="1150" dirty="0">
                <a:solidFill>
                  <a:srgbClr val="212846"/>
                </a:solidFill>
                <a:latin typeface="Calibri"/>
                <a:cs typeface="Calibri"/>
              </a:rPr>
              <a:t>shaft</a:t>
            </a:r>
            <a:r>
              <a:rPr sz="1150" spc="-5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212846"/>
                </a:solidFill>
                <a:latin typeface="Calibri"/>
                <a:cs typeface="Calibri"/>
              </a:rPr>
              <a:t>angular</a:t>
            </a:r>
            <a:r>
              <a:rPr sz="1150" spc="-4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212846"/>
                </a:solidFill>
                <a:latin typeface="Calibri"/>
                <a:cs typeface="Calibri"/>
              </a:rPr>
              <a:t>position</a:t>
            </a:r>
            <a:r>
              <a:rPr sz="1150" spc="-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212846"/>
                </a:solidFill>
                <a:latin typeface="Calibri"/>
                <a:cs typeface="Calibri"/>
              </a:rPr>
              <a:t>—</a:t>
            </a:r>
            <a:r>
              <a:rPr sz="1150" spc="-3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212846"/>
                </a:solidFill>
                <a:latin typeface="Calibri"/>
                <a:cs typeface="Calibri"/>
              </a:rPr>
              <a:t>transforming</a:t>
            </a:r>
            <a:r>
              <a:rPr sz="1150" spc="-4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212846"/>
                </a:solidFill>
                <a:latin typeface="Calibri"/>
                <a:cs typeface="Calibri"/>
              </a:rPr>
              <a:t>variable </a:t>
            </a:r>
            <a:r>
              <a:rPr sz="1150" dirty="0">
                <a:solidFill>
                  <a:srgbClr val="212846"/>
                </a:solidFill>
                <a:latin typeface="Calibri"/>
                <a:cs typeface="Calibri"/>
              </a:rPr>
              <a:t>frequencies</a:t>
            </a:r>
            <a:r>
              <a:rPr sz="1150" spc="-5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212846"/>
                </a:solidFill>
                <a:latin typeface="Calibri"/>
                <a:cs typeface="Calibri"/>
              </a:rPr>
              <a:t>into</a:t>
            </a:r>
            <a:r>
              <a:rPr sz="1150" spc="-2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212846"/>
                </a:solidFill>
                <a:latin typeface="Calibri"/>
                <a:cs typeface="Calibri"/>
              </a:rPr>
              <a:t>constant</a:t>
            </a:r>
            <a:r>
              <a:rPr sz="1150" spc="-4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212846"/>
                </a:solidFill>
                <a:latin typeface="Calibri"/>
                <a:cs typeface="Calibri"/>
              </a:rPr>
              <a:t>“orders,”</a:t>
            </a:r>
            <a:r>
              <a:rPr sz="1150" spc="-6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212846"/>
                </a:solidFill>
                <a:latin typeface="Calibri"/>
                <a:cs typeface="Calibri"/>
              </a:rPr>
              <a:t>solving </a:t>
            </a:r>
            <a:r>
              <a:rPr sz="1150" dirty="0">
                <a:solidFill>
                  <a:srgbClr val="212846"/>
                </a:solidFill>
                <a:latin typeface="Calibri"/>
                <a:cs typeface="Calibri"/>
              </a:rPr>
              <a:t>harmonic</a:t>
            </a:r>
            <a:r>
              <a:rPr sz="1150" spc="-5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212846"/>
                </a:solidFill>
                <a:latin typeface="Calibri"/>
                <a:cs typeface="Calibri"/>
              </a:rPr>
              <a:t>scaling</a:t>
            </a:r>
            <a:r>
              <a:rPr sz="1150" spc="-3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212846"/>
                </a:solidFill>
                <a:latin typeface="Calibri"/>
                <a:cs typeface="Calibri"/>
              </a:rPr>
              <a:t>and</a:t>
            </a:r>
            <a:r>
              <a:rPr sz="1150" spc="-6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212846"/>
                </a:solidFill>
                <a:latin typeface="Calibri"/>
                <a:cs typeface="Calibri"/>
              </a:rPr>
              <a:t>eliminating</a:t>
            </a:r>
            <a:r>
              <a:rPr sz="1150" spc="-5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212846"/>
                </a:solidFill>
                <a:latin typeface="Calibri"/>
                <a:cs typeface="Calibri"/>
              </a:rPr>
              <a:t>frequency smearing.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030726" y="2980436"/>
            <a:ext cx="279400" cy="3619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00" spc="-50" dirty="0">
                <a:solidFill>
                  <a:srgbClr val="525A78"/>
                </a:solidFill>
                <a:latin typeface="Calibri"/>
                <a:cs typeface="Calibri"/>
              </a:rPr>
              <a:t>→</a:t>
            </a:r>
            <a:endParaRPr sz="22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392167" y="1868423"/>
            <a:ext cx="3408045" cy="2618740"/>
            <a:chOff x="4392167" y="1868423"/>
            <a:chExt cx="3408045" cy="2618740"/>
          </a:xfrm>
        </p:grpSpPr>
        <p:sp>
          <p:nvSpPr>
            <p:cNvPr id="11" name="object 11"/>
            <p:cNvSpPr/>
            <p:nvPr/>
          </p:nvSpPr>
          <p:spPr>
            <a:xfrm>
              <a:off x="4398263" y="1874519"/>
              <a:ext cx="3395979" cy="2606040"/>
            </a:xfrm>
            <a:custGeom>
              <a:avLst/>
              <a:gdLst/>
              <a:ahLst/>
              <a:cxnLst/>
              <a:rect l="l" t="t" r="r" b="b"/>
              <a:pathLst>
                <a:path w="3395979" h="2606040">
                  <a:moveTo>
                    <a:pt x="3349752" y="0"/>
                  </a:moveTo>
                  <a:lnTo>
                    <a:pt x="45720" y="0"/>
                  </a:lnTo>
                  <a:lnTo>
                    <a:pt x="27914" y="3589"/>
                  </a:lnTo>
                  <a:lnTo>
                    <a:pt x="13382" y="13382"/>
                  </a:lnTo>
                  <a:lnTo>
                    <a:pt x="3589" y="27914"/>
                  </a:lnTo>
                  <a:lnTo>
                    <a:pt x="0" y="45719"/>
                  </a:lnTo>
                  <a:lnTo>
                    <a:pt x="0" y="2560319"/>
                  </a:lnTo>
                  <a:lnTo>
                    <a:pt x="3589" y="2578125"/>
                  </a:lnTo>
                  <a:lnTo>
                    <a:pt x="13382" y="2592657"/>
                  </a:lnTo>
                  <a:lnTo>
                    <a:pt x="27914" y="2602450"/>
                  </a:lnTo>
                  <a:lnTo>
                    <a:pt x="45720" y="2606040"/>
                  </a:lnTo>
                  <a:lnTo>
                    <a:pt x="3349752" y="2606040"/>
                  </a:lnTo>
                  <a:lnTo>
                    <a:pt x="3367557" y="2602450"/>
                  </a:lnTo>
                  <a:lnTo>
                    <a:pt x="3382089" y="2592657"/>
                  </a:lnTo>
                  <a:lnTo>
                    <a:pt x="3391882" y="2578125"/>
                  </a:lnTo>
                  <a:lnTo>
                    <a:pt x="3395471" y="2560319"/>
                  </a:lnTo>
                  <a:lnTo>
                    <a:pt x="3395471" y="45719"/>
                  </a:lnTo>
                  <a:lnTo>
                    <a:pt x="3391882" y="27914"/>
                  </a:lnTo>
                  <a:lnTo>
                    <a:pt x="3382089" y="13382"/>
                  </a:lnTo>
                  <a:lnTo>
                    <a:pt x="3367557" y="3589"/>
                  </a:lnTo>
                  <a:lnTo>
                    <a:pt x="3349752" y="0"/>
                  </a:lnTo>
                  <a:close/>
                </a:path>
              </a:pathLst>
            </a:custGeom>
            <a:solidFill>
              <a:srgbClr val="F4F6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398263" y="1874519"/>
              <a:ext cx="3395979" cy="2606040"/>
            </a:xfrm>
            <a:custGeom>
              <a:avLst/>
              <a:gdLst/>
              <a:ahLst/>
              <a:cxnLst/>
              <a:rect l="l" t="t" r="r" b="b"/>
              <a:pathLst>
                <a:path w="3395979" h="2606040">
                  <a:moveTo>
                    <a:pt x="0" y="45719"/>
                  </a:moveTo>
                  <a:lnTo>
                    <a:pt x="3589" y="27914"/>
                  </a:lnTo>
                  <a:lnTo>
                    <a:pt x="13382" y="13382"/>
                  </a:lnTo>
                  <a:lnTo>
                    <a:pt x="27914" y="3589"/>
                  </a:lnTo>
                  <a:lnTo>
                    <a:pt x="45720" y="0"/>
                  </a:lnTo>
                  <a:lnTo>
                    <a:pt x="3349752" y="0"/>
                  </a:lnTo>
                  <a:lnTo>
                    <a:pt x="3367557" y="3589"/>
                  </a:lnTo>
                  <a:lnTo>
                    <a:pt x="3382089" y="13382"/>
                  </a:lnTo>
                  <a:lnTo>
                    <a:pt x="3391882" y="27914"/>
                  </a:lnTo>
                  <a:lnTo>
                    <a:pt x="3395471" y="45719"/>
                  </a:lnTo>
                  <a:lnTo>
                    <a:pt x="3395471" y="2560319"/>
                  </a:lnTo>
                  <a:lnTo>
                    <a:pt x="3391882" y="2578125"/>
                  </a:lnTo>
                  <a:lnTo>
                    <a:pt x="3382089" y="2592657"/>
                  </a:lnTo>
                  <a:lnTo>
                    <a:pt x="3367557" y="2602450"/>
                  </a:lnTo>
                  <a:lnTo>
                    <a:pt x="3349752" y="2606040"/>
                  </a:lnTo>
                  <a:lnTo>
                    <a:pt x="45720" y="2606040"/>
                  </a:lnTo>
                  <a:lnTo>
                    <a:pt x="27914" y="2602450"/>
                  </a:lnTo>
                  <a:lnTo>
                    <a:pt x="13382" y="2592657"/>
                  </a:lnTo>
                  <a:lnTo>
                    <a:pt x="3589" y="2578125"/>
                  </a:lnTo>
                  <a:lnTo>
                    <a:pt x="0" y="2560319"/>
                  </a:lnTo>
                  <a:lnTo>
                    <a:pt x="0" y="45719"/>
                  </a:lnTo>
                  <a:close/>
                </a:path>
              </a:pathLst>
            </a:custGeom>
            <a:ln w="12192">
              <a:solidFill>
                <a:srgbClr val="D6DE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398264" y="1874520"/>
            <a:ext cx="3395979" cy="2606040"/>
          </a:xfrm>
          <a:prstGeom prst="rect">
            <a:avLst/>
          </a:prstGeom>
        </p:spPr>
        <p:txBody>
          <a:bodyPr vert="horz" wrap="square" lIns="0" tIns="13589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70"/>
              </a:spcBef>
            </a:pPr>
            <a:endParaRPr sz="1000">
              <a:latin typeface="Times New Roman"/>
              <a:cs typeface="Times New Roman"/>
            </a:endParaRPr>
          </a:p>
          <a:p>
            <a:pPr marL="257810">
              <a:lnSpc>
                <a:spcPct val="100000"/>
              </a:lnSpc>
            </a:pPr>
            <a:r>
              <a:rPr sz="1000" b="1" spc="85" dirty="0">
                <a:solidFill>
                  <a:srgbClr val="525A78"/>
                </a:solidFill>
                <a:latin typeface="Calibri"/>
                <a:cs typeface="Calibri"/>
              </a:rPr>
              <a:t>STEP</a:t>
            </a:r>
            <a:r>
              <a:rPr sz="1000" b="1" spc="245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1000" b="1" spc="-50" dirty="0">
                <a:solidFill>
                  <a:srgbClr val="525A78"/>
                </a:solidFill>
                <a:latin typeface="Calibri"/>
                <a:cs typeface="Calibri"/>
              </a:rPr>
              <a:t>2</a:t>
            </a: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05"/>
              </a:spcBef>
            </a:pPr>
            <a:endParaRPr sz="1000">
              <a:latin typeface="Calibri"/>
              <a:cs typeface="Calibri"/>
            </a:endParaRPr>
          </a:p>
          <a:p>
            <a:pPr marL="257810">
              <a:lnSpc>
                <a:spcPct val="100000"/>
              </a:lnSpc>
            </a:pPr>
            <a:r>
              <a:rPr sz="1550" b="1" spc="-20" dirty="0">
                <a:solidFill>
                  <a:srgbClr val="1E2760"/>
                </a:solidFill>
                <a:latin typeface="Cambria"/>
                <a:cs typeface="Cambria"/>
              </a:rPr>
              <a:t>Envelope</a:t>
            </a:r>
            <a:r>
              <a:rPr sz="1550" b="1" spc="5" dirty="0">
                <a:solidFill>
                  <a:srgbClr val="1E2760"/>
                </a:solidFill>
                <a:latin typeface="Cambria"/>
                <a:cs typeface="Cambria"/>
              </a:rPr>
              <a:t> </a:t>
            </a:r>
            <a:r>
              <a:rPr sz="1550" b="1" spc="-10" dirty="0">
                <a:solidFill>
                  <a:srgbClr val="1E2760"/>
                </a:solidFill>
                <a:latin typeface="Cambria"/>
                <a:cs typeface="Cambria"/>
              </a:rPr>
              <a:t>Analysis</a:t>
            </a:r>
            <a:endParaRPr sz="155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705"/>
              </a:spcBef>
            </a:pPr>
            <a:endParaRPr sz="1550">
              <a:latin typeface="Cambria"/>
              <a:cs typeface="Cambria"/>
            </a:endParaRPr>
          </a:p>
          <a:p>
            <a:pPr marL="257810" marR="368300">
              <a:lnSpc>
                <a:spcPct val="117900"/>
              </a:lnSpc>
            </a:pPr>
            <a:r>
              <a:rPr sz="1150" dirty="0">
                <a:solidFill>
                  <a:srgbClr val="212846"/>
                </a:solidFill>
                <a:latin typeface="Calibri"/>
                <a:cs typeface="Calibri"/>
              </a:rPr>
              <a:t>Applied</a:t>
            </a:r>
            <a:r>
              <a:rPr sz="1150" spc="-5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212846"/>
                </a:solidFill>
                <a:latin typeface="Calibri"/>
                <a:cs typeface="Calibri"/>
              </a:rPr>
              <a:t>alongside</a:t>
            </a:r>
            <a:r>
              <a:rPr sz="1150" spc="-1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212846"/>
                </a:solidFill>
                <a:latin typeface="Calibri"/>
                <a:cs typeface="Calibri"/>
              </a:rPr>
              <a:t>COT,</a:t>
            </a:r>
            <a:r>
              <a:rPr sz="1150" spc="-4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212846"/>
                </a:solidFill>
                <a:latin typeface="Calibri"/>
                <a:cs typeface="Calibri"/>
              </a:rPr>
              <a:t>this</a:t>
            </a:r>
            <a:r>
              <a:rPr sz="1150" spc="-1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212846"/>
                </a:solidFill>
                <a:latin typeface="Calibri"/>
                <a:cs typeface="Calibri"/>
              </a:rPr>
              <a:t>demodulates</a:t>
            </a:r>
            <a:r>
              <a:rPr sz="1150" spc="-1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150" spc="-20" dirty="0">
                <a:solidFill>
                  <a:srgbClr val="212846"/>
                </a:solidFill>
                <a:latin typeface="Calibri"/>
                <a:cs typeface="Calibri"/>
              </a:rPr>
              <a:t>high-</a:t>
            </a:r>
            <a:r>
              <a:rPr sz="1150" dirty="0">
                <a:solidFill>
                  <a:srgbClr val="212846"/>
                </a:solidFill>
                <a:latin typeface="Calibri"/>
                <a:cs typeface="Calibri"/>
              </a:rPr>
              <a:t>frequency</a:t>
            </a:r>
            <a:r>
              <a:rPr sz="1150" spc="-3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212846"/>
                </a:solidFill>
                <a:latin typeface="Calibri"/>
                <a:cs typeface="Calibri"/>
              </a:rPr>
              <a:t>resonant</a:t>
            </a:r>
            <a:r>
              <a:rPr sz="1150" spc="-10" dirty="0">
                <a:solidFill>
                  <a:srgbClr val="212846"/>
                </a:solidFill>
                <a:latin typeface="Calibri"/>
                <a:cs typeface="Calibri"/>
              </a:rPr>
              <a:t> responses</a:t>
            </a:r>
            <a:r>
              <a:rPr sz="1150" spc="-3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212846"/>
                </a:solidFill>
                <a:latin typeface="Calibri"/>
                <a:cs typeface="Calibri"/>
              </a:rPr>
              <a:t>from</a:t>
            </a:r>
            <a:r>
              <a:rPr sz="1150" spc="-2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212846"/>
                </a:solidFill>
                <a:latin typeface="Calibri"/>
                <a:cs typeface="Calibri"/>
              </a:rPr>
              <a:t>repeating </a:t>
            </a:r>
            <a:r>
              <a:rPr sz="1150" dirty="0">
                <a:solidFill>
                  <a:srgbClr val="212846"/>
                </a:solidFill>
                <a:latin typeface="Calibri"/>
                <a:cs typeface="Calibri"/>
              </a:rPr>
              <a:t>structural</a:t>
            </a:r>
            <a:r>
              <a:rPr sz="1150" spc="-4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212846"/>
                </a:solidFill>
                <a:latin typeface="Calibri"/>
                <a:cs typeface="Calibri"/>
              </a:rPr>
              <a:t>impacts (e.g.</a:t>
            </a:r>
            <a:r>
              <a:rPr sz="1150" spc="-7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212846"/>
                </a:solidFill>
                <a:latin typeface="Calibri"/>
                <a:cs typeface="Calibri"/>
              </a:rPr>
              <a:t>roller</a:t>
            </a:r>
            <a:r>
              <a:rPr sz="1150" spc="-1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212846"/>
                </a:solidFill>
                <a:latin typeface="Calibri"/>
                <a:cs typeface="Calibri"/>
              </a:rPr>
              <a:t>impacts</a:t>
            </a:r>
            <a:r>
              <a:rPr sz="1150" spc="-2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212846"/>
                </a:solidFill>
                <a:latin typeface="Calibri"/>
                <a:cs typeface="Calibri"/>
              </a:rPr>
              <a:t>on</a:t>
            </a:r>
            <a:r>
              <a:rPr sz="1150" spc="-2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150" spc="-50" dirty="0">
                <a:solidFill>
                  <a:srgbClr val="212846"/>
                </a:solidFill>
                <a:latin typeface="Calibri"/>
                <a:cs typeface="Calibri"/>
              </a:rPr>
              <a:t>a </a:t>
            </a:r>
            <a:r>
              <a:rPr sz="1150" dirty="0">
                <a:solidFill>
                  <a:srgbClr val="212846"/>
                </a:solidFill>
                <a:latin typeface="Calibri"/>
                <a:cs typeface="Calibri"/>
              </a:rPr>
              <a:t>crack),</a:t>
            </a:r>
            <a:r>
              <a:rPr sz="1150" spc="-2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212846"/>
                </a:solidFill>
                <a:latin typeface="Calibri"/>
                <a:cs typeface="Calibri"/>
              </a:rPr>
              <a:t>isolating</a:t>
            </a:r>
            <a:r>
              <a:rPr sz="1150" spc="-3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212846"/>
                </a:solidFill>
                <a:latin typeface="Calibri"/>
                <a:cs typeface="Calibri"/>
              </a:rPr>
              <a:t>the</a:t>
            </a:r>
            <a:r>
              <a:rPr sz="1150" spc="-2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212846"/>
                </a:solidFill>
                <a:latin typeface="Calibri"/>
                <a:cs typeface="Calibri"/>
              </a:rPr>
              <a:t>low-</a:t>
            </a:r>
            <a:r>
              <a:rPr sz="1150" dirty="0">
                <a:solidFill>
                  <a:srgbClr val="212846"/>
                </a:solidFill>
                <a:latin typeface="Calibri"/>
                <a:cs typeface="Calibri"/>
              </a:rPr>
              <a:t>frequency</a:t>
            </a:r>
            <a:r>
              <a:rPr sz="1150" spc="-2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212846"/>
                </a:solidFill>
                <a:latin typeface="Calibri"/>
                <a:cs typeface="Calibri"/>
              </a:rPr>
              <a:t>repetition </a:t>
            </a:r>
            <a:r>
              <a:rPr sz="1150" dirty="0">
                <a:solidFill>
                  <a:srgbClr val="212846"/>
                </a:solidFill>
                <a:latin typeface="Calibri"/>
                <a:cs typeface="Calibri"/>
              </a:rPr>
              <a:t>rate</a:t>
            </a:r>
            <a:r>
              <a:rPr sz="1150" spc="-1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212846"/>
                </a:solidFill>
                <a:latin typeface="Calibri"/>
                <a:cs typeface="Calibri"/>
              </a:rPr>
              <a:t>from</a:t>
            </a:r>
            <a:r>
              <a:rPr sz="1150" spc="-4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212846"/>
                </a:solidFill>
                <a:latin typeface="Calibri"/>
                <a:cs typeface="Calibri"/>
              </a:rPr>
              <a:t>noise.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882508" y="2980436"/>
            <a:ext cx="279400" cy="3619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00" spc="-50" dirty="0">
                <a:solidFill>
                  <a:srgbClr val="525A78"/>
                </a:solidFill>
                <a:latin typeface="Calibri"/>
                <a:cs typeface="Calibri"/>
              </a:rPr>
              <a:t>→</a:t>
            </a:r>
            <a:endParaRPr sz="22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8244840" y="1868423"/>
            <a:ext cx="3404870" cy="2618740"/>
            <a:chOff x="8244840" y="1868423"/>
            <a:chExt cx="3404870" cy="2618740"/>
          </a:xfrm>
        </p:grpSpPr>
        <p:sp>
          <p:nvSpPr>
            <p:cNvPr id="16" name="object 16"/>
            <p:cNvSpPr/>
            <p:nvPr/>
          </p:nvSpPr>
          <p:spPr>
            <a:xfrm>
              <a:off x="8250936" y="1874519"/>
              <a:ext cx="3392804" cy="2606040"/>
            </a:xfrm>
            <a:custGeom>
              <a:avLst/>
              <a:gdLst/>
              <a:ahLst/>
              <a:cxnLst/>
              <a:rect l="l" t="t" r="r" b="b"/>
              <a:pathLst>
                <a:path w="3392804" h="2606040">
                  <a:moveTo>
                    <a:pt x="3346704" y="0"/>
                  </a:moveTo>
                  <a:lnTo>
                    <a:pt x="45720" y="0"/>
                  </a:lnTo>
                  <a:lnTo>
                    <a:pt x="27914" y="3589"/>
                  </a:lnTo>
                  <a:lnTo>
                    <a:pt x="13382" y="13382"/>
                  </a:lnTo>
                  <a:lnTo>
                    <a:pt x="3589" y="27914"/>
                  </a:lnTo>
                  <a:lnTo>
                    <a:pt x="0" y="45719"/>
                  </a:lnTo>
                  <a:lnTo>
                    <a:pt x="0" y="2560319"/>
                  </a:lnTo>
                  <a:lnTo>
                    <a:pt x="3589" y="2578125"/>
                  </a:lnTo>
                  <a:lnTo>
                    <a:pt x="13382" y="2592657"/>
                  </a:lnTo>
                  <a:lnTo>
                    <a:pt x="27914" y="2602450"/>
                  </a:lnTo>
                  <a:lnTo>
                    <a:pt x="45720" y="2606040"/>
                  </a:lnTo>
                  <a:lnTo>
                    <a:pt x="3346704" y="2606040"/>
                  </a:lnTo>
                  <a:lnTo>
                    <a:pt x="3364509" y="2602450"/>
                  </a:lnTo>
                  <a:lnTo>
                    <a:pt x="3379041" y="2592657"/>
                  </a:lnTo>
                  <a:lnTo>
                    <a:pt x="3388834" y="2578125"/>
                  </a:lnTo>
                  <a:lnTo>
                    <a:pt x="3392424" y="2560319"/>
                  </a:lnTo>
                  <a:lnTo>
                    <a:pt x="3392424" y="45719"/>
                  </a:lnTo>
                  <a:lnTo>
                    <a:pt x="3388834" y="27914"/>
                  </a:lnTo>
                  <a:lnTo>
                    <a:pt x="3379041" y="13382"/>
                  </a:lnTo>
                  <a:lnTo>
                    <a:pt x="3364509" y="3589"/>
                  </a:lnTo>
                  <a:lnTo>
                    <a:pt x="3346704" y="0"/>
                  </a:lnTo>
                  <a:close/>
                </a:path>
              </a:pathLst>
            </a:custGeom>
            <a:solidFill>
              <a:srgbClr val="1E27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250936" y="1874519"/>
              <a:ext cx="3392804" cy="2606040"/>
            </a:xfrm>
            <a:custGeom>
              <a:avLst/>
              <a:gdLst/>
              <a:ahLst/>
              <a:cxnLst/>
              <a:rect l="l" t="t" r="r" b="b"/>
              <a:pathLst>
                <a:path w="3392804" h="2606040">
                  <a:moveTo>
                    <a:pt x="0" y="45719"/>
                  </a:moveTo>
                  <a:lnTo>
                    <a:pt x="3589" y="27914"/>
                  </a:lnTo>
                  <a:lnTo>
                    <a:pt x="13382" y="13382"/>
                  </a:lnTo>
                  <a:lnTo>
                    <a:pt x="27914" y="3589"/>
                  </a:lnTo>
                  <a:lnTo>
                    <a:pt x="45720" y="0"/>
                  </a:lnTo>
                  <a:lnTo>
                    <a:pt x="3346704" y="0"/>
                  </a:lnTo>
                  <a:lnTo>
                    <a:pt x="3364509" y="3589"/>
                  </a:lnTo>
                  <a:lnTo>
                    <a:pt x="3379041" y="13382"/>
                  </a:lnTo>
                  <a:lnTo>
                    <a:pt x="3388834" y="27914"/>
                  </a:lnTo>
                  <a:lnTo>
                    <a:pt x="3392424" y="45719"/>
                  </a:lnTo>
                  <a:lnTo>
                    <a:pt x="3392424" y="2560319"/>
                  </a:lnTo>
                  <a:lnTo>
                    <a:pt x="3388834" y="2578125"/>
                  </a:lnTo>
                  <a:lnTo>
                    <a:pt x="3379041" y="2592657"/>
                  </a:lnTo>
                  <a:lnTo>
                    <a:pt x="3364509" y="2602450"/>
                  </a:lnTo>
                  <a:lnTo>
                    <a:pt x="3346704" y="2606040"/>
                  </a:lnTo>
                  <a:lnTo>
                    <a:pt x="45720" y="2606040"/>
                  </a:lnTo>
                  <a:lnTo>
                    <a:pt x="27914" y="2602450"/>
                  </a:lnTo>
                  <a:lnTo>
                    <a:pt x="13382" y="2592657"/>
                  </a:lnTo>
                  <a:lnTo>
                    <a:pt x="3589" y="2578125"/>
                  </a:lnTo>
                  <a:lnTo>
                    <a:pt x="0" y="2560319"/>
                  </a:lnTo>
                  <a:lnTo>
                    <a:pt x="0" y="45719"/>
                  </a:lnTo>
                  <a:close/>
                </a:path>
              </a:pathLst>
            </a:custGeom>
            <a:ln w="12192">
              <a:solidFill>
                <a:srgbClr val="1E27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8250935" y="1874520"/>
            <a:ext cx="3392804" cy="260604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 vert="horz" wrap="square" lIns="0" tIns="13589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70"/>
              </a:spcBef>
            </a:pPr>
            <a:endParaRPr sz="1000" dirty="0">
              <a:latin typeface="Times New Roman"/>
              <a:cs typeface="Times New Roman"/>
            </a:endParaRPr>
          </a:p>
          <a:p>
            <a:pPr marL="256540">
              <a:lnSpc>
                <a:spcPct val="100000"/>
              </a:lnSpc>
            </a:pPr>
            <a:r>
              <a:rPr sz="1000" b="1" spc="85" dirty="0">
                <a:solidFill>
                  <a:srgbClr val="C9DCFB"/>
                </a:solidFill>
                <a:latin typeface="Calibri"/>
                <a:cs typeface="Calibri"/>
              </a:rPr>
              <a:t>STEP</a:t>
            </a:r>
            <a:r>
              <a:rPr sz="1000" b="1" spc="245" dirty="0">
                <a:solidFill>
                  <a:srgbClr val="C9DCFB"/>
                </a:solidFill>
                <a:latin typeface="Calibri"/>
                <a:cs typeface="Calibri"/>
              </a:rPr>
              <a:t> </a:t>
            </a:r>
            <a:r>
              <a:rPr sz="1000" b="1" spc="-50" dirty="0">
                <a:solidFill>
                  <a:srgbClr val="C9DCFB"/>
                </a:solidFill>
                <a:latin typeface="Calibri"/>
                <a:cs typeface="Calibri"/>
              </a:rPr>
              <a:t>3</a:t>
            </a:r>
            <a:endParaRPr sz="10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05"/>
              </a:spcBef>
            </a:pPr>
            <a:endParaRPr sz="1000" dirty="0">
              <a:latin typeface="Calibri"/>
              <a:cs typeface="Calibri"/>
            </a:endParaRPr>
          </a:p>
          <a:p>
            <a:pPr marL="256540">
              <a:lnSpc>
                <a:spcPct val="100000"/>
              </a:lnSpc>
            </a:pPr>
            <a:r>
              <a:rPr sz="1550" b="1" spc="-20" dirty="0">
                <a:solidFill>
                  <a:srgbClr val="FFFFFF"/>
                </a:solidFill>
                <a:latin typeface="Cambria"/>
                <a:cs typeface="Cambria"/>
              </a:rPr>
              <a:t>Targeted</a:t>
            </a:r>
            <a:r>
              <a:rPr sz="1550" b="1" spc="-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550" b="1" spc="-10" dirty="0">
                <a:solidFill>
                  <a:srgbClr val="FFFFFF"/>
                </a:solidFill>
                <a:latin typeface="Cambria"/>
                <a:cs typeface="Cambria"/>
              </a:rPr>
              <a:t>Embedding</a:t>
            </a:r>
            <a:endParaRPr sz="155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520"/>
              </a:spcBef>
            </a:pPr>
            <a:endParaRPr sz="1550" dirty="0">
              <a:latin typeface="Cambria"/>
              <a:cs typeface="Cambria"/>
            </a:endParaRPr>
          </a:p>
          <a:p>
            <a:pPr marL="256540" marR="325120">
              <a:lnSpc>
                <a:spcPct val="117800"/>
              </a:lnSpc>
            </a:pPr>
            <a:r>
              <a:rPr sz="1150" dirty="0">
                <a:solidFill>
                  <a:srgbClr val="E3E9F7"/>
                </a:solidFill>
                <a:latin typeface="Calibri"/>
                <a:cs typeface="Calibri"/>
              </a:rPr>
              <a:t>These</a:t>
            </a:r>
            <a:r>
              <a:rPr sz="1150" spc="15" dirty="0">
                <a:solidFill>
                  <a:srgbClr val="E3E9F7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E3E9F7"/>
                </a:solidFill>
                <a:latin typeface="Calibri"/>
                <a:cs typeface="Calibri"/>
              </a:rPr>
              <a:t>preprocessing</a:t>
            </a:r>
            <a:r>
              <a:rPr sz="1150" dirty="0">
                <a:solidFill>
                  <a:srgbClr val="E3E9F7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E3E9F7"/>
                </a:solidFill>
                <a:latin typeface="Calibri"/>
                <a:cs typeface="Calibri"/>
              </a:rPr>
              <a:t>constraints</a:t>
            </a:r>
            <a:r>
              <a:rPr sz="1150" spc="15" dirty="0">
                <a:solidFill>
                  <a:srgbClr val="E3E9F7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E3E9F7"/>
                </a:solidFill>
                <a:latin typeface="Calibri"/>
                <a:cs typeface="Calibri"/>
              </a:rPr>
              <a:t>ensure</a:t>
            </a:r>
            <a:r>
              <a:rPr sz="1150" spc="-5" dirty="0">
                <a:solidFill>
                  <a:srgbClr val="E3E9F7"/>
                </a:solidFill>
                <a:latin typeface="Calibri"/>
                <a:cs typeface="Calibri"/>
              </a:rPr>
              <a:t> </a:t>
            </a:r>
            <a:r>
              <a:rPr sz="1150" spc="-25" dirty="0">
                <a:solidFill>
                  <a:srgbClr val="E3E9F7"/>
                </a:solidFill>
                <a:latin typeface="Calibri"/>
                <a:cs typeface="Calibri"/>
              </a:rPr>
              <a:t>the </a:t>
            </a:r>
            <a:r>
              <a:rPr sz="1150" dirty="0">
                <a:solidFill>
                  <a:srgbClr val="E3E9F7"/>
                </a:solidFill>
                <a:latin typeface="Calibri"/>
                <a:cs typeface="Calibri"/>
              </a:rPr>
              <a:t>Health</a:t>
            </a:r>
            <a:r>
              <a:rPr sz="1150" spc="-35" dirty="0">
                <a:solidFill>
                  <a:srgbClr val="E3E9F7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E3E9F7"/>
                </a:solidFill>
                <a:latin typeface="Calibri"/>
                <a:cs typeface="Calibri"/>
              </a:rPr>
              <a:t>Vector</a:t>
            </a:r>
            <a:r>
              <a:rPr sz="1150" spc="-20" dirty="0">
                <a:solidFill>
                  <a:srgbClr val="E3E9F7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E3E9F7"/>
                </a:solidFill>
                <a:latin typeface="Calibri"/>
                <a:cs typeface="Calibri"/>
              </a:rPr>
              <a:t>(Zh)</a:t>
            </a:r>
            <a:r>
              <a:rPr sz="1150" spc="-15" dirty="0">
                <a:solidFill>
                  <a:srgbClr val="E3E9F7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E3E9F7"/>
                </a:solidFill>
                <a:latin typeface="Calibri"/>
                <a:cs typeface="Calibri"/>
              </a:rPr>
              <a:t>focuses</a:t>
            </a:r>
            <a:r>
              <a:rPr sz="1150" spc="-20" dirty="0">
                <a:solidFill>
                  <a:srgbClr val="E3E9F7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E3E9F7"/>
                </a:solidFill>
                <a:latin typeface="Calibri"/>
                <a:cs typeface="Calibri"/>
              </a:rPr>
              <a:t>precisely</a:t>
            </a:r>
            <a:r>
              <a:rPr sz="1150" spc="-40" dirty="0">
                <a:solidFill>
                  <a:srgbClr val="E3E9F7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E3E9F7"/>
                </a:solidFill>
                <a:latin typeface="Calibri"/>
                <a:cs typeface="Calibri"/>
              </a:rPr>
              <a:t>on</a:t>
            </a:r>
            <a:r>
              <a:rPr sz="1150" spc="-30" dirty="0">
                <a:solidFill>
                  <a:srgbClr val="E3E9F7"/>
                </a:solidFill>
                <a:latin typeface="Calibri"/>
                <a:cs typeface="Calibri"/>
              </a:rPr>
              <a:t> </a:t>
            </a:r>
            <a:r>
              <a:rPr sz="1150" spc="-20" dirty="0">
                <a:solidFill>
                  <a:srgbClr val="E3E9F7"/>
                </a:solidFill>
                <a:latin typeface="Calibri"/>
                <a:cs typeface="Calibri"/>
              </a:rPr>
              <a:t>true </a:t>
            </a:r>
            <a:r>
              <a:rPr sz="1150" dirty="0">
                <a:solidFill>
                  <a:srgbClr val="E3E9F7"/>
                </a:solidFill>
                <a:latin typeface="Calibri"/>
                <a:cs typeface="Calibri"/>
              </a:rPr>
              <a:t>structural</a:t>
            </a:r>
            <a:r>
              <a:rPr sz="1150" spc="-30" dirty="0">
                <a:solidFill>
                  <a:srgbClr val="E3E9F7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E3E9F7"/>
                </a:solidFill>
                <a:latin typeface="Calibri"/>
                <a:cs typeface="Calibri"/>
              </a:rPr>
              <a:t>damage rather</a:t>
            </a:r>
            <a:r>
              <a:rPr sz="1150" spc="-20" dirty="0">
                <a:solidFill>
                  <a:srgbClr val="E3E9F7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E3E9F7"/>
                </a:solidFill>
                <a:latin typeface="Calibri"/>
                <a:cs typeface="Calibri"/>
              </a:rPr>
              <a:t>than</a:t>
            </a:r>
            <a:r>
              <a:rPr sz="1150" spc="-15" dirty="0">
                <a:solidFill>
                  <a:srgbClr val="E3E9F7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E3E9F7"/>
                </a:solidFill>
                <a:latin typeface="Calibri"/>
                <a:cs typeface="Calibri"/>
              </a:rPr>
              <a:t>operating-</a:t>
            </a:r>
            <a:r>
              <a:rPr sz="1150" spc="-20" dirty="0">
                <a:solidFill>
                  <a:srgbClr val="E3E9F7"/>
                </a:solidFill>
                <a:latin typeface="Calibri"/>
                <a:cs typeface="Calibri"/>
              </a:rPr>
              <a:t>speed </a:t>
            </a:r>
            <a:r>
              <a:rPr sz="1150" spc="-10" dirty="0">
                <a:solidFill>
                  <a:srgbClr val="E3E9F7"/>
                </a:solidFill>
                <a:latin typeface="Calibri"/>
                <a:cs typeface="Calibri"/>
              </a:rPr>
              <a:t>illusions.</a:t>
            </a:r>
            <a:endParaRPr sz="1150" dirty="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35940" y="6614566"/>
            <a:ext cx="1585595" cy="1473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10"/>
              </a:lnSpc>
            </a:pPr>
            <a:r>
              <a:rPr sz="950" dirty="0">
                <a:solidFill>
                  <a:srgbClr val="525A78"/>
                </a:solidFill>
                <a:latin typeface="Calibri"/>
                <a:cs typeface="Calibri"/>
              </a:rPr>
              <a:t>Part</a:t>
            </a:r>
            <a:r>
              <a:rPr sz="950" spc="-50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525A78"/>
                </a:solidFill>
                <a:latin typeface="Calibri"/>
                <a:cs typeface="Calibri"/>
              </a:rPr>
              <a:t>3</a:t>
            </a:r>
            <a:r>
              <a:rPr sz="950" spc="20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525A78"/>
                </a:solidFill>
                <a:latin typeface="Calibri"/>
                <a:cs typeface="Calibri"/>
              </a:rPr>
              <a:t>—</a:t>
            </a:r>
            <a:r>
              <a:rPr sz="950" spc="-20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525A78"/>
                </a:solidFill>
                <a:latin typeface="Calibri"/>
                <a:cs typeface="Calibri"/>
              </a:rPr>
              <a:t>Proposed</a:t>
            </a:r>
            <a:r>
              <a:rPr sz="950" spc="-45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525A78"/>
                </a:solidFill>
                <a:latin typeface="Calibri"/>
                <a:cs typeface="Calibri"/>
              </a:rPr>
              <a:t>Architecture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10"/>
              </a:lnSpc>
            </a:pPr>
            <a:r>
              <a:rPr spc="-25" dirty="0"/>
              <a:t>13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411556"/>
            <a:ext cx="1600835" cy="2019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50" b="1" spc="-10" dirty="0">
                <a:solidFill>
                  <a:srgbClr val="525A78"/>
                </a:solidFill>
                <a:latin typeface="Calibri"/>
                <a:cs typeface="Calibri"/>
              </a:rPr>
              <a:t>T</a:t>
            </a:r>
            <a:r>
              <a:rPr sz="1150" b="1" spc="-110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1150" b="1" spc="85" dirty="0">
                <a:solidFill>
                  <a:srgbClr val="525A78"/>
                </a:solidFill>
                <a:latin typeface="Calibri"/>
                <a:cs typeface="Calibri"/>
              </a:rPr>
              <a:t>RAI</a:t>
            </a:r>
            <a:r>
              <a:rPr sz="1150" b="1" spc="-114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1150" b="1" spc="-10" dirty="0">
                <a:solidFill>
                  <a:srgbClr val="525A78"/>
                </a:solidFill>
                <a:latin typeface="Calibri"/>
                <a:cs typeface="Calibri"/>
              </a:rPr>
              <a:t>N</a:t>
            </a:r>
            <a:r>
              <a:rPr sz="1150" b="1" spc="-105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1150" b="1" spc="-10" dirty="0">
                <a:solidFill>
                  <a:srgbClr val="525A78"/>
                </a:solidFill>
                <a:latin typeface="Calibri"/>
                <a:cs typeface="Calibri"/>
              </a:rPr>
              <a:t>I</a:t>
            </a:r>
            <a:r>
              <a:rPr sz="1150" b="1" spc="-114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1150" b="1" spc="-10" dirty="0">
                <a:solidFill>
                  <a:srgbClr val="525A78"/>
                </a:solidFill>
                <a:latin typeface="Calibri"/>
                <a:cs typeface="Calibri"/>
              </a:rPr>
              <a:t>N</a:t>
            </a:r>
            <a:r>
              <a:rPr sz="1150" b="1" spc="-105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1150" b="1" dirty="0">
                <a:solidFill>
                  <a:srgbClr val="525A78"/>
                </a:solidFill>
                <a:latin typeface="Calibri"/>
                <a:cs typeface="Calibri"/>
              </a:rPr>
              <a:t>G</a:t>
            </a:r>
            <a:r>
              <a:rPr sz="1150" b="1" spc="355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1150" b="1" dirty="0">
                <a:solidFill>
                  <a:srgbClr val="525A78"/>
                </a:solidFill>
                <a:latin typeface="Calibri"/>
                <a:cs typeface="Calibri"/>
              </a:rPr>
              <a:t>S</a:t>
            </a:r>
            <a:r>
              <a:rPr sz="1150" b="1" spc="-105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1150" b="1" spc="-10" dirty="0">
                <a:solidFill>
                  <a:srgbClr val="525A78"/>
                </a:solidFill>
                <a:latin typeface="Calibri"/>
                <a:cs typeface="Calibri"/>
              </a:rPr>
              <a:t>T</a:t>
            </a:r>
            <a:r>
              <a:rPr sz="1150" b="1" spc="-110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1150" b="1" spc="85" dirty="0">
                <a:solidFill>
                  <a:srgbClr val="525A78"/>
                </a:solidFill>
                <a:latin typeface="Calibri"/>
                <a:cs typeface="Calibri"/>
              </a:rPr>
              <a:t>RAT</a:t>
            </a:r>
            <a:r>
              <a:rPr sz="1150" b="1" spc="-105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1150" b="1" spc="60" dirty="0">
                <a:solidFill>
                  <a:srgbClr val="525A78"/>
                </a:solidFill>
                <a:latin typeface="Calibri"/>
                <a:cs typeface="Calibri"/>
              </a:rPr>
              <a:t>EG</a:t>
            </a:r>
            <a:r>
              <a:rPr sz="1150" b="1" spc="-110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1150" b="1" spc="-50" dirty="0">
                <a:solidFill>
                  <a:srgbClr val="525A78"/>
                </a:solidFill>
                <a:latin typeface="Calibri"/>
                <a:cs typeface="Calibri"/>
              </a:rPr>
              <a:t>Y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20" dirty="0"/>
              <a:t>Physics-</a:t>
            </a:r>
            <a:r>
              <a:rPr dirty="0"/>
              <a:t>Guided</a:t>
            </a:r>
            <a:r>
              <a:rPr spc="-75" dirty="0"/>
              <a:t> </a:t>
            </a:r>
            <a:r>
              <a:rPr dirty="0"/>
              <a:t>Loss</a:t>
            </a:r>
            <a:r>
              <a:rPr spc="-40" dirty="0"/>
              <a:t> </a:t>
            </a:r>
            <a:r>
              <a:rPr spc="-10" dirty="0"/>
              <a:t>Functions</a:t>
            </a:r>
          </a:p>
        </p:txBody>
      </p:sp>
      <p:sp>
        <p:nvSpPr>
          <p:cNvPr id="4" name="object 4"/>
          <p:cNvSpPr/>
          <p:nvPr/>
        </p:nvSpPr>
        <p:spPr>
          <a:xfrm>
            <a:off x="548640" y="1371600"/>
            <a:ext cx="11094720" cy="0"/>
          </a:xfrm>
          <a:custGeom>
            <a:avLst/>
            <a:gdLst/>
            <a:ahLst/>
            <a:cxnLst/>
            <a:rect l="l" t="t" r="r" b="b"/>
            <a:pathLst>
              <a:path w="11094720">
                <a:moveTo>
                  <a:pt x="0" y="0"/>
                </a:moveTo>
                <a:lnTo>
                  <a:pt x="11094719" y="0"/>
                </a:lnTo>
              </a:path>
            </a:pathLst>
          </a:custGeom>
          <a:ln w="12192">
            <a:solidFill>
              <a:srgbClr val="C4CCE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542544" y="1731264"/>
            <a:ext cx="5331460" cy="3395979"/>
            <a:chOff x="542544" y="1731264"/>
            <a:chExt cx="5331460" cy="3395979"/>
          </a:xfrm>
        </p:grpSpPr>
        <p:sp>
          <p:nvSpPr>
            <p:cNvPr id="6" name="object 6"/>
            <p:cNvSpPr/>
            <p:nvPr/>
          </p:nvSpPr>
          <p:spPr>
            <a:xfrm>
              <a:off x="548640" y="1737360"/>
              <a:ext cx="5318760" cy="3383279"/>
            </a:xfrm>
            <a:custGeom>
              <a:avLst/>
              <a:gdLst/>
              <a:ahLst/>
              <a:cxnLst/>
              <a:rect l="l" t="t" r="r" b="b"/>
              <a:pathLst>
                <a:path w="5318760" h="3383279">
                  <a:moveTo>
                    <a:pt x="5263896" y="0"/>
                  </a:moveTo>
                  <a:lnTo>
                    <a:pt x="54876" y="0"/>
                  </a:lnTo>
                  <a:lnTo>
                    <a:pt x="33513" y="4304"/>
                  </a:lnTo>
                  <a:lnTo>
                    <a:pt x="16070" y="16049"/>
                  </a:lnTo>
                  <a:lnTo>
                    <a:pt x="4311" y="33486"/>
                  </a:lnTo>
                  <a:lnTo>
                    <a:pt x="0" y="54863"/>
                  </a:lnTo>
                  <a:lnTo>
                    <a:pt x="0" y="3328416"/>
                  </a:lnTo>
                  <a:lnTo>
                    <a:pt x="4311" y="3349793"/>
                  </a:lnTo>
                  <a:lnTo>
                    <a:pt x="16070" y="3367230"/>
                  </a:lnTo>
                  <a:lnTo>
                    <a:pt x="33513" y="3378975"/>
                  </a:lnTo>
                  <a:lnTo>
                    <a:pt x="54876" y="3383279"/>
                  </a:lnTo>
                  <a:lnTo>
                    <a:pt x="5263896" y="3383279"/>
                  </a:lnTo>
                  <a:lnTo>
                    <a:pt x="5285273" y="3378975"/>
                  </a:lnTo>
                  <a:lnTo>
                    <a:pt x="5302710" y="3367230"/>
                  </a:lnTo>
                  <a:lnTo>
                    <a:pt x="5314455" y="3349793"/>
                  </a:lnTo>
                  <a:lnTo>
                    <a:pt x="5318760" y="3328416"/>
                  </a:lnTo>
                  <a:lnTo>
                    <a:pt x="5318760" y="54863"/>
                  </a:lnTo>
                  <a:lnTo>
                    <a:pt x="5314455" y="33486"/>
                  </a:lnTo>
                  <a:lnTo>
                    <a:pt x="5302710" y="16049"/>
                  </a:lnTo>
                  <a:lnTo>
                    <a:pt x="5285273" y="4304"/>
                  </a:lnTo>
                  <a:lnTo>
                    <a:pt x="5263896" y="0"/>
                  </a:lnTo>
                  <a:close/>
                </a:path>
              </a:pathLst>
            </a:custGeom>
            <a:solidFill>
              <a:srgbClr val="F4F6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48640" y="1737360"/>
              <a:ext cx="5318760" cy="3383279"/>
            </a:xfrm>
            <a:custGeom>
              <a:avLst/>
              <a:gdLst/>
              <a:ahLst/>
              <a:cxnLst/>
              <a:rect l="l" t="t" r="r" b="b"/>
              <a:pathLst>
                <a:path w="5318760" h="3383279">
                  <a:moveTo>
                    <a:pt x="0" y="54863"/>
                  </a:moveTo>
                  <a:lnTo>
                    <a:pt x="4311" y="33486"/>
                  </a:lnTo>
                  <a:lnTo>
                    <a:pt x="16070" y="16049"/>
                  </a:lnTo>
                  <a:lnTo>
                    <a:pt x="33513" y="4304"/>
                  </a:lnTo>
                  <a:lnTo>
                    <a:pt x="54876" y="0"/>
                  </a:lnTo>
                  <a:lnTo>
                    <a:pt x="5263896" y="0"/>
                  </a:lnTo>
                  <a:lnTo>
                    <a:pt x="5285273" y="4304"/>
                  </a:lnTo>
                  <a:lnTo>
                    <a:pt x="5302710" y="16049"/>
                  </a:lnTo>
                  <a:lnTo>
                    <a:pt x="5314455" y="33486"/>
                  </a:lnTo>
                  <a:lnTo>
                    <a:pt x="5318760" y="54863"/>
                  </a:lnTo>
                  <a:lnTo>
                    <a:pt x="5318760" y="3328416"/>
                  </a:lnTo>
                  <a:lnTo>
                    <a:pt x="5314455" y="3349793"/>
                  </a:lnTo>
                  <a:lnTo>
                    <a:pt x="5302710" y="3367230"/>
                  </a:lnTo>
                  <a:lnTo>
                    <a:pt x="5285273" y="3378975"/>
                  </a:lnTo>
                  <a:lnTo>
                    <a:pt x="5263896" y="3383279"/>
                  </a:lnTo>
                  <a:lnTo>
                    <a:pt x="54876" y="3383279"/>
                  </a:lnTo>
                  <a:lnTo>
                    <a:pt x="33513" y="3378975"/>
                  </a:lnTo>
                  <a:lnTo>
                    <a:pt x="16070" y="3367230"/>
                  </a:lnTo>
                  <a:lnTo>
                    <a:pt x="4311" y="3349793"/>
                  </a:lnTo>
                  <a:lnTo>
                    <a:pt x="0" y="3328416"/>
                  </a:lnTo>
                  <a:lnTo>
                    <a:pt x="0" y="54863"/>
                  </a:lnTo>
                  <a:close/>
                </a:path>
              </a:pathLst>
            </a:custGeom>
            <a:ln w="12192">
              <a:solidFill>
                <a:srgbClr val="D6DE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48640" y="1737360"/>
            <a:ext cx="5318760" cy="33832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80"/>
              </a:spcBef>
            </a:pPr>
            <a:endParaRPr sz="1050">
              <a:latin typeface="Times New Roman"/>
              <a:cs typeface="Times New Roman"/>
            </a:endParaRPr>
          </a:p>
          <a:p>
            <a:pPr marL="320040">
              <a:lnSpc>
                <a:spcPct val="100000"/>
              </a:lnSpc>
            </a:pPr>
            <a:r>
              <a:rPr sz="1050" b="1" spc="105" dirty="0">
                <a:solidFill>
                  <a:srgbClr val="525A78"/>
                </a:solidFill>
                <a:latin typeface="Calibri"/>
                <a:cs typeface="Calibri"/>
              </a:rPr>
              <a:t>CONSTRAINT</a:t>
            </a:r>
            <a:r>
              <a:rPr sz="1050" b="1" spc="204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1050" b="1" spc="-50" dirty="0">
                <a:solidFill>
                  <a:srgbClr val="525A78"/>
                </a:solidFill>
                <a:latin typeface="Calibri"/>
                <a:cs typeface="Calibri"/>
              </a:rPr>
              <a:t>1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45"/>
              </a:spcBef>
            </a:pPr>
            <a:endParaRPr sz="1050">
              <a:latin typeface="Calibri"/>
              <a:cs typeface="Calibri"/>
            </a:endParaRPr>
          </a:p>
          <a:p>
            <a:pPr marL="320040">
              <a:lnSpc>
                <a:spcPct val="100000"/>
              </a:lnSpc>
            </a:pPr>
            <a:r>
              <a:rPr sz="1800" b="1" spc="-10" dirty="0">
                <a:solidFill>
                  <a:srgbClr val="1E2760"/>
                </a:solidFill>
                <a:latin typeface="Cambria"/>
                <a:cs typeface="Cambria"/>
              </a:rPr>
              <a:t>Predictable</a:t>
            </a:r>
            <a:r>
              <a:rPr sz="1800" b="1" spc="-35" dirty="0">
                <a:solidFill>
                  <a:srgbClr val="1E2760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1E2760"/>
                </a:solidFill>
                <a:latin typeface="Cambria"/>
                <a:cs typeface="Cambria"/>
              </a:rPr>
              <a:t>Noise</a:t>
            </a:r>
            <a:r>
              <a:rPr sz="1800" b="1" spc="-10" dirty="0">
                <a:solidFill>
                  <a:srgbClr val="1E2760"/>
                </a:solidFill>
                <a:latin typeface="Cambria"/>
                <a:cs typeface="Cambria"/>
              </a:rPr>
              <a:t> Filtration</a:t>
            </a:r>
            <a:endParaRPr sz="1800">
              <a:latin typeface="Cambria"/>
              <a:cs typeface="Cambria"/>
            </a:endParaRPr>
          </a:p>
          <a:p>
            <a:pPr>
              <a:lnSpc>
                <a:spcPct val="100000"/>
              </a:lnSpc>
            </a:pPr>
            <a:endParaRPr sz="1800">
              <a:latin typeface="Cambria"/>
              <a:cs typeface="Cambria"/>
            </a:endParaRPr>
          </a:p>
          <a:p>
            <a:pPr>
              <a:lnSpc>
                <a:spcPct val="100000"/>
              </a:lnSpc>
            </a:pPr>
            <a:endParaRPr sz="18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1800">
              <a:latin typeface="Cambria"/>
              <a:cs typeface="Cambria"/>
            </a:endParaRPr>
          </a:p>
          <a:p>
            <a:pPr marL="320040" marR="710565">
              <a:lnSpc>
                <a:spcPct val="124700"/>
              </a:lnSpc>
            </a:pP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Zh</a:t>
            </a:r>
            <a:r>
              <a:rPr sz="1300" spc="-1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will</a:t>
            </a:r>
            <a:r>
              <a:rPr sz="1300" spc="-3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be</a:t>
            </a:r>
            <a:r>
              <a:rPr sz="1300" spc="-2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governed</a:t>
            </a:r>
            <a:r>
              <a:rPr sz="1300" spc="3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by</a:t>
            </a:r>
            <a:r>
              <a:rPr sz="1300" spc="-3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12846"/>
                </a:solidFill>
                <a:latin typeface="Calibri"/>
                <a:cs typeface="Calibri"/>
              </a:rPr>
              <a:t>physics-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based</a:t>
            </a:r>
            <a:r>
              <a:rPr sz="1300" spc="5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12846"/>
                </a:solidFill>
                <a:latin typeface="Calibri"/>
                <a:cs typeface="Calibri"/>
              </a:rPr>
              <a:t>constraints</a:t>
            </a:r>
            <a:r>
              <a:rPr sz="1300" spc="5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within</a:t>
            </a:r>
            <a:r>
              <a:rPr sz="1300" spc="-1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the </a:t>
            </a:r>
            <a:r>
              <a:rPr sz="1300" spc="-20" dirty="0">
                <a:solidFill>
                  <a:srgbClr val="212846"/>
                </a:solidFill>
                <a:latin typeface="Calibri"/>
                <a:cs typeface="Calibri"/>
              </a:rPr>
              <a:t>loss 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function</a:t>
            </a:r>
            <a:r>
              <a:rPr sz="1300" spc="-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itself</a:t>
            </a:r>
            <a:r>
              <a:rPr sz="1300" spc="-2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—</a:t>
            </a:r>
            <a:r>
              <a:rPr sz="1300" spc="-5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including</a:t>
            </a:r>
            <a:r>
              <a:rPr sz="1300" spc="1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spectral</a:t>
            </a:r>
            <a:r>
              <a:rPr sz="1300" spc="-4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12846"/>
                </a:solidFill>
                <a:latin typeface="Calibri"/>
                <a:cs typeface="Calibri"/>
              </a:rPr>
              <a:t>envelopes</a:t>
            </a:r>
            <a:r>
              <a:rPr sz="1300" spc="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for</a:t>
            </a:r>
            <a:r>
              <a:rPr sz="1300" spc="-3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specific</a:t>
            </a:r>
            <a:r>
              <a:rPr sz="1300" spc="-1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12846"/>
                </a:solidFill>
                <a:latin typeface="Calibri"/>
                <a:cs typeface="Calibri"/>
              </a:rPr>
              <a:t>fault frequencies</a:t>
            </a:r>
            <a:r>
              <a:rPr sz="1300" spc="2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(e.g.</a:t>
            </a:r>
            <a:r>
              <a:rPr sz="1300" spc="-3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BPFO,</a:t>
            </a:r>
            <a:r>
              <a:rPr sz="1300" spc="-4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12846"/>
                </a:solidFill>
                <a:latin typeface="Calibri"/>
                <a:cs typeface="Calibri"/>
              </a:rPr>
              <a:t>ball-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pass frequency</a:t>
            </a:r>
            <a:r>
              <a:rPr sz="1300" spc="2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of</a:t>
            </a:r>
            <a:r>
              <a:rPr sz="1300" spc="-4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the</a:t>
            </a:r>
            <a:r>
              <a:rPr sz="1300" spc="-1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outer</a:t>
            </a:r>
            <a:r>
              <a:rPr sz="1300" spc="-1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12846"/>
                </a:solidFill>
                <a:latin typeface="Calibri"/>
                <a:cs typeface="Calibri"/>
              </a:rPr>
              <a:t>race).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318503" y="1731264"/>
            <a:ext cx="5331460" cy="3395979"/>
            <a:chOff x="6318503" y="1731264"/>
            <a:chExt cx="5331460" cy="3395979"/>
          </a:xfrm>
        </p:grpSpPr>
        <p:sp>
          <p:nvSpPr>
            <p:cNvPr id="10" name="object 10"/>
            <p:cNvSpPr/>
            <p:nvPr/>
          </p:nvSpPr>
          <p:spPr>
            <a:xfrm>
              <a:off x="6324599" y="1737360"/>
              <a:ext cx="5318760" cy="3383279"/>
            </a:xfrm>
            <a:custGeom>
              <a:avLst/>
              <a:gdLst/>
              <a:ahLst/>
              <a:cxnLst/>
              <a:rect l="l" t="t" r="r" b="b"/>
              <a:pathLst>
                <a:path w="5318759" h="3383279">
                  <a:moveTo>
                    <a:pt x="5263896" y="0"/>
                  </a:moveTo>
                  <a:lnTo>
                    <a:pt x="54863" y="0"/>
                  </a:lnTo>
                  <a:lnTo>
                    <a:pt x="33486" y="4304"/>
                  </a:lnTo>
                  <a:lnTo>
                    <a:pt x="16049" y="16049"/>
                  </a:lnTo>
                  <a:lnTo>
                    <a:pt x="4304" y="33486"/>
                  </a:lnTo>
                  <a:lnTo>
                    <a:pt x="0" y="54863"/>
                  </a:lnTo>
                  <a:lnTo>
                    <a:pt x="0" y="3328416"/>
                  </a:lnTo>
                  <a:lnTo>
                    <a:pt x="4304" y="3349793"/>
                  </a:lnTo>
                  <a:lnTo>
                    <a:pt x="16049" y="3367230"/>
                  </a:lnTo>
                  <a:lnTo>
                    <a:pt x="33486" y="3378975"/>
                  </a:lnTo>
                  <a:lnTo>
                    <a:pt x="54863" y="3383279"/>
                  </a:lnTo>
                  <a:lnTo>
                    <a:pt x="5263896" y="3383279"/>
                  </a:lnTo>
                  <a:lnTo>
                    <a:pt x="5285273" y="3378975"/>
                  </a:lnTo>
                  <a:lnTo>
                    <a:pt x="5302710" y="3367230"/>
                  </a:lnTo>
                  <a:lnTo>
                    <a:pt x="5314455" y="3349793"/>
                  </a:lnTo>
                  <a:lnTo>
                    <a:pt x="5318759" y="3328416"/>
                  </a:lnTo>
                  <a:lnTo>
                    <a:pt x="5318759" y="54863"/>
                  </a:lnTo>
                  <a:lnTo>
                    <a:pt x="5314455" y="33486"/>
                  </a:lnTo>
                  <a:lnTo>
                    <a:pt x="5302710" y="16049"/>
                  </a:lnTo>
                  <a:lnTo>
                    <a:pt x="5285273" y="4304"/>
                  </a:lnTo>
                  <a:lnTo>
                    <a:pt x="5263896" y="0"/>
                  </a:lnTo>
                  <a:close/>
                </a:path>
              </a:pathLst>
            </a:custGeom>
            <a:solidFill>
              <a:srgbClr val="F4F6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324599" y="1737360"/>
              <a:ext cx="5318760" cy="3383279"/>
            </a:xfrm>
            <a:custGeom>
              <a:avLst/>
              <a:gdLst/>
              <a:ahLst/>
              <a:cxnLst/>
              <a:rect l="l" t="t" r="r" b="b"/>
              <a:pathLst>
                <a:path w="5318759" h="3383279">
                  <a:moveTo>
                    <a:pt x="0" y="54863"/>
                  </a:moveTo>
                  <a:lnTo>
                    <a:pt x="4304" y="33486"/>
                  </a:lnTo>
                  <a:lnTo>
                    <a:pt x="16049" y="16049"/>
                  </a:lnTo>
                  <a:lnTo>
                    <a:pt x="33486" y="4304"/>
                  </a:lnTo>
                  <a:lnTo>
                    <a:pt x="54863" y="0"/>
                  </a:lnTo>
                  <a:lnTo>
                    <a:pt x="5263896" y="0"/>
                  </a:lnTo>
                  <a:lnTo>
                    <a:pt x="5285273" y="4304"/>
                  </a:lnTo>
                  <a:lnTo>
                    <a:pt x="5302710" y="16049"/>
                  </a:lnTo>
                  <a:lnTo>
                    <a:pt x="5314455" y="33486"/>
                  </a:lnTo>
                  <a:lnTo>
                    <a:pt x="5318759" y="54863"/>
                  </a:lnTo>
                  <a:lnTo>
                    <a:pt x="5318759" y="3328416"/>
                  </a:lnTo>
                  <a:lnTo>
                    <a:pt x="5314455" y="3349793"/>
                  </a:lnTo>
                  <a:lnTo>
                    <a:pt x="5302710" y="3367230"/>
                  </a:lnTo>
                  <a:lnTo>
                    <a:pt x="5285273" y="3378975"/>
                  </a:lnTo>
                  <a:lnTo>
                    <a:pt x="5263896" y="3383279"/>
                  </a:lnTo>
                  <a:lnTo>
                    <a:pt x="54863" y="3383279"/>
                  </a:lnTo>
                  <a:lnTo>
                    <a:pt x="33486" y="3378975"/>
                  </a:lnTo>
                  <a:lnTo>
                    <a:pt x="16049" y="3367230"/>
                  </a:lnTo>
                  <a:lnTo>
                    <a:pt x="4304" y="3349793"/>
                  </a:lnTo>
                  <a:lnTo>
                    <a:pt x="0" y="3328416"/>
                  </a:lnTo>
                  <a:lnTo>
                    <a:pt x="0" y="54863"/>
                  </a:lnTo>
                  <a:close/>
                </a:path>
              </a:pathLst>
            </a:custGeom>
            <a:ln w="12192">
              <a:solidFill>
                <a:srgbClr val="D6DE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6324600" y="1737360"/>
            <a:ext cx="5318760" cy="33832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80"/>
              </a:spcBef>
            </a:pPr>
            <a:endParaRPr sz="1050">
              <a:latin typeface="Times New Roman"/>
              <a:cs typeface="Times New Roman"/>
            </a:endParaRPr>
          </a:p>
          <a:p>
            <a:pPr marL="321310">
              <a:lnSpc>
                <a:spcPct val="100000"/>
              </a:lnSpc>
            </a:pPr>
            <a:r>
              <a:rPr sz="1050" b="1" spc="105" dirty="0">
                <a:solidFill>
                  <a:srgbClr val="525A78"/>
                </a:solidFill>
                <a:latin typeface="Calibri"/>
                <a:cs typeface="Calibri"/>
              </a:rPr>
              <a:t>CONSTRAINT</a:t>
            </a:r>
            <a:r>
              <a:rPr sz="1050" b="1" spc="204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1050" b="1" spc="-50" dirty="0">
                <a:solidFill>
                  <a:srgbClr val="525A78"/>
                </a:solidFill>
                <a:latin typeface="Calibri"/>
                <a:cs typeface="Calibri"/>
              </a:rPr>
              <a:t>2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45"/>
              </a:spcBef>
            </a:pPr>
            <a:endParaRPr sz="1050">
              <a:latin typeface="Calibri"/>
              <a:cs typeface="Calibri"/>
            </a:endParaRPr>
          </a:p>
          <a:p>
            <a:pPr marL="321310">
              <a:lnSpc>
                <a:spcPct val="100000"/>
              </a:lnSpc>
            </a:pPr>
            <a:r>
              <a:rPr sz="1800" b="1" spc="-10" dirty="0">
                <a:solidFill>
                  <a:srgbClr val="1E2760"/>
                </a:solidFill>
                <a:latin typeface="Cambria"/>
                <a:cs typeface="Cambria"/>
              </a:rPr>
              <a:t>Transient</a:t>
            </a:r>
            <a:r>
              <a:rPr sz="1800" b="1" spc="-70" dirty="0">
                <a:solidFill>
                  <a:srgbClr val="1E2760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1E2760"/>
                </a:solidFill>
                <a:latin typeface="Cambria"/>
                <a:cs typeface="Cambria"/>
              </a:rPr>
              <a:t>Energy</a:t>
            </a:r>
            <a:r>
              <a:rPr sz="1800" b="1" spc="-75" dirty="0">
                <a:solidFill>
                  <a:srgbClr val="1E2760"/>
                </a:solidFill>
                <a:latin typeface="Cambria"/>
                <a:cs typeface="Cambria"/>
              </a:rPr>
              <a:t> </a:t>
            </a:r>
            <a:r>
              <a:rPr sz="1800" b="1" spc="-20" dirty="0">
                <a:solidFill>
                  <a:srgbClr val="1E2760"/>
                </a:solidFill>
                <a:latin typeface="Cambria"/>
                <a:cs typeface="Cambria"/>
              </a:rPr>
              <a:t>Loss</a:t>
            </a:r>
            <a:endParaRPr sz="1800">
              <a:latin typeface="Cambria"/>
              <a:cs typeface="Cambria"/>
            </a:endParaRPr>
          </a:p>
          <a:p>
            <a:pPr>
              <a:lnSpc>
                <a:spcPct val="100000"/>
              </a:lnSpc>
            </a:pPr>
            <a:endParaRPr sz="18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200"/>
              </a:spcBef>
            </a:pPr>
            <a:endParaRPr sz="1800">
              <a:latin typeface="Cambria"/>
              <a:cs typeface="Cambria"/>
            </a:endParaRPr>
          </a:p>
          <a:p>
            <a:pPr marL="321310" marR="639445">
              <a:lnSpc>
                <a:spcPct val="125200"/>
              </a:lnSpc>
            </a:pP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We</a:t>
            </a:r>
            <a:r>
              <a:rPr sz="1300" spc="-4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will</a:t>
            </a:r>
            <a:r>
              <a:rPr sz="1300" spc="-2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12846"/>
                </a:solidFill>
                <a:latin typeface="Calibri"/>
                <a:cs typeface="Calibri"/>
              </a:rPr>
              <a:t>experiment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 with</a:t>
            </a:r>
            <a:r>
              <a:rPr sz="1300" spc="-3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12846"/>
                </a:solidFill>
                <a:latin typeface="Calibri"/>
                <a:cs typeface="Calibri"/>
              </a:rPr>
              <a:t>custom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 loss functions</a:t>
            </a:r>
            <a:r>
              <a:rPr sz="1300" spc="2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that </a:t>
            </a:r>
            <a:r>
              <a:rPr sz="1300" spc="-10" dirty="0">
                <a:solidFill>
                  <a:srgbClr val="212846"/>
                </a:solidFill>
                <a:latin typeface="Calibri"/>
                <a:cs typeface="Calibri"/>
              </a:rPr>
              <a:t>force</a:t>
            </a:r>
            <a:r>
              <a:rPr sz="1300" spc="-3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a</a:t>
            </a:r>
            <a:r>
              <a:rPr sz="1300" spc="-3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12846"/>
                </a:solidFill>
                <a:latin typeface="Calibri"/>
                <a:cs typeface="Calibri"/>
              </a:rPr>
              <a:t>1D 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network</a:t>
            </a:r>
            <a:r>
              <a:rPr sz="1300" spc="-3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to</a:t>
            </a:r>
            <a:r>
              <a:rPr sz="1300" spc="-3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focus on</a:t>
            </a:r>
            <a:r>
              <a:rPr sz="1300" spc="-5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12846"/>
                </a:solidFill>
                <a:latin typeface="Calibri"/>
                <a:cs typeface="Calibri"/>
              </a:rPr>
              <a:t>transient</a:t>
            </a:r>
            <a:r>
              <a:rPr sz="1300" spc="2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impacts</a:t>
            </a:r>
            <a:r>
              <a:rPr sz="1300" spc="-2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and</a:t>
            </a:r>
            <a:r>
              <a:rPr sz="1300" spc="-2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energy</a:t>
            </a:r>
            <a:r>
              <a:rPr sz="1300" spc="-3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12846"/>
                </a:solidFill>
                <a:latin typeface="Calibri"/>
                <a:cs typeface="Calibri"/>
              </a:rPr>
              <a:t>distribution</a:t>
            </a:r>
            <a:r>
              <a:rPr sz="1300" spc="5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spc="-50" dirty="0">
                <a:solidFill>
                  <a:srgbClr val="212846"/>
                </a:solidFill>
                <a:latin typeface="Calibri"/>
                <a:cs typeface="Calibri"/>
              </a:rPr>
              <a:t>— 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capturing the</a:t>
            </a:r>
            <a:r>
              <a:rPr sz="1300" spc="-2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benefits of</a:t>
            </a:r>
            <a:r>
              <a:rPr sz="1300" spc="-2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STFT</a:t>
            </a:r>
            <a:r>
              <a:rPr sz="1300" spc="-4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/</a:t>
            </a:r>
            <a:r>
              <a:rPr sz="1300" spc="-2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CWT</a:t>
            </a:r>
            <a:r>
              <a:rPr sz="1300" spc="-4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without</a:t>
            </a:r>
            <a:r>
              <a:rPr sz="1300" spc="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the</a:t>
            </a:r>
            <a:r>
              <a:rPr sz="1300" spc="-2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12846"/>
                </a:solidFill>
                <a:latin typeface="Calibri"/>
                <a:cs typeface="Calibri"/>
              </a:rPr>
              <a:t>computational 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bloat</a:t>
            </a:r>
            <a:r>
              <a:rPr sz="1300" spc="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of</a:t>
            </a:r>
            <a:r>
              <a:rPr sz="1300" spc="-2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full</a:t>
            </a:r>
            <a:r>
              <a:rPr sz="1300" spc="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2D</a:t>
            </a:r>
            <a:r>
              <a:rPr sz="1300" spc="-3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12846"/>
                </a:solidFill>
                <a:latin typeface="Calibri"/>
                <a:cs typeface="Calibri"/>
              </a:rPr>
              <a:t>image</a:t>
            </a:r>
            <a:r>
              <a:rPr sz="1300" spc="-10" dirty="0">
                <a:solidFill>
                  <a:srgbClr val="212846"/>
                </a:solidFill>
                <a:latin typeface="Calibri"/>
                <a:cs typeface="Calibri"/>
              </a:rPr>
              <a:t> conversion.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35940" y="6614566"/>
            <a:ext cx="1585595" cy="1473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10"/>
              </a:lnSpc>
            </a:pPr>
            <a:r>
              <a:rPr sz="950" dirty="0">
                <a:solidFill>
                  <a:srgbClr val="525A78"/>
                </a:solidFill>
                <a:latin typeface="Calibri"/>
                <a:cs typeface="Calibri"/>
              </a:rPr>
              <a:t>Part</a:t>
            </a:r>
            <a:r>
              <a:rPr sz="950" spc="-50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525A78"/>
                </a:solidFill>
                <a:latin typeface="Calibri"/>
                <a:cs typeface="Calibri"/>
              </a:rPr>
              <a:t>3</a:t>
            </a:r>
            <a:r>
              <a:rPr sz="950" spc="20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525A78"/>
                </a:solidFill>
                <a:latin typeface="Calibri"/>
                <a:cs typeface="Calibri"/>
              </a:rPr>
              <a:t>—</a:t>
            </a:r>
            <a:r>
              <a:rPr sz="950" spc="-20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525A78"/>
                </a:solidFill>
                <a:latin typeface="Calibri"/>
                <a:cs typeface="Calibri"/>
              </a:rPr>
              <a:t>Proposed</a:t>
            </a:r>
            <a:r>
              <a:rPr sz="950" spc="-45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525A78"/>
                </a:solidFill>
                <a:latin typeface="Calibri"/>
                <a:cs typeface="Calibri"/>
              </a:rPr>
              <a:t>Architecture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10"/>
              </a:lnSpc>
            </a:pPr>
            <a:r>
              <a:rPr spc="-25" dirty="0"/>
              <a:t>14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411556"/>
            <a:ext cx="790575" cy="2019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50" b="1" spc="100" dirty="0">
                <a:solidFill>
                  <a:srgbClr val="525A78"/>
                </a:solidFill>
                <a:latin typeface="Calibri"/>
                <a:cs typeface="Calibri"/>
              </a:rPr>
              <a:t>ROADMAP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Validation</a:t>
            </a:r>
            <a:r>
              <a:rPr spc="-70" dirty="0"/>
              <a:t> </a:t>
            </a:r>
            <a:r>
              <a:rPr dirty="0"/>
              <a:t>&amp;</a:t>
            </a:r>
            <a:r>
              <a:rPr spc="-60" dirty="0"/>
              <a:t> </a:t>
            </a:r>
            <a:r>
              <a:rPr dirty="0"/>
              <a:t>Next</a:t>
            </a:r>
            <a:r>
              <a:rPr spc="-70" dirty="0"/>
              <a:t> </a:t>
            </a:r>
            <a:r>
              <a:rPr spc="-10" dirty="0"/>
              <a:t>Steps</a:t>
            </a:r>
          </a:p>
        </p:txBody>
      </p:sp>
      <p:sp>
        <p:nvSpPr>
          <p:cNvPr id="4" name="object 4"/>
          <p:cNvSpPr/>
          <p:nvPr/>
        </p:nvSpPr>
        <p:spPr>
          <a:xfrm>
            <a:off x="548640" y="1371600"/>
            <a:ext cx="11094720" cy="0"/>
          </a:xfrm>
          <a:custGeom>
            <a:avLst/>
            <a:gdLst/>
            <a:ahLst/>
            <a:cxnLst/>
            <a:rect l="l" t="t" r="r" b="b"/>
            <a:pathLst>
              <a:path w="11094720">
                <a:moveTo>
                  <a:pt x="0" y="0"/>
                </a:moveTo>
                <a:lnTo>
                  <a:pt x="11094719" y="0"/>
                </a:lnTo>
              </a:path>
            </a:pathLst>
          </a:custGeom>
          <a:ln w="12192">
            <a:solidFill>
              <a:srgbClr val="C4CCE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48640" y="1645920"/>
            <a:ext cx="55244" cy="777240"/>
          </a:xfrm>
          <a:custGeom>
            <a:avLst/>
            <a:gdLst/>
            <a:ahLst/>
            <a:cxnLst/>
            <a:rect l="l" t="t" r="r" b="b"/>
            <a:pathLst>
              <a:path w="55245" h="777239">
                <a:moveTo>
                  <a:pt x="54864" y="0"/>
                </a:moveTo>
                <a:lnTo>
                  <a:pt x="0" y="0"/>
                </a:lnTo>
                <a:lnTo>
                  <a:pt x="0" y="777239"/>
                </a:lnTo>
                <a:lnTo>
                  <a:pt x="54864" y="777239"/>
                </a:lnTo>
                <a:lnTo>
                  <a:pt x="54864" y="0"/>
                </a:lnTo>
                <a:close/>
              </a:path>
            </a:pathLst>
          </a:custGeom>
          <a:solidFill>
            <a:srgbClr val="C9DCF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810564" y="1618868"/>
            <a:ext cx="354965" cy="3619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00" b="1" spc="-25" dirty="0">
                <a:solidFill>
                  <a:srgbClr val="C9DCFB"/>
                </a:solidFill>
                <a:latin typeface="Cambria"/>
                <a:cs typeface="Cambria"/>
              </a:rPr>
              <a:t>01</a:t>
            </a:r>
            <a:endParaRPr sz="22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33473" y="1513525"/>
            <a:ext cx="7116445" cy="653415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600" b="1" spc="-10" dirty="0">
                <a:solidFill>
                  <a:srgbClr val="1E2760"/>
                </a:solidFill>
                <a:latin typeface="Cambria"/>
                <a:cs typeface="Cambria"/>
              </a:rPr>
              <a:t>Research</a:t>
            </a:r>
            <a:r>
              <a:rPr sz="1600" b="1" spc="-30" dirty="0">
                <a:solidFill>
                  <a:srgbClr val="1E2760"/>
                </a:solidFill>
                <a:latin typeface="Cambria"/>
                <a:cs typeface="Cambria"/>
              </a:rPr>
              <a:t> </a:t>
            </a:r>
            <a:r>
              <a:rPr sz="1600" b="1" spc="-20" dirty="0">
                <a:solidFill>
                  <a:srgbClr val="1E2760"/>
                </a:solidFill>
                <a:latin typeface="Cambria"/>
                <a:cs typeface="Cambria"/>
              </a:rPr>
              <a:t>Focus</a:t>
            </a:r>
            <a:endParaRPr sz="16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Extensive</a:t>
            </a:r>
            <a:r>
              <a:rPr sz="1250" spc="1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212846"/>
                </a:solidFill>
                <a:latin typeface="Calibri"/>
                <a:cs typeface="Calibri"/>
              </a:rPr>
              <a:t>parallel</a:t>
            </a:r>
            <a:r>
              <a:rPr sz="1250" spc="-4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212846"/>
                </a:solidFill>
                <a:latin typeface="Calibri"/>
                <a:cs typeface="Calibri"/>
              </a:rPr>
              <a:t>experimentation</a:t>
            </a:r>
            <a:r>
              <a:rPr sz="1250" spc="-1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to</a:t>
            </a:r>
            <a:r>
              <a:rPr sz="1250" spc="-3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find</a:t>
            </a:r>
            <a:r>
              <a:rPr sz="1250" spc="-1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the</a:t>
            </a:r>
            <a:r>
              <a:rPr sz="1250" spc="-4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optimal</a:t>
            </a:r>
            <a:r>
              <a:rPr sz="1250" spc="-2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embedding</a:t>
            </a:r>
            <a:r>
              <a:rPr sz="1250" spc="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method</a:t>
            </a:r>
            <a:r>
              <a:rPr sz="1250" spc="-3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for</a:t>
            </a:r>
            <a:r>
              <a:rPr sz="1250" spc="-2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212846"/>
                </a:solidFill>
                <a:latin typeface="Calibri"/>
                <a:cs typeface="Calibri"/>
              </a:rPr>
              <a:t>extracting</a:t>
            </a:r>
            <a:r>
              <a:rPr sz="1250" spc="-3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and</a:t>
            </a:r>
            <a:r>
              <a:rPr sz="1250" spc="-1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fusing</a:t>
            </a:r>
            <a:r>
              <a:rPr sz="1250" spc="-1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Zh</a:t>
            </a:r>
            <a:r>
              <a:rPr sz="1250" spc="-2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and</a:t>
            </a:r>
            <a:r>
              <a:rPr sz="1250" spc="-3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spc="-25" dirty="0">
                <a:solidFill>
                  <a:srgbClr val="212846"/>
                </a:solidFill>
                <a:latin typeface="Calibri"/>
                <a:cs typeface="Calibri"/>
              </a:rPr>
              <a:t>Zc.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48640" y="2560320"/>
            <a:ext cx="55244" cy="1874520"/>
          </a:xfrm>
          <a:custGeom>
            <a:avLst/>
            <a:gdLst/>
            <a:ahLst/>
            <a:cxnLst/>
            <a:rect l="l" t="t" r="r" b="b"/>
            <a:pathLst>
              <a:path w="55245" h="1874520">
                <a:moveTo>
                  <a:pt x="54864" y="0"/>
                </a:moveTo>
                <a:lnTo>
                  <a:pt x="0" y="0"/>
                </a:lnTo>
                <a:lnTo>
                  <a:pt x="0" y="1874519"/>
                </a:lnTo>
                <a:lnTo>
                  <a:pt x="54864" y="1874519"/>
                </a:lnTo>
                <a:lnTo>
                  <a:pt x="54864" y="0"/>
                </a:lnTo>
                <a:close/>
              </a:path>
            </a:pathLst>
          </a:custGeom>
          <a:solidFill>
            <a:srgbClr val="C9DCF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810564" y="2533344"/>
            <a:ext cx="354965" cy="3625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200" b="1" spc="-25" dirty="0">
                <a:solidFill>
                  <a:srgbClr val="C9DCFB"/>
                </a:solidFill>
                <a:latin typeface="Cambria"/>
                <a:cs typeface="Cambria"/>
              </a:rPr>
              <a:t>02</a:t>
            </a:r>
            <a:endParaRPr sz="220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33473" y="2427979"/>
            <a:ext cx="6577965" cy="1852430"/>
          </a:xfrm>
          <a:prstGeom prst="rect">
            <a:avLst/>
          </a:prstGeom>
        </p:spPr>
        <p:txBody>
          <a:bodyPr vert="horz" wrap="square" lIns="0" tIns="1225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65"/>
              </a:spcBef>
            </a:pPr>
            <a:r>
              <a:rPr sz="1600" b="1" spc="-10" dirty="0">
                <a:solidFill>
                  <a:srgbClr val="1E2760"/>
                </a:solidFill>
                <a:latin typeface="Cambria"/>
                <a:cs typeface="Cambria"/>
              </a:rPr>
              <a:t>Architectural</a:t>
            </a:r>
            <a:r>
              <a:rPr sz="1600" b="1" spc="-60" dirty="0">
                <a:solidFill>
                  <a:srgbClr val="1E2760"/>
                </a:solidFill>
                <a:latin typeface="Cambria"/>
                <a:cs typeface="Cambria"/>
              </a:rPr>
              <a:t> </a:t>
            </a:r>
            <a:r>
              <a:rPr sz="1600" b="1" spc="-10" dirty="0">
                <a:solidFill>
                  <a:srgbClr val="1E2760"/>
                </a:solidFill>
                <a:latin typeface="Cambria"/>
                <a:cs typeface="Cambria"/>
              </a:rPr>
              <a:t>Development</a:t>
            </a:r>
            <a:endParaRPr sz="1600" dirty="0">
              <a:latin typeface="Cambria"/>
              <a:cs typeface="Cambria"/>
            </a:endParaRPr>
          </a:p>
          <a:p>
            <a:pPr marL="356870" indent="-344170">
              <a:lnSpc>
                <a:spcPct val="100000"/>
              </a:lnSpc>
              <a:spcBef>
                <a:spcPts val="660"/>
              </a:spcBef>
              <a:buChar char="–"/>
              <a:tabLst>
                <a:tab pos="356870" algn="l"/>
              </a:tabLst>
            </a:pPr>
            <a:r>
              <a:rPr sz="1250" spc="-10" dirty="0">
                <a:solidFill>
                  <a:srgbClr val="212846"/>
                </a:solidFill>
                <a:latin typeface="Calibri"/>
                <a:cs typeface="Calibri"/>
              </a:rPr>
              <a:t>Formulating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 the exact</a:t>
            </a:r>
            <a:r>
              <a:rPr sz="1250" spc="-3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212846"/>
                </a:solidFill>
                <a:latin typeface="Calibri"/>
                <a:cs typeface="Calibri"/>
              </a:rPr>
              <a:t>mathematical</a:t>
            </a:r>
            <a:r>
              <a:rPr sz="1250" spc="-6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loss</a:t>
            </a:r>
            <a:r>
              <a:rPr sz="1250" spc="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functions</a:t>
            </a:r>
            <a:r>
              <a:rPr sz="1250" spc="3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for</a:t>
            </a:r>
            <a:r>
              <a:rPr sz="1250" spc="-3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Zh</a:t>
            </a:r>
            <a:r>
              <a:rPr sz="1250" spc="1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mbria Math"/>
                <a:cs typeface="Cambria Math"/>
              </a:rPr>
              <a:t>⊥</a:t>
            </a:r>
            <a:r>
              <a:rPr sz="1250" spc="-5" dirty="0">
                <a:solidFill>
                  <a:srgbClr val="212846"/>
                </a:solidFill>
                <a:latin typeface="Cambria Math"/>
                <a:cs typeface="Cambria Math"/>
              </a:rPr>
              <a:t> </a:t>
            </a:r>
            <a:r>
              <a:rPr sz="1250" spc="-25" dirty="0">
                <a:solidFill>
                  <a:srgbClr val="212846"/>
                </a:solidFill>
                <a:latin typeface="Calibri"/>
                <a:cs typeface="Calibri"/>
              </a:rPr>
              <a:t>Zc</a:t>
            </a:r>
            <a:endParaRPr sz="1250" dirty="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1019"/>
              </a:spcBef>
              <a:buChar char="–"/>
              <a:tabLst>
                <a:tab pos="356870" algn="l"/>
              </a:tabLst>
            </a:pP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Designing</a:t>
            </a:r>
            <a:r>
              <a:rPr sz="1250" spc="-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the</a:t>
            </a:r>
            <a:r>
              <a:rPr sz="1250" spc="-2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fusion</a:t>
            </a:r>
            <a:r>
              <a:rPr sz="1250" spc="-1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212846"/>
                </a:solidFill>
                <a:latin typeface="Calibri"/>
                <a:cs typeface="Calibri"/>
              </a:rPr>
              <a:t>architecture</a:t>
            </a:r>
            <a:r>
              <a:rPr sz="1250" spc="1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for</a:t>
            </a:r>
            <a:r>
              <a:rPr sz="1250" spc="-5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212846"/>
                </a:solidFill>
                <a:latin typeface="Calibri"/>
                <a:cs typeface="Calibri"/>
              </a:rPr>
              <a:t>physics-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based</a:t>
            </a:r>
            <a:r>
              <a:rPr sz="1250" spc="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(Zh)</a:t>
            </a:r>
            <a:r>
              <a:rPr sz="1250" spc="-4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and</a:t>
            </a:r>
            <a:r>
              <a:rPr sz="1250" spc="-3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spc="-20" dirty="0">
                <a:solidFill>
                  <a:srgbClr val="212846"/>
                </a:solidFill>
                <a:latin typeface="Calibri"/>
                <a:cs typeface="Calibri"/>
              </a:rPr>
              <a:t>data-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driven</a:t>
            </a:r>
            <a:r>
              <a:rPr sz="1250" spc="2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(Zc)</a:t>
            </a:r>
            <a:r>
              <a:rPr sz="1250" spc="-6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212846"/>
                </a:solidFill>
                <a:latin typeface="Calibri"/>
                <a:cs typeface="Calibri"/>
              </a:rPr>
              <a:t>embeddings</a:t>
            </a:r>
            <a:endParaRPr sz="1250" dirty="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1025"/>
              </a:spcBef>
              <a:buChar char="–"/>
              <a:tabLst>
                <a:tab pos="356870" algn="l"/>
              </a:tabLst>
            </a:pP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Defining</a:t>
            </a:r>
            <a:r>
              <a:rPr sz="1250" spc="-1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212846"/>
                </a:solidFill>
                <a:latin typeface="Calibri"/>
                <a:cs typeface="Calibri"/>
              </a:rPr>
              <a:t>signal-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processing</a:t>
            </a:r>
            <a:r>
              <a:rPr sz="1250" spc="2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212846"/>
                </a:solidFill>
                <a:latin typeface="Calibri"/>
                <a:cs typeface="Calibri"/>
              </a:rPr>
              <a:t>constraints</a:t>
            </a:r>
            <a:r>
              <a:rPr sz="1250" spc="1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for</a:t>
            </a:r>
            <a:r>
              <a:rPr sz="1250" spc="-2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bearing</a:t>
            </a:r>
            <a:r>
              <a:rPr sz="1250" spc="-3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fault</a:t>
            </a:r>
            <a:r>
              <a:rPr sz="1250" spc="-3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212846"/>
                </a:solidFill>
                <a:latin typeface="Calibri"/>
                <a:cs typeface="Calibri"/>
              </a:rPr>
              <a:t>frequencies</a:t>
            </a:r>
            <a:r>
              <a:rPr sz="1250" spc="1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directly</a:t>
            </a:r>
            <a:r>
              <a:rPr sz="1250" spc="-1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in</a:t>
            </a:r>
            <a:r>
              <a:rPr sz="1250" spc="-5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the</a:t>
            </a:r>
            <a:r>
              <a:rPr sz="1250" spc="-1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loss</a:t>
            </a:r>
            <a:r>
              <a:rPr sz="1250" spc="-3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212846"/>
                </a:solidFill>
                <a:latin typeface="Calibri"/>
                <a:cs typeface="Calibri"/>
              </a:rPr>
              <a:t>landscape</a:t>
            </a:r>
            <a:endParaRPr lang="en-IN" sz="1250" spc="-10" dirty="0">
              <a:solidFill>
                <a:srgbClr val="212846"/>
              </a:solidFill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1025"/>
              </a:spcBef>
              <a:buChar char="–"/>
              <a:tabLst>
                <a:tab pos="356870" algn="l"/>
              </a:tabLst>
            </a:pPr>
            <a:r>
              <a:rPr lang="en-IN" sz="1400" spc="-10" dirty="0">
                <a:solidFill>
                  <a:srgbClr val="212846"/>
                </a:solidFill>
                <a:latin typeface="Calibri"/>
                <a:cs typeface="Calibri"/>
              </a:rPr>
              <a:t> A VERY IMPORTANT POINT EVERY PROPESED ARCHI IS JUST FOR A IDEA NOTHING IS RIGID AND I AM VERY HAPPY TO GET THE SUGGESTION AND GUIDANCE BY YOU ALL.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48640" y="4572000"/>
            <a:ext cx="55244" cy="777240"/>
          </a:xfrm>
          <a:custGeom>
            <a:avLst/>
            <a:gdLst/>
            <a:ahLst/>
            <a:cxnLst/>
            <a:rect l="l" t="t" r="r" b="b"/>
            <a:pathLst>
              <a:path w="55245" h="777239">
                <a:moveTo>
                  <a:pt x="54864" y="0"/>
                </a:moveTo>
                <a:lnTo>
                  <a:pt x="0" y="0"/>
                </a:lnTo>
                <a:lnTo>
                  <a:pt x="0" y="777240"/>
                </a:lnTo>
                <a:lnTo>
                  <a:pt x="54864" y="777240"/>
                </a:lnTo>
                <a:lnTo>
                  <a:pt x="54864" y="0"/>
                </a:lnTo>
                <a:close/>
              </a:path>
            </a:pathLst>
          </a:custGeom>
          <a:solidFill>
            <a:srgbClr val="C9DCF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810564" y="4545914"/>
            <a:ext cx="354965" cy="3625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200" b="1" spc="-25" dirty="0">
                <a:solidFill>
                  <a:srgbClr val="C9DCFB"/>
                </a:solidFill>
                <a:latin typeface="Cambria"/>
                <a:cs typeface="Cambria"/>
              </a:rPr>
              <a:t>03</a:t>
            </a:r>
            <a:endParaRPr sz="2200">
              <a:latin typeface="Cambria"/>
              <a:cs typeface="Cambr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35940" y="6614566"/>
            <a:ext cx="1585595" cy="1473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10"/>
              </a:lnSpc>
            </a:pPr>
            <a:r>
              <a:rPr sz="950" dirty="0">
                <a:solidFill>
                  <a:srgbClr val="525A78"/>
                </a:solidFill>
                <a:latin typeface="Calibri"/>
                <a:cs typeface="Calibri"/>
              </a:rPr>
              <a:t>Part</a:t>
            </a:r>
            <a:r>
              <a:rPr sz="950" spc="-50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525A78"/>
                </a:solidFill>
                <a:latin typeface="Calibri"/>
                <a:cs typeface="Calibri"/>
              </a:rPr>
              <a:t>3</a:t>
            </a:r>
            <a:r>
              <a:rPr sz="950" spc="20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525A78"/>
                </a:solidFill>
                <a:latin typeface="Calibri"/>
                <a:cs typeface="Calibri"/>
              </a:rPr>
              <a:t>—</a:t>
            </a:r>
            <a:r>
              <a:rPr sz="950" spc="-20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525A78"/>
                </a:solidFill>
                <a:latin typeface="Calibri"/>
                <a:cs typeface="Calibri"/>
              </a:rPr>
              <a:t>Proposed</a:t>
            </a:r>
            <a:r>
              <a:rPr sz="950" spc="-45" dirty="0">
                <a:solidFill>
                  <a:srgbClr val="525A78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525A78"/>
                </a:solidFill>
                <a:latin typeface="Calibri"/>
                <a:cs typeface="Calibri"/>
              </a:rPr>
              <a:t>Architecture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10"/>
              </a:lnSpc>
            </a:pPr>
            <a:r>
              <a:rPr spc="-25" dirty="0"/>
              <a:t>15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633473" y="4440159"/>
            <a:ext cx="9269730" cy="654685"/>
          </a:xfrm>
          <a:prstGeom prst="rect">
            <a:avLst/>
          </a:prstGeom>
        </p:spPr>
        <p:txBody>
          <a:bodyPr vert="horz" wrap="square" lIns="0" tIns="1225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65"/>
              </a:spcBef>
            </a:pPr>
            <a:r>
              <a:rPr sz="1600" b="1" spc="-10" dirty="0">
                <a:solidFill>
                  <a:srgbClr val="1E2760"/>
                </a:solidFill>
                <a:latin typeface="Cambria"/>
                <a:cs typeface="Cambria"/>
              </a:rPr>
              <a:t>Benchmark</a:t>
            </a:r>
            <a:r>
              <a:rPr sz="1600" b="1" spc="-5" dirty="0">
                <a:solidFill>
                  <a:srgbClr val="1E2760"/>
                </a:solidFill>
                <a:latin typeface="Cambria"/>
                <a:cs typeface="Cambria"/>
              </a:rPr>
              <a:t> </a:t>
            </a:r>
            <a:r>
              <a:rPr sz="1600" b="1" spc="-10" dirty="0">
                <a:solidFill>
                  <a:srgbClr val="1E2760"/>
                </a:solidFill>
                <a:latin typeface="Cambria"/>
                <a:cs typeface="Cambria"/>
              </a:rPr>
              <a:t>Validation</a:t>
            </a:r>
            <a:endParaRPr sz="16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665"/>
              </a:spcBef>
            </a:pPr>
            <a:r>
              <a:rPr sz="1250" spc="-20" dirty="0">
                <a:solidFill>
                  <a:srgbClr val="212846"/>
                </a:solidFill>
                <a:latin typeface="Calibri"/>
                <a:cs typeface="Calibri"/>
              </a:rPr>
              <a:t>Testing</a:t>
            </a:r>
            <a:r>
              <a:rPr sz="1250" spc="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this</a:t>
            </a:r>
            <a:r>
              <a:rPr sz="1250" spc="-2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212846"/>
                </a:solidFill>
                <a:latin typeface="Calibri"/>
                <a:cs typeface="Calibri"/>
              </a:rPr>
              <a:t>framework</a:t>
            </a:r>
            <a:r>
              <a:rPr sz="1250" spc="-6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across</a:t>
            </a:r>
            <a:r>
              <a:rPr sz="1250" spc="-1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top</a:t>
            </a:r>
            <a:r>
              <a:rPr sz="1250" spc="-1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benchmark</a:t>
            </a:r>
            <a:r>
              <a:rPr sz="1250" spc="-1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212846"/>
                </a:solidFill>
                <a:latin typeface="Calibri"/>
                <a:cs typeface="Calibri"/>
              </a:rPr>
              <a:t>datasets</a:t>
            </a:r>
            <a:r>
              <a:rPr sz="1250" spc="-3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that</a:t>
            </a:r>
            <a:r>
              <a:rPr sz="1250" spc="-2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212846"/>
                </a:solidFill>
                <a:latin typeface="Calibri"/>
                <a:cs typeface="Calibri"/>
              </a:rPr>
              <a:t>feature</a:t>
            </a:r>
            <a:r>
              <a:rPr sz="1250" spc="-4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heavily</a:t>
            </a:r>
            <a:r>
              <a:rPr sz="1250" spc="-1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varying</a:t>
            </a:r>
            <a:r>
              <a:rPr sz="1250" spc="-1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RPM</a:t>
            </a:r>
            <a:r>
              <a:rPr sz="1250" spc="-4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and</a:t>
            </a:r>
            <a:r>
              <a:rPr sz="1250" spc="-25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load</a:t>
            </a:r>
            <a:r>
              <a:rPr sz="1250" spc="-3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212846"/>
                </a:solidFill>
                <a:latin typeface="Calibri"/>
                <a:cs typeface="Calibri"/>
              </a:rPr>
              <a:t>conditions,</a:t>
            </a:r>
            <a:r>
              <a:rPr sz="1250" spc="2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to</a:t>
            </a:r>
            <a:r>
              <a:rPr sz="1250" spc="-10" dirty="0">
                <a:solidFill>
                  <a:srgbClr val="212846"/>
                </a:solidFill>
                <a:latin typeface="Calibri"/>
                <a:cs typeface="Calibri"/>
              </a:rPr>
              <a:t> prove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212846"/>
                </a:solidFill>
                <a:latin typeface="Calibri"/>
                <a:cs typeface="Calibri"/>
              </a:rPr>
              <a:t>cross-</a:t>
            </a:r>
            <a:r>
              <a:rPr sz="1250" dirty="0">
                <a:solidFill>
                  <a:srgbClr val="212846"/>
                </a:solidFill>
                <a:latin typeface="Calibri"/>
                <a:cs typeface="Calibri"/>
              </a:rPr>
              <a:t>domain</a:t>
            </a:r>
            <a:r>
              <a:rPr sz="1250" spc="20" dirty="0">
                <a:solidFill>
                  <a:srgbClr val="212846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212846"/>
                </a:solidFill>
                <a:latin typeface="Calibri"/>
                <a:cs typeface="Calibri"/>
              </a:rPr>
              <a:t>robustness.</a:t>
            </a:r>
            <a:endParaRPr sz="12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35940" y="2509266"/>
            <a:ext cx="154749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10" dirty="0">
                <a:solidFill>
                  <a:srgbClr val="C9DCFB"/>
                </a:solidFill>
                <a:latin typeface="Calibri"/>
                <a:cs typeface="Calibri"/>
              </a:rPr>
              <a:t>F</a:t>
            </a:r>
            <a:r>
              <a:rPr sz="1300" b="1" spc="-75" dirty="0">
                <a:solidFill>
                  <a:srgbClr val="C9DCFB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C9DCFB"/>
                </a:solidFill>
                <a:latin typeface="Calibri"/>
                <a:cs typeface="Calibri"/>
              </a:rPr>
              <a:t>O</a:t>
            </a:r>
            <a:r>
              <a:rPr sz="1300" b="1" spc="-65" dirty="0">
                <a:solidFill>
                  <a:srgbClr val="C9DCFB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C9DCFB"/>
                </a:solidFill>
                <a:latin typeface="Calibri"/>
                <a:cs typeface="Calibri"/>
              </a:rPr>
              <a:t>R</a:t>
            </a:r>
            <a:r>
              <a:rPr sz="1300" b="1" spc="450" dirty="0">
                <a:solidFill>
                  <a:srgbClr val="C9DCFB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C9DCFB"/>
                </a:solidFill>
                <a:latin typeface="Calibri"/>
                <a:cs typeface="Calibri"/>
              </a:rPr>
              <a:t>D</a:t>
            </a:r>
            <a:r>
              <a:rPr sz="1300" b="1" spc="-80" dirty="0">
                <a:solidFill>
                  <a:srgbClr val="C9DCFB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C9DCFB"/>
                </a:solidFill>
                <a:latin typeface="Calibri"/>
                <a:cs typeface="Calibri"/>
              </a:rPr>
              <a:t>I</a:t>
            </a:r>
            <a:r>
              <a:rPr sz="1300" b="1" spc="-90" dirty="0">
                <a:solidFill>
                  <a:srgbClr val="C9DCFB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C9DCFB"/>
                </a:solidFill>
                <a:latin typeface="Calibri"/>
                <a:cs typeface="Calibri"/>
              </a:rPr>
              <a:t>S</a:t>
            </a:r>
            <a:r>
              <a:rPr sz="1300" b="1" spc="-70" dirty="0">
                <a:solidFill>
                  <a:srgbClr val="C9DCFB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C9DCFB"/>
                </a:solidFill>
                <a:latin typeface="Calibri"/>
                <a:cs typeface="Calibri"/>
              </a:rPr>
              <a:t>C</a:t>
            </a:r>
            <a:r>
              <a:rPr sz="1300" b="1" spc="-70" dirty="0">
                <a:solidFill>
                  <a:srgbClr val="C9DCFB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C9DCFB"/>
                </a:solidFill>
                <a:latin typeface="Calibri"/>
                <a:cs typeface="Calibri"/>
              </a:rPr>
              <a:t>U</a:t>
            </a:r>
            <a:r>
              <a:rPr sz="1300" b="1" spc="-85" dirty="0">
                <a:solidFill>
                  <a:srgbClr val="C9DCFB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C9DCFB"/>
                </a:solidFill>
                <a:latin typeface="Calibri"/>
                <a:cs typeface="Calibri"/>
              </a:rPr>
              <a:t>S</a:t>
            </a:r>
            <a:r>
              <a:rPr sz="1300" b="1" spc="-70" dirty="0">
                <a:solidFill>
                  <a:srgbClr val="C9DCFB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C9DCFB"/>
                </a:solidFill>
                <a:latin typeface="Calibri"/>
                <a:cs typeface="Calibri"/>
              </a:rPr>
              <a:t>S</a:t>
            </a:r>
            <a:r>
              <a:rPr sz="1300" b="1" spc="-70" dirty="0">
                <a:solidFill>
                  <a:srgbClr val="C9DCFB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C9DCFB"/>
                </a:solidFill>
                <a:latin typeface="Calibri"/>
                <a:cs typeface="Calibri"/>
              </a:rPr>
              <a:t>I</a:t>
            </a:r>
            <a:r>
              <a:rPr sz="1300" b="1" spc="-90" dirty="0">
                <a:solidFill>
                  <a:srgbClr val="C9DCFB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C9DCFB"/>
                </a:solidFill>
                <a:latin typeface="Calibri"/>
                <a:cs typeface="Calibri"/>
              </a:rPr>
              <a:t>O</a:t>
            </a:r>
            <a:r>
              <a:rPr sz="1300" b="1" spc="-65" dirty="0">
                <a:solidFill>
                  <a:srgbClr val="C9DCFB"/>
                </a:solidFill>
                <a:latin typeface="Calibri"/>
                <a:cs typeface="Calibri"/>
              </a:rPr>
              <a:t> </a:t>
            </a:r>
            <a:r>
              <a:rPr sz="1300" b="1" spc="-50" dirty="0">
                <a:solidFill>
                  <a:srgbClr val="C9DCFB"/>
                </a:solidFill>
                <a:latin typeface="Calibri"/>
                <a:cs typeface="Calibri"/>
              </a:rPr>
              <a:t>N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535940" y="2935935"/>
            <a:ext cx="224980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FFFFFF"/>
                </a:solidFill>
              </a:rPr>
              <a:t>Thank </a:t>
            </a:r>
            <a:r>
              <a:rPr sz="3600" spc="-25" dirty="0">
                <a:solidFill>
                  <a:srgbClr val="FFFFFF"/>
                </a:solidFill>
              </a:rPr>
              <a:t>you</a:t>
            </a:r>
            <a:endParaRPr sz="3600"/>
          </a:p>
        </p:txBody>
      </p:sp>
      <p:sp>
        <p:nvSpPr>
          <p:cNvPr id="5" name="object 5"/>
          <p:cNvSpPr/>
          <p:nvPr/>
        </p:nvSpPr>
        <p:spPr>
          <a:xfrm>
            <a:off x="548640" y="3703320"/>
            <a:ext cx="1463040" cy="0"/>
          </a:xfrm>
          <a:custGeom>
            <a:avLst/>
            <a:gdLst/>
            <a:ahLst/>
            <a:cxnLst/>
            <a:rect l="l" t="t" r="r" b="b"/>
            <a:pathLst>
              <a:path w="1463039">
                <a:moveTo>
                  <a:pt x="0" y="0"/>
                </a:moveTo>
                <a:lnTo>
                  <a:pt x="1463040" y="0"/>
                </a:lnTo>
              </a:path>
            </a:pathLst>
          </a:custGeom>
          <a:ln w="18288">
            <a:solidFill>
              <a:srgbClr val="C9DCF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35940" y="3990690"/>
            <a:ext cx="8522335" cy="1297150"/>
          </a:xfrm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sz="1400" dirty="0">
                <a:solidFill>
                  <a:srgbClr val="ADBAE8"/>
                </a:solidFill>
                <a:latin typeface="Calibri"/>
                <a:cs typeface="Calibri"/>
              </a:rPr>
              <a:t>Open</a:t>
            </a:r>
            <a:r>
              <a:rPr sz="1400" spc="-10" dirty="0">
                <a:solidFill>
                  <a:srgbClr val="ADBAE8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ADBAE8"/>
                </a:solidFill>
                <a:latin typeface="Calibri"/>
                <a:cs typeface="Calibri"/>
              </a:rPr>
              <a:t>questions</a:t>
            </a:r>
            <a:r>
              <a:rPr sz="1400" spc="45" dirty="0">
                <a:solidFill>
                  <a:srgbClr val="ADBAE8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ADBAE8"/>
                </a:solidFill>
                <a:latin typeface="Calibri"/>
                <a:cs typeface="Calibri"/>
              </a:rPr>
              <a:t>on</a:t>
            </a:r>
            <a:r>
              <a:rPr sz="1400" spc="-55" dirty="0">
                <a:solidFill>
                  <a:srgbClr val="ADBAE8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ADBAE8"/>
                </a:solidFill>
                <a:latin typeface="Calibri"/>
                <a:cs typeface="Calibri"/>
              </a:rPr>
              <a:t>compute cost,</a:t>
            </a:r>
            <a:r>
              <a:rPr sz="1400" spc="-30" dirty="0">
                <a:solidFill>
                  <a:srgbClr val="ADBAE8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ADBAE8"/>
                </a:solidFill>
                <a:latin typeface="Calibri"/>
                <a:cs typeface="Calibri"/>
              </a:rPr>
              <a:t>phase-</a:t>
            </a:r>
            <a:r>
              <a:rPr sz="1400" spc="-10" dirty="0">
                <a:solidFill>
                  <a:srgbClr val="ADBAE8"/>
                </a:solidFill>
                <a:latin typeface="Calibri"/>
                <a:cs typeface="Calibri"/>
              </a:rPr>
              <a:t>information</a:t>
            </a:r>
            <a:r>
              <a:rPr sz="1400" spc="25" dirty="0">
                <a:solidFill>
                  <a:srgbClr val="ADBAE8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ADBAE8"/>
                </a:solidFill>
                <a:latin typeface="Calibri"/>
                <a:cs typeface="Calibri"/>
              </a:rPr>
              <a:t>loss,</a:t>
            </a:r>
            <a:r>
              <a:rPr sz="1400" spc="-35" dirty="0">
                <a:solidFill>
                  <a:srgbClr val="ADBAE8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ADBAE8"/>
                </a:solidFill>
                <a:latin typeface="Calibri"/>
                <a:cs typeface="Calibri"/>
              </a:rPr>
              <a:t>discrete-</a:t>
            </a:r>
            <a:r>
              <a:rPr sz="1400" dirty="0">
                <a:solidFill>
                  <a:srgbClr val="ADBAE8"/>
                </a:solidFill>
                <a:latin typeface="Calibri"/>
                <a:cs typeface="Calibri"/>
              </a:rPr>
              <a:t>class</a:t>
            </a:r>
            <a:r>
              <a:rPr sz="1400" spc="-5" dirty="0">
                <a:solidFill>
                  <a:srgbClr val="ADBAE8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ADBAE8"/>
                </a:solidFill>
                <a:latin typeface="Calibri"/>
                <a:cs typeface="Calibri"/>
              </a:rPr>
              <a:t>limits,</a:t>
            </a:r>
            <a:r>
              <a:rPr sz="1400" spc="5" dirty="0">
                <a:solidFill>
                  <a:srgbClr val="ADBAE8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ADBAE8"/>
                </a:solidFill>
                <a:latin typeface="Calibri"/>
                <a:cs typeface="Calibri"/>
              </a:rPr>
              <a:t>and</a:t>
            </a:r>
            <a:r>
              <a:rPr sz="1400" spc="-20" dirty="0">
                <a:solidFill>
                  <a:srgbClr val="ADBAE8"/>
                </a:solidFill>
                <a:latin typeface="Calibri"/>
                <a:cs typeface="Calibri"/>
              </a:rPr>
              <a:t> </a:t>
            </a:r>
            <a:r>
              <a:rPr sz="1400" spc="-30" dirty="0">
                <a:solidFill>
                  <a:srgbClr val="ADBAE8"/>
                </a:solidFill>
                <a:latin typeface="Calibri"/>
                <a:cs typeface="Calibri"/>
              </a:rPr>
              <a:t>latent-</a:t>
            </a:r>
            <a:r>
              <a:rPr sz="1400" dirty="0">
                <a:solidFill>
                  <a:srgbClr val="ADBAE8"/>
                </a:solidFill>
                <a:latin typeface="Calibri"/>
                <a:cs typeface="Calibri"/>
              </a:rPr>
              <a:t>space</a:t>
            </a:r>
            <a:r>
              <a:rPr sz="1400" spc="40" dirty="0">
                <a:solidFill>
                  <a:srgbClr val="ADBAE8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ADBAE8"/>
                </a:solidFill>
                <a:latin typeface="Calibri"/>
                <a:cs typeface="Calibri"/>
              </a:rPr>
              <a:t>entanglement</a:t>
            </a:r>
            <a:r>
              <a:rPr sz="1400" spc="45" dirty="0">
                <a:solidFill>
                  <a:srgbClr val="ADBAE8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ADBAE8"/>
                </a:solidFill>
                <a:latin typeface="Calibri"/>
                <a:cs typeface="Calibri"/>
              </a:rPr>
              <a:t>remain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1400" dirty="0">
                <a:solidFill>
                  <a:srgbClr val="ADBAE8"/>
                </a:solidFill>
                <a:latin typeface="Calibri"/>
                <a:cs typeface="Calibri"/>
              </a:rPr>
              <a:t>for</a:t>
            </a:r>
            <a:r>
              <a:rPr sz="1400" spc="-55" dirty="0">
                <a:solidFill>
                  <a:srgbClr val="ADBAE8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ADBAE8"/>
                </a:solidFill>
                <a:latin typeface="Calibri"/>
                <a:cs typeface="Calibri"/>
              </a:rPr>
              <a:t>the</a:t>
            </a:r>
            <a:r>
              <a:rPr sz="1400" spc="-30" dirty="0">
                <a:solidFill>
                  <a:srgbClr val="ADBAE8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ADBAE8"/>
                </a:solidFill>
                <a:latin typeface="Calibri"/>
                <a:cs typeface="Calibri"/>
              </a:rPr>
              <a:t>group</a:t>
            </a:r>
            <a:r>
              <a:rPr sz="1400" spc="-20" dirty="0">
                <a:solidFill>
                  <a:srgbClr val="ADBAE8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ADBAE8"/>
                </a:solidFill>
                <a:latin typeface="Calibri"/>
                <a:cs typeface="Calibri"/>
              </a:rPr>
              <a:t>to</a:t>
            </a:r>
            <a:r>
              <a:rPr sz="1400" spc="-25" dirty="0">
                <a:solidFill>
                  <a:srgbClr val="ADBAE8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ADBAE8"/>
                </a:solidFill>
                <a:latin typeface="Calibri"/>
                <a:cs typeface="Calibri"/>
              </a:rPr>
              <a:t>weigh</a:t>
            </a:r>
            <a:r>
              <a:rPr sz="1400" spc="15" dirty="0">
                <a:solidFill>
                  <a:srgbClr val="ADBAE8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ADBAE8"/>
                </a:solidFill>
                <a:latin typeface="Calibri"/>
                <a:cs typeface="Calibri"/>
              </a:rPr>
              <a:t>in</a:t>
            </a:r>
            <a:r>
              <a:rPr sz="1400" spc="-40" dirty="0">
                <a:solidFill>
                  <a:srgbClr val="ADBAE8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ADBAE8"/>
                </a:solidFill>
                <a:latin typeface="Calibri"/>
                <a:cs typeface="Calibri"/>
              </a:rPr>
              <a:t>on.</a:t>
            </a:r>
            <a:r>
              <a:rPr lang="en-IN" sz="1400" spc="-25" dirty="0">
                <a:solidFill>
                  <a:srgbClr val="ADBAE8"/>
                </a:solidFill>
                <a:latin typeface="Calibri"/>
                <a:cs typeface="Calibri"/>
              </a:rPr>
              <a:t>  </a:t>
            </a: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endParaRPr lang="en-IN" sz="1400" spc="-25" dirty="0">
              <a:solidFill>
                <a:srgbClr val="ADBAE8"/>
              </a:solidFill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lang="en-IN" sz="1400" spc="-25">
                <a:solidFill>
                  <a:srgbClr val="ADBAE8"/>
                </a:solidFill>
                <a:latin typeface="Calibri"/>
                <a:cs typeface="Calibri"/>
              </a:rPr>
              <a:t> PLEASE CRITIC THE FLAWS .I AM INTRESTED IN FINDING THE SOLUTION OF THESE KIND OF PROBLEM  BUT DUE TO LACK OF ENOUGH KNOWLEDGE OF THIIS DOMAIN I AM HEAVILY CONSTRAINED IN SOLVING IT .</a:t>
            </a:r>
            <a:endParaRPr sz="1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</TotalTime>
  <Words>1949</Words>
  <Application>Microsoft Office PowerPoint</Application>
  <PresentationFormat>Widescreen</PresentationFormat>
  <Paragraphs>299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Calibri</vt:lpstr>
      <vt:lpstr>Cambria</vt:lpstr>
      <vt:lpstr>Cambria Math</vt:lpstr>
      <vt:lpstr>Times New Roman</vt:lpstr>
      <vt:lpstr>Office Theme</vt:lpstr>
      <vt:lpstr>DiSCNet: A Dual-Branch CNN for Bearing Fault Diagnosis</vt:lpstr>
      <vt:lpstr>PowerPoint Presentation</vt:lpstr>
      <vt:lpstr>Motivation &amp; the Shift in Methodology</vt:lpstr>
      <vt:lpstr>Overcoming 1D Limits with STFT and CWT</vt:lpstr>
      <vt:lpstr>The DiSCNet Approach &amp; Novelty</vt:lpstr>
      <vt:lpstr>Data Pre-processing &amp; Input Representation</vt:lpstr>
      <vt:lpstr>Dual-Branch Architecture &amp; Latent Space Extraction</vt:lpstr>
      <vt:lpstr>Feature Fusion &amp; Classification Head</vt:lpstr>
      <vt:lpstr>Validation and Comparison Metrics</vt:lpstr>
      <vt:lpstr>h</vt:lpstr>
      <vt:lpstr>Doubts Regarding Computation &amp; Discrete Classification</vt:lpstr>
      <vt:lpstr>Doubts Regarding Latent Space Entanglement</vt:lpstr>
      <vt:lpstr>PowerPoint Presentation</vt:lpstr>
      <vt:lpstr>Defining True Machine Health</vt:lpstr>
      <vt:lpstr>The Embedding Problem &amp; Spectrum Smearing</vt:lpstr>
      <vt:lpstr>Dual-Latent Space: Disentangling Zh and Zc</vt:lpstr>
      <vt:lpstr>Physical Preprocessing: Order Tracking &amp; Envelope Analysis</vt:lpstr>
      <vt:lpstr>Physics-Guided Loss Functions</vt:lpstr>
      <vt:lpstr>Validation &amp; Next Steps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Animesh Singh</cp:lastModifiedBy>
  <cp:revision>1</cp:revision>
  <dcterms:created xsi:type="dcterms:W3CDTF">2026-09-14T20:13:51Z</dcterms:created>
  <dcterms:modified xsi:type="dcterms:W3CDTF">2026-09-14T20:51:35Z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2026-09-14T00:00:00Z</vt:filetime>
  </property>
  <property fmtid="{D5CDD505-2E9C-101B-9397-08002B2CF9AE}" pid="4" name="LastSaved">
    <vt:filetime>2026-09-14T00:00:00Z</vt:filetime>
  </property>
  <property fmtid="{D5CDD505-2E9C-101B-9397-08002B2CF9AE}" pid="5" name="Producer">
    <vt:lpwstr>iLovePDF</vt:lpwstr>
  </property>
</Properties>
</file>